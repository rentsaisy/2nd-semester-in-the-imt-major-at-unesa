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-bold" panose="02000000000000000000" pitchFamily="2" charset="77"/>
      <p:regular r:id="rId18"/>
      <p:bold r:id="rId19"/>
    </p:embeddedFont>
  </p:embeddedFontLst>
  <p:defaultTextStyle>
    <a:defPPr>
      <a:defRPr lang="id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/>
          </a:blip>
          <a:srcRect t="21865" b="21865"/>
          <a:stretch>
            <a:fillRect/>
          </a:stretch>
        </p:blipFill>
        <p:spPr>
          <a:xfrm>
            <a:off x="1" y="-2447"/>
            <a:ext cx="121876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3"/>
          <p:cNvSpPr txBox="1"/>
          <p:nvPr/>
        </p:nvSpPr>
        <p:spPr>
          <a:xfrm>
            <a:off x="522515" y="1756230"/>
            <a:ext cx="5181600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72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Basis Data</a:t>
            </a:r>
            <a:endParaRPr kumimoji="1" lang="zh-CN" altLang="en-US" sz="7200" dirty="0"/>
          </a:p>
        </p:txBody>
      </p:sp>
      <p:sp>
        <p:nvSpPr>
          <p:cNvPr id="5" name="文本框 5"/>
          <p:cNvSpPr txBox="1"/>
          <p:nvPr/>
        </p:nvSpPr>
        <p:spPr>
          <a:xfrm>
            <a:off x="508002" y="4559304"/>
            <a:ext cx="6008914" cy="7384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Nur </a:t>
            </a:r>
            <a:r>
              <a:rPr kumimoji="1" lang="en-US" altLang="zh-CN" sz="3200" b="1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Kurniasari</a:t>
            </a:r>
            <a:r>
              <a:rPr kumimoji="1" lang="en-US" altLang="zh-CN" sz="3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, </a:t>
            </a:r>
            <a:r>
              <a:rPr kumimoji="1" lang="en-US" altLang="zh-CN" sz="3200" b="1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S.Pd</a:t>
            </a:r>
            <a:r>
              <a:rPr kumimoji="1" lang="en-US" altLang="zh-CN" sz="3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, </a:t>
            </a:r>
            <a:r>
              <a:rPr kumimoji="1" lang="en-US" altLang="zh-CN" sz="3200" b="1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M.Kom</a:t>
            </a:r>
            <a:endParaRPr kumimoji="1" lang="zh-CN" altLang="en-US" sz="3200" b="1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6C3F9F42-4230-FB7E-7644-A11DA6B1E938}"/>
              </a:ext>
            </a:extLst>
          </p:cNvPr>
          <p:cNvSpPr txBox="1"/>
          <p:nvPr/>
        </p:nvSpPr>
        <p:spPr>
          <a:xfrm>
            <a:off x="8072854" y="188687"/>
            <a:ext cx="5181600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CV. RIZKI MUTIARA</a:t>
            </a:r>
            <a:endParaRPr kumimoji="1" lang="zh-CN" alt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/>
              </a:gs>
            </a:gsLst>
            <a:lin ang="1350000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文本框 6"/>
          <p:cNvSpPr txBox="1"/>
          <p:nvPr/>
        </p:nvSpPr>
        <p:spPr>
          <a:xfrm>
            <a:off x="4666115" y="510599"/>
            <a:ext cx="2251982" cy="18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1500" dirty="0">
                <a:ln w="22225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 dirty="0"/>
          </a:p>
        </p:txBody>
      </p:sp>
      <p:sp>
        <p:nvSpPr>
          <p:cNvPr id="4" name="文本框 7"/>
          <p:cNvSpPr txBox="1"/>
          <p:nvPr/>
        </p:nvSpPr>
        <p:spPr>
          <a:xfrm>
            <a:off x="1064984" y="2055804"/>
            <a:ext cx="10259787" cy="13285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42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Pengenalan</a:t>
            </a:r>
            <a:r>
              <a:rPr kumimoji="1" lang="en-US" altLang="zh-CN" sz="42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Basis Data</a:t>
            </a:r>
            <a:endParaRPr kumimoji="1" lang="zh-CN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78101A7-AD0A-C76C-B5D1-994100D2A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629" y="3148854"/>
            <a:ext cx="87639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TW" altLang="id-TW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Apa itu Basis Data?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TW" altLang="id-TW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Basis data</a:t>
            </a: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adalah kumpulan data yang disimpan secara terstruktur supaya mudah diakses, dikelola, dan diperbarui.</a:t>
            </a:r>
            <a:endParaRPr kumimoji="0" lang="id-TW" altLang="id-TW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TW" altLang="id-TW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Contoh nyata: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mahasiswa di kampus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pelanggan di aplikasi ojek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produk di e-commerce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👉 Bayangkan seperti </a:t>
            </a:r>
            <a:r>
              <a:rPr kumimoji="0" lang="id-TW" altLang="id-TW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lemari arsip digital</a:t>
            </a:r>
            <a:r>
              <a:rPr kumimoji="0" lang="id-TW" altLang="id-TW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1193800"/>
            <a:ext cx="1656000" cy="792000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4" name="线条 1"/>
          <p:cNvCxnSpPr/>
          <p:nvPr/>
        </p:nvCxnSpPr>
        <p:spPr>
          <a:xfrm>
            <a:off x="1811252" y="2024720"/>
            <a:ext cx="10817225" cy="0"/>
          </a:xfrm>
          <a:prstGeom prst="line">
            <a:avLst/>
          </a:prstGeom>
          <a:noFill/>
          <a:ln w="12700" cap="sq">
            <a:solidFill>
              <a:srgbClr val="7F7F7F">
                <a:alpha val="100000"/>
              </a:srgbClr>
            </a:solidFill>
            <a:miter/>
          </a:ln>
        </p:spPr>
      </p:cxnSp>
      <p:sp>
        <p:nvSpPr>
          <p:cNvPr id="5" name="标题 1"/>
          <p:cNvSpPr txBox="1"/>
          <p:nvPr/>
        </p:nvSpPr>
        <p:spPr>
          <a:xfrm>
            <a:off x="1811252" y="1036672"/>
            <a:ext cx="6828648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</a:t>
            </a:r>
            <a:r>
              <a:rPr kumimoji="1" lang="en-US" altLang="zh-CN" sz="4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ontents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243052" y="2598772"/>
            <a:ext cx="3894948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Pengenalan Basis Data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811252" y="2598772"/>
            <a:ext cx="491348" cy="569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640552" y="2598772"/>
            <a:ext cx="3894948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Perancangan Basis Data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208752" y="2598772"/>
            <a:ext cx="491348" cy="569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243052" y="3868772"/>
            <a:ext cx="3894948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Manajemen dan Implementasi Basis Data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11252" y="3868772"/>
            <a:ext cx="491348" cy="569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矩形 3"/>
          <p:cNvSpPr txBox="1"/>
          <p:nvPr/>
        </p:nvSpPr>
        <p:spPr>
          <a:xfrm>
            <a:off x="988822" y="1561084"/>
            <a:ext cx="1133856" cy="41422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矩形 4"/>
          <p:cNvSpPr txBox="1"/>
          <p:nvPr/>
        </p:nvSpPr>
        <p:spPr>
          <a:xfrm>
            <a:off x="10056622" y="1561084"/>
            <a:ext cx="1133856" cy="41422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矩形 5"/>
          <p:cNvSpPr txBox="1"/>
          <p:nvPr/>
        </p:nvSpPr>
        <p:spPr>
          <a:xfrm>
            <a:off x="1170178" y="1739392"/>
            <a:ext cx="9838944" cy="3785616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35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文本框 7"/>
          <p:cNvSpPr txBox="1"/>
          <p:nvPr/>
        </p:nvSpPr>
        <p:spPr>
          <a:xfrm>
            <a:off x="1695545" y="3461004"/>
            <a:ext cx="3986341" cy="16388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Basis data adalah kumpulan data yang tersimpan secara terorganisir dan dapat diakses dengan mudah untuk berbagai kebutuhan.</a:t>
            </a:r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95545" y="2182876"/>
            <a:ext cx="3986342" cy="10266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Definisi Basis Data</a:t>
            </a:r>
            <a:endParaRPr kumimoji="1" lang="zh-CN" altLang="en-US"/>
          </a:p>
        </p:txBody>
      </p:sp>
      <p:sp>
        <p:nvSpPr>
          <p:cNvPr id="8" name="文本框 8"/>
          <p:cNvSpPr txBox="1"/>
          <p:nvPr/>
        </p:nvSpPr>
        <p:spPr>
          <a:xfrm>
            <a:off x="6497413" y="2164588"/>
            <a:ext cx="3986342" cy="102666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Tujuan dan Manfaat Basis Data</a:t>
            </a:r>
            <a:endParaRPr kumimoji="1" lang="zh-CN" altLang="en-US"/>
          </a:p>
        </p:txBody>
      </p:sp>
      <p:sp>
        <p:nvSpPr>
          <p:cNvPr id="9" name="文本框 9"/>
          <p:cNvSpPr txBox="1"/>
          <p:nvPr/>
        </p:nvSpPr>
        <p:spPr>
          <a:xfrm>
            <a:off x="6497413" y="3461004"/>
            <a:ext cx="3986341" cy="16388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Basis data dirancang untuk menyimpan, mengelola, dan memudahkan pengambilan data secara efisien dan aman.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Konsep Dasar Basis Data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385302" y="1644316"/>
            <a:ext cx="9625264" cy="1676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542714" y="1836821"/>
            <a:ext cx="1291390" cy="12913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68734" y="1459832"/>
            <a:ext cx="2045368" cy="2045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326397" y="2278866"/>
            <a:ext cx="6046203" cy="8965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Perangkat keras meliputi server dan penyimpanan, sedangkan perangkat lunak mencakup sistem manajemen basis data dan aplikasi terkait.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901834" y="2231628"/>
            <a:ext cx="573149" cy="501777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8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273007" y="1564105"/>
            <a:ext cx="1836822" cy="1836822"/>
          </a:xfrm>
          <a:custGeom>
            <a:avLst/>
            <a:gdLst/>
            <a:ahLst/>
            <a:cxnLst/>
            <a:rect l="l" t="t" r="r" b="b"/>
            <a:pathLst>
              <a:path w="1836822" h="1836822">
                <a:moveTo>
                  <a:pt x="918411" y="0"/>
                </a:moveTo>
                <a:cubicBezTo>
                  <a:pt x="1425635" y="0"/>
                  <a:pt x="1836822" y="411187"/>
                  <a:pt x="1836822" y="918411"/>
                </a:cubicBezTo>
                <a:cubicBezTo>
                  <a:pt x="1836822" y="1425635"/>
                  <a:pt x="1425635" y="1836822"/>
                  <a:pt x="918411" y="1836822"/>
                </a:cubicBezTo>
                <a:cubicBezTo>
                  <a:pt x="411187" y="1836822"/>
                  <a:pt x="0" y="1425635"/>
                  <a:pt x="0" y="918411"/>
                </a:cubicBezTo>
                <a:cubicBezTo>
                  <a:pt x="0" y="411187"/>
                  <a:pt x="411187" y="0"/>
                  <a:pt x="91841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2688724" y="1299410"/>
            <a:ext cx="224590" cy="22459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326396" y="1803849"/>
            <a:ext cx="6039855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3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Perangkat Keras dan Perangkat Lunak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385302" y="4096753"/>
            <a:ext cx="9625264" cy="1676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542714" y="4289258"/>
            <a:ext cx="1291390" cy="12913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168734" y="3912269"/>
            <a:ext cx="2045368" cy="2045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326397" y="4731303"/>
            <a:ext cx="6046203" cy="8965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1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Pengguna basis data terdiri dari administrator, pengembang, dan pengguna akhir yang memanfaatkan data untuk berbagai tujuan.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901834" y="4669852"/>
            <a:ext cx="573149" cy="530203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6" name="图片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273007" y="4016542"/>
            <a:ext cx="1836822" cy="1836822"/>
          </a:xfrm>
          <a:custGeom>
            <a:avLst/>
            <a:gdLst/>
            <a:ahLst/>
            <a:cxnLst/>
            <a:rect l="l" t="t" r="r" b="b"/>
            <a:pathLst>
              <a:path w="1836822" h="1836822">
                <a:moveTo>
                  <a:pt x="918411" y="0"/>
                </a:moveTo>
                <a:cubicBezTo>
                  <a:pt x="1425635" y="0"/>
                  <a:pt x="1836822" y="411187"/>
                  <a:pt x="1836822" y="918411"/>
                </a:cubicBezTo>
                <a:cubicBezTo>
                  <a:pt x="1836822" y="1425635"/>
                  <a:pt x="1425635" y="1836822"/>
                  <a:pt x="918411" y="1836822"/>
                </a:cubicBezTo>
                <a:cubicBezTo>
                  <a:pt x="411187" y="1836822"/>
                  <a:pt x="0" y="1425635"/>
                  <a:pt x="0" y="918411"/>
                </a:cubicBezTo>
                <a:cubicBezTo>
                  <a:pt x="0" y="411187"/>
                  <a:pt x="411187" y="0"/>
                  <a:pt x="91841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" name="标题 1"/>
          <p:cNvSpPr txBox="1"/>
          <p:nvPr/>
        </p:nvSpPr>
        <p:spPr>
          <a:xfrm>
            <a:off x="2688724" y="3751847"/>
            <a:ext cx="224590" cy="22459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326396" y="4256286"/>
            <a:ext cx="6039855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3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Pengguna Basis Data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Komponen Sistem Basis Data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/>
              </a:gs>
            </a:gsLst>
            <a:lin ang="1350000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文本框 6"/>
          <p:cNvSpPr txBox="1"/>
          <p:nvPr/>
        </p:nvSpPr>
        <p:spPr>
          <a:xfrm>
            <a:off x="5172911" y="-283622"/>
            <a:ext cx="2251982" cy="18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1500" dirty="0">
                <a:ln w="22225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 dirty="0"/>
          </a:p>
        </p:txBody>
      </p:sp>
      <p:sp>
        <p:nvSpPr>
          <p:cNvPr id="4" name="文本框 7"/>
          <p:cNvSpPr txBox="1"/>
          <p:nvPr/>
        </p:nvSpPr>
        <p:spPr>
          <a:xfrm>
            <a:off x="858156" y="3951073"/>
            <a:ext cx="10259787" cy="13285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4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Perancangan Basis Data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Shape 0"/>
          <p:cNvSpPr txBox="1"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3703224" scaled="1"/>
          </a:gra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Rectangle 41"/>
          <p:cNvSpPr txBox="1"/>
          <p:nvPr/>
        </p:nvSpPr>
        <p:spPr>
          <a:xfrm>
            <a:off x="1562582" y="949947"/>
            <a:ext cx="4359511" cy="4978879"/>
          </a:xfrm>
          <a:prstGeom prst="rect">
            <a:avLst/>
          </a:prstGeom>
          <a:solidFill>
            <a:schemeClr val="accent2"/>
          </a:solidFill>
          <a:ln w="19050"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TextBox 18"/>
          <p:cNvSpPr txBox="1"/>
          <p:nvPr/>
        </p:nvSpPr>
        <p:spPr>
          <a:xfrm>
            <a:off x="7124625" y="1354500"/>
            <a:ext cx="3864842" cy="1200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5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Model Relasional</a:t>
            </a:r>
            <a:endParaRPr kumimoji="1" lang="zh-CN" altLang="en-US"/>
          </a:p>
        </p:txBody>
      </p:sp>
      <p:sp>
        <p:nvSpPr>
          <p:cNvPr id="6" name="TextBox 16"/>
          <p:cNvSpPr txBox="1"/>
          <p:nvPr/>
        </p:nvSpPr>
        <p:spPr>
          <a:xfrm>
            <a:off x="7241606" y="2859907"/>
            <a:ext cx="3864841" cy="2922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Model data yang menggunakan tabel untuk merepresentasikan hubungan antar data secara sederhana dan mudah dipahami.</a:t>
            </a:r>
            <a:endParaRPr kumimoji="1" lang="zh-CN" altLang="en-US"/>
          </a:p>
        </p:txBody>
      </p:sp>
      <p:sp>
        <p:nvSpPr>
          <p:cNvPr id="7" name="TextBox 32"/>
          <p:cNvSpPr txBox="1"/>
          <p:nvPr/>
        </p:nvSpPr>
        <p:spPr>
          <a:xfrm>
            <a:off x="1917226" y="4977355"/>
            <a:ext cx="3890192" cy="6635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Model data yang menyusun informasi dalam struktur pohon atau grafik untuk menggambarkan hubungan kompleks antar data.</a:t>
            </a:r>
            <a:endParaRPr kumimoji="1" lang="zh-CN" altLang="en-US"/>
          </a:p>
        </p:txBody>
      </p:sp>
      <p:sp>
        <p:nvSpPr>
          <p:cNvPr id="8" name="TextBox 33"/>
          <p:cNvSpPr txBox="1"/>
          <p:nvPr/>
        </p:nvSpPr>
        <p:spPr>
          <a:xfrm>
            <a:off x="1917226" y="4393467"/>
            <a:ext cx="2789687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345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Model Hierarki dan Jaringan</a:t>
            </a:r>
            <a:endParaRPr kumimoji="1" lang="zh-CN" altLang="en-US"/>
          </a:p>
        </p:txBody>
      </p:sp>
      <p:pic>
        <p:nvPicPr>
          <p:cNvPr id="9" name="图片占位符 17"/>
          <p:cNvPicPr>
            <a:picLocks noChangeAspect="1"/>
          </p:cNvPicPr>
          <p:nvPr/>
        </p:nvPicPr>
        <p:blipFill>
          <a:blip r:embed="rId2">
            <a:alphaModFix/>
          </a:blip>
          <a:srcRect t="13187" b="13187"/>
          <a:stretch>
            <a:fillRect/>
          </a:stretch>
        </p:blipFill>
        <p:spPr>
          <a:xfrm>
            <a:off x="1562583" y="949947"/>
            <a:ext cx="4359511" cy="3209765"/>
          </a:xfrm>
          <a:custGeom>
            <a:avLst/>
            <a:gdLst/>
            <a:ahLst/>
            <a:cxnLst/>
            <a:rect l="l" t="t" r="r" b="b"/>
            <a:pathLst>
              <a:path w="4356100" h="3213100">
                <a:moveTo>
                  <a:pt x="0" y="0"/>
                </a:moveTo>
                <a:lnTo>
                  <a:pt x="4359529" y="0"/>
                </a:lnTo>
                <a:lnTo>
                  <a:pt x="4359529" y="3209798"/>
                </a:lnTo>
                <a:lnTo>
                  <a:pt x="0" y="32097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Model Data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矩形: 圆角 1"/>
          <p:cNvSpPr txBox="1"/>
          <p:nvPr/>
        </p:nvSpPr>
        <p:spPr>
          <a:xfrm>
            <a:off x="660400" y="1628441"/>
            <a:ext cx="10858500" cy="12624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椭圆 2"/>
          <p:cNvSpPr txBox="1"/>
          <p:nvPr/>
        </p:nvSpPr>
        <p:spPr>
          <a:xfrm>
            <a:off x="1214651" y="1517079"/>
            <a:ext cx="1485145" cy="1485145"/>
          </a:xfrm>
          <a:prstGeom prst="ellipse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Text1"/>
          <p:cNvSpPr txBox="1"/>
          <p:nvPr/>
        </p:nvSpPr>
        <p:spPr>
          <a:xfrm>
            <a:off x="6523436" y="1798423"/>
            <a:ext cx="4353829" cy="9224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Proses pengorganisasian data agar menghilangkan redundansi dan memastikan integritas data dalam basis data.</a:t>
            </a:r>
            <a:endParaRPr kumimoji="1" lang="zh-CN" altLang="en-US"/>
          </a:p>
        </p:txBody>
      </p:sp>
      <p:sp>
        <p:nvSpPr>
          <p:cNvPr id="6" name="Bullet1"/>
          <p:cNvSpPr txBox="1"/>
          <p:nvPr/>
        </p:nvSpPr>
        <p:spPr>
          <a:xfrm>
            <a:off x="3029802" y="1747244"/>
            <a:ext cx="3343510" cy="10248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Konsep Normalisasi</a:t>
            </a:r>
            <a:endParaRPr kumimoji="1" lang="zh-CN" altLang="en-US"/>
          </a:p>
        </p:txBody>
      </p:sp>
      <p:sp>
        <p:nvSpPr>
          <p:cNvPr id="7" name="6"/>
          <p:cNvSpPr txBox="1"/>
          <p:nvPr/>
        </p:nvSpPr>
        <p:spPr>
          <a:xfrm>
            <a:off x="1665327" y="1956129"/>
            <a:ext cx="583792" cy="607045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矩形: 圆角 5"/>
          <p:cNvSpPr txBox="1"/>
          <p:nvPr/>
        </p:nvSpPr>
        <p:spPr>
          <a:xfrm flipH="1">
            <a:off x="676320" y="4073671"/>
            <a:ext cx="10858500" cy="12624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椭圆 6"/>
          <p:cNvSpPr txBox="1"/>
          <p:nvPr/>
        </p:nvSpPr>
        <p:spPr>
          <a:xfrm flipH="1">
            <a:off x="9495424" y="3962309"/>
            <a:ext cx="1485145" cy="1485145"/>
          </a:xfrm>
          <a:prstGeom prst="ellipse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Text1"/>
          <p:cNvSpPr txBox="1"/>
          <p:nvPr/>
        </p:nvSpPr>
        <p:spPr>
          <a:xfrm>
            <a:off x="1317955" y="4243653"/>
            <a:ext cx="4353829" cy="9224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Tahapan normalisasi mulai dari bentuk normal pertama hingga ketiga, dengan contoh praktis untuk masing- masing tahap.</a:t>
            </a:r>
            <a:endParaRPr kumimoji="1" lang="zh-CN" altLang="en-US"/>
          </a:p>
        </p:txBody>
      </p:sp>
      <p:sp>
        <p:nvSpPr>
          <p:cNvPr id="11" name="Bullet1"/>
          <p:cNvSpPr txBox="1"/>
          <p:nvPr/>
        </p:nvSpPr>
        <p:spPr>
          <a:xfrm>
            <a:off x="5821908" y="4192474"/>
            <a:ext cx="3343510" cy="10248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Bentuk Normal dan Contohnya</a:t>
            </a:r>
            <a:endParaRPr kumimoji="1" lang="zh-CN" altLang="en-US"/>
          </a:p>
        </p:txBody>
      </p:sp>
      <p:sp>
        <p:nvSpPr>
          <p:cNvPr id="12" name="5"/>
          <p:cNvSpPr txBox="1"/>
          <p:nvPr/>
        </p:nvSpPr>
        <p:spPr>
          <a:xfrm flipH="1">
            <a:off x="9906251" y="4404116"/>
            <a:ext cx="663491" cy="601530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Normalisasi Data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1000">
                <a:schemeClr val="accent1"/>
              </a:gs>
            </a:gsLst>
            <a:lin ang="1350000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3" name="文本框 6"/>
          <p:cNvSpPr txBox="1"/>
          <p:nvPr/>
        </p:nvSpPr>
        <p:spPr>
          <a:xfrm>
            <a:off x="5079773" y="706408"/>
            <a:ext cx="2251982" cy="18620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11500" dirty="0">
                <a:ln w="22225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 dirty="0"/>
          </a:p>
        </p:txBody>
      </p:sp>
      <p:sp>
        <p:nvSpPr>
          <p:cNvPr id="4" name="文本框 7"/>
          <p:cNvSpPr txBox="1"/>
          <p:nvPr/>
        </p:nvSpPr>
        <p:spPr>
          <a:xfrm>
            <a:off x="1239156" y="2759932"/>
            <a:ext cx="10259787" cy="13285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4103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Manajemen</a:t>
            </a:r>
            <a:r>
              <a:rPr kumimoji="1" lang="en-US" altLang="zh-CN" sz="4103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dan </a:t>
            </a:r>
            <a:r>
              <a:rPr kumimoji="1" lang="en-US" altLang="zh-CN" sz="4103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Implementasi</a:t>
            </a:r>
            <a:r>
              <a:rPr kumimoji="1" lang="en-US" altLang="zh-CN" sz="4103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Basis Data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14"/>
          <p:cNvPicPr>
            <a:picLocks noChangeAspect="1"/>
          </p:cNvPicPr>
          <p:nvPr/>
        </p:nvPicPr>
        <p:blipFill>
          <a:blip r:embed="rId2">
            <a:alphaModFix/>
          </a:blip>
          <a:srcRect l="17379" r="17379"/>
          <a:stretch>
            <a:fillRect/>
          </a:stretch>
        </p:blipFill>
        <p:spPr>
          <a:xfrm>
            <a:off x="3200401" y="2444750"/>
            <a:ext cx="2473325" cy="3790950"/>
          </a:xfrm>
          <a:custGeom>
            <a:avLst/>
            <a:gdLst>
              <a:gd name="csX0" fmla="*/ 0 w 2473325"/>
              <a:gd name="csY0" fmla="*/ 0 h 3790950"/>
              <a:gd name="csX1" fmla="*/ 2473325 w 2473325"/>
              <a:gd name="csY1" fmla="*/ 0 h 3790950"/>
              <a:gd name="csX2" fmla="*/ 2473325 w 2473325"/>
              <a:gd name="csY2" fmla="*/ 3790950 h 3790950"/>
              <a:gd name="csX3" fmla="*/ 0 w 2473325"/>
              <a:gd name="csY3" fmla="*/ 3790950 h 3790950"/>
            </a:gdLst>
            <a:ahLst/>
            <a:cxnLst/>
            <a:rect l="l" t="t" r="r" b="b"/>
            <a:pathLst>
              <a:path w="2473325" h="3790950">
                <a:moveTo>
                  <a:pt x="0" y="0"/>
                </a:moveTo>
                <a:lnTo>
                  <a:pt x="2473325" y="0"/>
                </a:lnTo>
                <a:lnTo>
                  <a:pt x="2473325" y="3790950"/>
                </a:lnTo>
                <a:lnTo>
                  <a:pt x="0" y="37909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" name="图片 8"/>
          <p:cNvPicPr>
            <a:picLocks noChangeAspect="1"/>
          </p:cNvPicPr>
          <p:nvPr/>
        </p:nvPicPr>
        <p:blipFill>
          <a:blip r:embed="rId3">
            <a:alphaModFix/>
          </a:blip>
          <a:srcRect l="17379" r="17379"/>
          <a:stretch>
            <a:fillRect/>
          </a:stretch>
        </p:blipFill>
        <p:spPr>
          <a:xfrm>
            <a:off x="660400" y="1028700"/>
            <a:ext cx="2473325" cy="3790950"/>
          </a:xfrm>
          <a:custGeom>
            <a:avLst/>
            <a:gdLst>
              <a:gd name="csX0" fmla="*/ 0 w 2473325"/>
              <a:gd name="csY0" fmla="*/ 0 h 3790950"/>
              <a:gd name="csX1" fmla="*/ 2473325 w 2473325"/>
              <a:gd name="csY1" fmla="*/ 0 h 3790950"/>
              <a:gd name="csX2" fmla="*/ 2473325 w 2473325"/>
              <a:gd name="csY2" fmla="*/ 3790950 h 3790950"/>
              <a:gd name="csX3" fmla="*/ 0 w 2473325"/>
              <a:gd name="csY3" fmla="*/ 3790950 h 3790950"/>
            </a:gdLst>
            <a:ahLst/>
            <a:cxnLst/>
            <a:rect l="l" t="t" r="r" b="b"/>
            <a:pathLst>
              <a:path w="2473325" h="3790950">
                <a:moveTo>
                  <a:pt x="0" y="0"/>
                </a:moveTo>
                <a:lnTo>
                  <a:pt x="2473325" y="0"/>
                </a:lnTo>
                <a:lnTo>
                  <a:pt x="2473325" y="3790950"/>
                </a:lnTo>
                <a:lnTo>
                  <a:pt x="0" y="37909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矩形 15"/>
          <p:cNvSpPr txBox="1"/>
          <p:nvPr/>
        </p:nvSpPr>
        <p:spPr>
          <a:xfrm>
            <a:off x="3200401" y="2369818"/>
            <a:ext cx="2473325" cy="749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矩形 16"/>
          <p:cNvSpPr txBox="1"/>
          <p:nvPr/>
        </p:nvSpPr>
        <p:spPr>
          <a:xfrm>
            <a:off x="660400" y="4819650"/>
            <a:ext cx="2473325" cy="749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文本框 17"/>
          <p:cNvSpPr txBox="1"/>
          <p:nvPr/>
        </p:nvSpPr>
        <p:spPr>
          <a:xfrm>
            <a:off x="6400800" y="1130300"/>
            <a:ext cx="5118101" cy="727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SQL Dasar</a:t>
            </a:r>
            <a:endParaRPr kumimoji="1" lang="zh-CN" altLang="en-US"/>
          </a:p>
        </p:txBody>
      </p:sp>
      <p:sp>
        <p:nvSpPr>
          <p:cNvPr id="8" name="文本框 18"/>
          <p:cNvSpPr txBox="1"/>
          <p:nvPr/>
        </p:nvSpPr>
        <p:spPr>
          <a:xfrm>
            <a:off x="6400800" y="2038351"/>
            <a:ext cx="5118101" cy="143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Memahami sintaks dasar SQL untuk pengambilan dan pengelolaan data dalam basis data relasional.</a:t>
            </a:r>
            <a:endParaRPr kumimoji="1" lang="zh-CN" altLang="en-US"/>
          </a:p>
        </p:txBody>
      </p:sp>
      <p:sp>
        <p:nvSpPr>
          <p:cNvPr id="9" name="文本框 19"/>
          <p:cNvSpPr txBox="1"/>
          <p:nvPr/>
        </p:nvSpPr>
        <p:spPr>
          <a:xfrm>
            <a:off x="6400800" y="3770314"/>
            <a:ext cx="5118101" cy="727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5E6CF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Perintah Insert, Update, dan Delete</a:t>
            </a:r>
            <a:endParaRPr kumimoji="1" lang="zh-CN" altLang="en-US"/>
          </a:p>
        </p:txBody>
      </p:sp>
      <p:sp>
        <p:nvSpPr>
          <p:cNvPr id="10" name="文本框 20"/>
          <p:cNvSpPr txBox="1"/>
          <p:nvPr/>
        </p:nvSpPr>
        <p:spPr>
          <a:xfrm>
            <a:off x="6400800" y="4697415"/>
            <a:ext cx="5118101" cy="143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Cara menggunakan perintah untuk menambah, mengubah, dan menghapus data secara efektif di dalam tabel.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Bahasa Query dan Manipulasi Data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矩形: 圆角 1"/>
          <p:cNvSpPr txBox="1"/>
          <p:nvPr/>
        </p:nvSpPr>
        <p:spPr>
          <a:xfrm>
            <a:off x="1042308" y="2438400"/>
            <a:ext cx="2828471" cy="7547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矩形: 圆角 3"/>
          <p:cNvSpPr txBox="1"/>
          <p:nvPr/>
        </p:nvSpPr>
        <p:spPr>
          <a:xfrm>
            <a:off x="8308522" y="2438400"/>
            <a:ext cx="2828471" cy="7547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任意多边形: 形状 9"/>
          <p:cNvSpPr txBox="1"/>
          <p:nvPr/>
        </p:nvSpPr>
        <p:spPr>
          <a:xfrm>
            <a:off x="4754336" y="1899136"/>
            <a:ext cx="1335314" cy="4958864"/>
          </a:xfrm>
          <a:custGeom>
            <a:avLst/>
            <a:gdLst>
              <a:gd name="csX0" fmla="*/ 1494971 w 1494971"/>
              <a:gd name="csY0" fmla="*/ 0 h 4958864"/>
              <a:gd name="csX1" fmla="*/ 1494971 w 1494971"/>
              <a:gd name="csY1" fmla="*/ 4958864 h 4958864"/>
              <a:gd name="csX2" fmla="*/ 0 w 1494971"/>
              <a:gd name="csY2" fmla="*/ 4958864 h 4958864"/>
              <a:gd name="csX3" fmla="*/ 0 w 1494971"/>
              <a:gd name="csY3" fmla="*/ 798795 h 4958864"/>
              <a:gd name="csX4" fmla="*/ 1494971 w 1494971"/>
              <a:gd name="csY4" fmla="*/ 0 h 4958864"/>
            </a:gdLst>
            <a:ahLst/>
            <a:cxnLst/>
            <a:rect l="l" t="t" r="r" b="b"/>
            <a:pathLst>
              <a:path w="1494971" h="4958864">
                <a:moveTo>
                  <a:pt x="1494971" y="0"/>
                </a:moveTo>
                <a:lnTo>
                  <a:pt x="1494971" y="4958864"/>
                </a:lnTo>
                <a:lnTo>
                  <a:pt x="0" y="4958864"/>
                </a:lnTo>
                <a:lnTo>
                  <a:pt x="0" y="798795"/>
                </a:lnTo>
                <a:lnTo>
                  <a:pt x="1494971" y="0"/>
                </a:ln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任意多边形: 形状 12"/>
          <p:cNvSpPr txBox="1"/>
          <p:nvPr/>
        </p:nvSpPr>
        <p:spPr>
          <a:xfrm flipH="1">
            <a:off x="6089650" y="1899136"/>
            <a:ext cx="1335314" cy="4958864"/>
          </a:xfrm>
          <a:custGeom>
            <a:avLst/>
            <a:gdLst>
              <a:gd name="csX0" fmla="*/ 1494971 w 1494971"/>
              <a:gd name="csY0" fmla="*/ 0 h 4958864"/>
              <a:gd name="csX1" fmla="*/ 1494971 w 1494971"/>
              <a:gd name="csY1" fmla="*/ 4958864 h 4958864"/>
              <a:gd name="csX2" fmla="*/ 0 w 1494971"/>
              <a:gd name="csY2" fmla="*/ 4958864 h 4958864"/>
              <a:gd name="csX3" fmla="*/ 0 w 1494971"/>
              <a:gd name="csY3" fmla="*/ 798795 h 4958864"/>
              <a:gd name="csX4" fmla="*/ 1494971 w 1494971"/>
              <a:gd name="csY4" fmla="*/ 0 h 4958864"/>
            </a:gdLst>
            <a:ahLst/>
            <a:cxnLst/>
            <a:rect l="l" t="t" r="r" b="b"/>
            <a:pathLst>
              <a:path w="1494971" h="4958864">
                <a:moveTo>
                  <a:pt x="1494971" y="0"/>
                </a:moveTo>
                <a:lnTo>
                  <a:pt x="1494971" y="4958864"/>
                </a:lnTo>
                <a:lnTo>
                  <a:pt x="0" y="4958864"/>
                </a:lnTo>
                <a:lnTo>
                  <a:pt x="0" y="798795"/>
                </a:lnTo>
                <a:lnTo>
                  <a:pt x="1494971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文本框 14"/>
          <p:cNvSpPr txBox="1"/>
          <p:nvPr/>
        </p:nvSpPr>
        <p:spPr>
          <a:xfrm rot="5400000">
            <a:off x="3518398" y="4316231"/>
            <a:ext cx="3788229" cy="76553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Strategi Keamanan Data</a:t>
            </a:r>
            <a:endParaRPr kumimoji="1" lang="zh-CN" altLang="en-US"/>
          </a:p>
        </p:txBody>
      </p:sp>
      <p:sp>
        <p:nvSpPr>
          <p:cNvPr id="8" name="文本框 15"/>
          <p:cNvSpPr txBox="1"/>
          <p:nvPr/>
        </p:nvSpPr>
        <p:spPr>
          <a:xfrm rot="5400000">
            <a:off x="4872671" y="4316231"/>
            <a:ext cx="3788229" cy="76553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Teknik Backup dan Recovery</a:t>
            </a:r>
            <a:endParaRPr kumimoji="1" lang="zh-CN" altLang="en-US"/>
          </a:p>
        </p:txBody>
      </p:sp>
      <p:sp>
        <p:nvSpPr>
          <p:cNvPr id="9" name="AIPPT10"/>
          <p:cNvSpPr txBox="1"/>
          <p:nvPr/>
        </p:nvSpPr>
        <p:spPr>
          <a:xfrm>
            <a:off x="883018" y="3429000"/>
            <a:ext cx="3147049" cy="2705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Pendekatan untuk melindungi data dari akses tidak sah dan menjaga integritas informasi.</a:t>
            </a:r>
            <a:endParaRPr kumimoji="1" lang="zh-CN" altLang="en-US"/>
          </a:p>
        </p:txBody>
      </p:sp>
      <p:sp>
        <p:nvSpPr>
          <p:cNvPr id="10" name="AIPPT10"/>
          <p:cNvSpPr txBox="1"/>
          <p:nvPr/>
        </p:nvSpPr>
        <p:spPr>
          <a:xfrm>
            <a:off x="8149232" y="3432629"/>
            <a:ext cx="3147049" cy="27051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Metode dan prosedur untuk membuat salinan data serta mengembalikan data yang hilang atau rusak.</a:t>
            </a:r>
            <a:endParaRPr kumimoji="1" lang="zh-CN" altLang="en-US"/>
          </a:p>
        </p:txBody>
      </p:sp>
      <p:sp>
        <p:nvSpPr>
          <p:cNvPr id="11" name="5"/>
          <p:cNvSpPr txBox="1"/>
          <p:nvPr/>
        </p:nvSpPr>
        <p:spPr>
          <a:xfrm>
            <a:off x="9538187" y="2648437"/>
            <a:ext cx="369140" cy="33466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2"/>
          <p:cNvSpPr txBox="1"/>
          <p:nvPr/>
        </p:nvSpPr>
        <p:spPr>
          <a:xfrm>
            <a:off x="2283631" y="2648437"/>
            <a:ext cx="345825" cy="334668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1"/>
          </a:gra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3300">
                <a:ln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Keamanan dan Backup Data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/>
          </a:blip>
          <a:srcRect t="21865" b="21865"/>
          <a:stretch>
            <a:fillRect/>
          </a:stretch>
        </p:blipFill>
        <p:spPr>
          <a:xfrm>
            <a:off x="0" y="-2447"/>
            <a:ext cx="12192000" cy="68604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3"/>
          <p:cNvSpPr txBox="1"/>
          <p:nvPr/>
        </p:nvSpPr>
        <p:spPr>
          <a:xfrm>
            <a:off x="522515" y="1756230"/>
            <a:ext cx="5181600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5" name="文本框 5"/>
          <p:cNvSpPr txBox="1"/>
          <p:nvPr/>
        </p:nvSpPr>
        <p:spPr>
          <a:xfrm>
            <a:off x="508002" y="4559304"/>
            <a:ext cx="6008914" cy="7384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Edited by milikdigitallabz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E6CFB"/>
      </a:accent1>
      <a:accent2>
        <a:srgbClr val="DB22CD"/>
      </a:accent2>
      <a:accent3>
        <a:srgbClr val="0CE8FF"/>
      </a:accent3>
      <a:accent4>
        <a:srgbClr val="FFC000"/>
      </a:accent4>
      <a:accent5>
        <a:srgbClr val="57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363</Words>
  <Application>Microsoft Macintosh PowerPoint</Application>
  <PresentationFormat>Layar Lebar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6" baseType="lpstr">
      <vt:lpstr>poppins-bold</vt:lpstr>
      <vt:lpstr>Poppins</vt:lpstr>
      <vt:lpstr>Arial</vt:lpstr>
      <vt:lpstr>Office 主题​​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naufal baihaqi</cp:lastModifiedBy>
  <cp:revision>2</cp:revision>
  <dcterms:modified xsi:type="dcterms:W3CDTF">2026-04-03T06:08:47Z</dcterms:modified>
</cp:coreProperties>
</file>