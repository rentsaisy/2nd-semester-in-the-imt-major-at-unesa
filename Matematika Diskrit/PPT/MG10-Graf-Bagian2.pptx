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sldIdLst>
    <p:sldId id="257" r:id="rId2"/>
    <p:sldId id="296" r:id="rId3"/>
    <p:sldId id="433" r:id="rId4"/>
    <p:sldId id="435" r:id="rId5"/>
    <p:sldId id="297" r:id="rId6"/>
    <p:sldId id="437" r:id="rId7"/>
    <p:sldId id="443" r:id="rId8"/>
    <p:sldId id="436" r:id="rId9"/>
    <p:sldId id="299" r:id="rId10"/>
    <p:sldId id="438" r:id="rId11"/>
    <p:sldId id="439" r:id="rId12"/>
    <p:sldId id="434" r:id="rId13"/>
    <p:sldId id="300" r:id="rId14"/>
    <p:sldId id="440" r:id="rId15"/>
    <p:sldId id="441" r:id="rId16"/>
    <p:sldId id="302" r:id="rId17"/>
    <p:sldId id="442" r:id="rId18"/>
    <p:sldId id="339" r:id="rId19"/>
    <p:sldId id="340" r:id="rId20"/>
    <p:sldId id="303" r:id="rId21"/>
    <p:sldId id="304" r:id="rId22"/>
    <p:sldId id="412" r:id="rId23"/>
    <p:sldId id="306" r:id="rId24"/>
    <p:sldId id="413" r:id="rId25"/>
    <p:sldId id="337" r:id="rId26"/>
    <p:sldId id="338" r:id="rId27"/>
    <p:sldId id="431" r:id="rId28"/>
    <p:sldId id="432" r:id="rId29"/>
    <p:sldId id="424" r:id="rId30"/>
    <p:sldId id="425" r:id="rId31"/>
    <p:sldId id="341" r:id="rId32"/>
    <p:sldId id="342" r:id="rId33"/>
    <p:sldId id="343" r:id="rId34"/>
    <p:sldId id="344" r:id="rId35"/>
    <p:sldId id="310" r:id="rId36"/>
    <p:sldId id="301" r:id="rId37"/>
    <p:sldId id="354" r:id="rId38"/>
    <p:sldId id="346" r:id="rId39"/>
    <p:sldId id="345" r:id="rId40"/>
    <p:sldId id="347" r:id="rId41"/>
    <p:sldId id="349" r:id="rId42"/>
    <p:sldId id="350" r:id="rId43"/>
    <p:sldId id="348" r:id="rId44"/>
    <p:sldId id="351" r:id="rId45"/>
    <p:sldId id="313" r:id="rId46"/>
    <p:sldId id="414" r:id="rId47"/>
    <p:sldId id="421" r:id="rId48"/>
    <p:sldId id="423" r:id="rId49"/>
    <p:sldId id="430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2" d="100"/>
          <a:sy n="92" d="100"/>
        </p:scale>
        <p:origin x="25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37E728-9319-435A-8E71-F1354E1996F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831A94-2300-4C58-9760-E575159C2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538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E03C5-83A6-47B6-B98F-237A2EFB62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CF0729-CB79-4069-82E3-A8F75E7759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524996-260C-43A0-B67A-2369B58B5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335A0-0208-432C-9363-C8E18182FA72}" type="datetime1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9DB73-5C3D-4BD9-B5B2-01B022C2F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98FEE-06BD-4C18-B0FB-77E11B685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907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49E6F-EE32-4EB6-AF4F-EB33BDA5B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188A2-1DE2-42E4-98C8-3952EA3DB8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6EE66-41C4-467C-A499-CD6826940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906C9-ED04-4F48-8162-3914BE314171}" type="datetime1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25531F-F998-432F-8E4C-F2ADCB3D8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7DFC18-42A0-4FF0-A884-CFEE9BFAA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482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C4779-8A71-41DE-94B9-F05FCCA98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83F8EF-2EA0-4570-B738-79A33341FF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E640FC-21C7-4ECE-AE0F-067F26AB4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04153-697B-4C2A-B3D3-A6E22BE0376F}" type="datetime1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4B4560-BD63-43AD-A7DD-9BA3B91A7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1B003-3C6A-487B-B590-7870E2D44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646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526A5-32B4-461B-A8A6-F69F1063A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9BAA7-E230-4882-B398-1551754B13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DEF5A0-2C7D-43B4-932A-541B9EC271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AE5A9B-3139-4E5D-91CD-D85524FCF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F2B99-D58C-47F8-8BF6-87CB609DC6C5}" type="datetime1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14222C-99D7-423A-A559-0C74C15CE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459023-B15F-43A9-8527-74D8F9D6F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843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FB452-0C73-4893-AB59-BC1D23C16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480692-6B3F-469E-B806-0F193E7CB9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E68892-4E7A-40C9-BAB1-061AF505C6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809F4E-5F08-4555-8726-D1EAF3EAD5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B4AC5-B1B1-4CE9-B9BE-1AF60AB781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E4D9FE-9938-444C-B196-F741C6172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B1568-05DE-49FF-9E32-775AADCBFC85}" type="datetime1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3F2B44-EFCA-411B-B39F-8B75D137D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45A42B-B283-4B4D-B683-BB6D8E2F0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752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9338F-9956-479C-9716-74D0A8585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67566B-0E8D-47EE-BAF4-903927D01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23AB1-9BEE-4099-89FF-959CF3E18C13}" type="datetime1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405AD4-DB49-4B0D-9DD5-2BAF3F959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F23442-3BA9-464C-969F-724FC9006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827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AB1F30-F85E-4304-9BE1-AE27C22EB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7D0AF-9A8B-4A8A-80C3-516B447CBF89}" type="datetime1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E9114E-4D5A-4B30-BE4E-DFB3CEB76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05532B-6071-4D85-AC20-1BAF980CB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066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B1266-232C-47F9-BE03-6EA498F11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22742-87E0-44EC-B725-4A037F814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AC24D9-5947-4FB0-8879-A0C1A5726A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17E78E-376C-4653-997E-E5879F632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0AAFB-8483-44EA-9091-D890E2AEC0D7}" type="datetime1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048B69-4D65-4C65-A989-5512F48EA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7F9F74-B4B8-4F4C-8144-F42B54339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580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FD7D0-38F7-41DD-8E72-FC45F1D6A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2E8D95-70B6-42EB-A7B0-10F97AFAF3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663A27-49B4-4D1A-B875-9D994C60E4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98FC3F-AE0C-4CFC-BADF-2F5C63A24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D6F2A-A60A-4AA4-9489-4479917B703B}" type="datetime1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FDD4A8-47FE-4EB8-AF9D-FEDFBE0B1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4347D-881E-4E12-89DA-CD645D890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559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BDE7E-3A5A-4389-B6B0-999C0C133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5A3858-3E17-4B1A-8A0B-C7DB5B534A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920E8-7F71-40B7-9069-0C49B4AA8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B319C-171C-48CE-A67B-B45704F2536D}" type="datetime1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C98D7E-8124-4B6D-B506-C486FCFF6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8000E-0EE5-410B-8F89-ECC9B6F82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757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C146C5-838B-4A0C-BB63-DDA289E105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909384-979B-4A85-977A-C75D3552B3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C304DA-37A4-4F7E-822A-BCD380C69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8097D-A56D-4578-92C8-4580D35B80AC}" type="datetime1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863E11-F83A-416C-9D56-12E4F84CF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04C8F-D0D1-4438-AE53-7E61237FD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137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3C1DDE-13C5-4ADB-9C05-7DC9F3D49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1D7891-7999-4B1E-BB19-9BF0F81D5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DC9575-3B41-42A8-9DD1-21B5E95B68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FD3748-561F-4E94-8959-3EFD1CCE8E55}" type="datetime1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A0336-444E-4BC5-9003-8A63FE3C30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ED2E9-FDC4-402C-BC18-3EF9996693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E4BCF9-A795-414B-A279-9A96D3DBC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117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raphicmaths.com/computer-science/graph-theory/adjacency-matrices/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raphicmaths.com/computer-science/graph-theory/adjacency-matrices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www.btechsmartclass.com/data_structures/graph-representations.html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raphicmaths.com/computer-science/graph-theory/adjacency-matrices/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tudyglance.in/ds/display.php?tno=33&amp;topic=Graph-Representation" TargetMode="External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w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w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wm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w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5" name="Rectangle 33">
            <a:extLst>
              <a:ext uri="{FF2B5EF4-FFF2-40B4-BE49-F238E27FC236}">
                <a16:creationId xmlns:a16="http://schemas.microsoft.com/office/drawing/2014/main" id="{9C6C090B-0BBD-4310-9EDF-3D7B28524C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FE18A4F-A7B2-44C6-B05F-E79D00606075}" type="slidenum">
              <a:rPr lang="en-GB" altLang="en-US" sz="1400"/>
              <a:pPr eaLnBrk="1" hangingPunct="1"/>
              <a:t>1</a:t>
            </a:fld>
            <a:endParaRPr lang="en-GB" altLang="en-US" sz="1400"/>
          </a:p>
        </p:txBody>
      </p:sp>
      <p:sp>
        <p:nvSpPr>
          <p:cNvPr id="79876" name="Rectangle 2">
            <a:extLst>
              <a:ext uri="{FF2B5EF4-FFF2-40B4-BE49-F238E27FC236}">
                <a16:creationId xmlns:a16="http://schemas.microsoft.com/office/drawing/2014/main" id="{70B245A0-5626-4475-805F-5E79253D597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371600" y="594043"/>
            <a:ext cx="9144000" cy="2387600"/>
          </a:xfrm>
        </p:spPr>
        <p:txBody>
          <a:bodyPr/>
          <a:lstStyle/>
          <a:p>
            <a:pPr eaLnBrk="1" hangingPunct="1"/>
            <a:r>
              <a:rPr lang="en-US" altLang="en-US" sz="5400" b="1" dirty="0">
                <a:latin typeface="+mn-lt"/>
                <a:cs typeface="Times New Roman" panose="02020603050405020304" pitchFamily="18" charset="0"/>
              </a:rPr>
              <a:t>Graf </a:t>
            </a:r>
            <a:br>
              <a:rPr lang="en-US" altLang="en-US" sz="5400" b="1" dirty="0">
                <a:latin typeface="+mn-lt"/>
                <a:cs typeface="Times New Roman" panose="02020603050405020304" pitchFamily="18" charset="0"/>
              </a:rPr>
            </a:br>
            <a:r>
              <a:rPr lang="en-US" altLang="en-US" sz="2800" b="1" dirty="0">
                <a:cs typeface="Times New Roman" panose="02020603050405020304" pitchFamily="18" charset="0"/>
              </a:rPr>
              <a:t>(Bag. 2)</a:t>
            </a:r>
            <a:br>
              <a:rPr lang="en-US" altLang="en-US" sz="2800" b="1" dirty="0">
                <a:cs typeface="Times New Roman" panose="02020603050405020304" pitchFamily="18" charset="0"/>
              </a:rPr>
            </a:br>
            <a:endParaRPr lang="en-GB" altLang="en-US" sz="2800" b="1" dirty="0">
              <a:cs typeface="Times New Roman" panose="02020603050405020304" pitchFamily="18" charset="0"/>
            </a:endParaRPr>
          </a:p>
        </p:txBody>
      </p:sp>
      <p:pic>
        <p:nvPicPr>
          <p:cNvPr id="3" name="Picture 2" descr="A close up of a logo&#10;&#10;Description automatically generated">
            <a:extLst>
              <a:ext uri="{FF2B5EF4-FFF2-40B4-BE49-F238E27FC236}">
                <a16:creationId xmlns:a16="http://schemas.microsoft.com/office/drawing/2014/main" id="{BD31DBE8-708B-4106-963F-114C94BDCD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2326" y="191769"/>
            <a:ext cx="3756813" cy="3602038"/>
          </a:xfrm>
          <a:prstGeom prst="rect">
            <a:avLst/>
          </a:prstGeom>
        </p:spPr>
      </p:pic>
      <p:pic>
        <p:nvPicPr>
          <p:cNvPr id="8" name="Picture 7" descr="A picture containing field, air, sitting, light&#10;&#10;Description automatically generated">
            <a:extLst>
              <a:ext uri="{FF2B5EF4-FFF2-40B4-BE49-F238E27FC236}">
                <a16:creationId xmlns:a16="http://schemas.microsoft.com/office/drawing/2014/main" id="{BCD3CA79-B079-4993-B6E3-0D727109FD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195" y="165177"/>
            <a:ext cx="3523480" cy="3523480"/>
          </a:xfrm>
          <a:prstGeom prst="rect">
            <a:avLst/>
          </a:prstGeom>
        </p:spPr>
      </p:pic>
      <p:sp>
        <p:nvSpPr>
          <p:cNvPr id="7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E70BFC60-302E-F5CA-C89A-7BF01C2594B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524000" y="3851565"/>
            <a:ext cx="9144000" cy="954107"/>
          </a:xfrm>
        </p:spPr>
        <p:txBody>
          <a:bodyPr/>
          <a:lstStyle/>
          <a:p>
            <a:pPr eaLnBrk="1" hangingPunct="1"/>
            <a:r>
              <a:rPr lang="en-US" altLang="en-US" dirty="0" err="1"/>
              <a:t>Bahan</a:t>
            </a:r>
            <a:r>
              <a:rPr lang="en-US" altLang="en-US" dirty="0"/>
              <a:t> </a:t>
            </a:r>
            <a:r>
              <a:rPr lang="en-US" altLang="en-US" dirty="0" err="1"/>
              <a:t>Kuliah</a:t>
            </a:r>
            <a:r>
              <a:rPr lang="en-US" altLang="en-US" dirty="0"/>
              <a:t> </a:t>
            </a:r>
          </a:p>
          <a:p>
            <a:pPr eaLnBrk="1" hangingPunct="1"/>
            <a:r>
              <a:rPr lang="en-US" altLang="en-US" dirty="0" err="1"/>
              <a:t>Matematika</a:t>
            </a:r>
            <a:r>
              <a:rPr lang="en-US" altLang="en-US" dirty="0"/>
              <a:t> </a:t>
            </a:r>
            <a:r>
              <a:rPr lang="en-US" altLang="en-US" dirty="0" err="1"/>
              <a:t>Diskrit</a:t>
            </a:r>
            <a:endParaRPr lang="en-US" altLang="en-US" dirty="0"/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5D4C4199-8C8E-D487-92ED-93530F58EA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2689" y="5134929"/>
            <a:ext cx="7372531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2800" b="1" dirty="0"/>
              <a:t>Program Studi </a:t>
            </a:r>
            <a:r>
              <a:rPr lang="en-US" altLang="en-US" sz="2800" b="1" dirty="0" err="1"/>
              <a:t>Manajemen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Informatika</a:t>
            </a:r>
            <a:r>
              <a:rPr lang="en-US" altLang="en-US" sz="2800" b="1" dirty="0"/>
              <a:t> </a:t>
            </a:r>
          </a:p>
          <a:p>
            <a:pPr algn="ctr" eaLnBrk="1" hangingPunct="1"/>
            <a:r>
              <a:rPr lang="en-US" altLang="en-US" sz="2800" b="1" dirty="0" err="1"/>
              <a:t>Fakultas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Vokasi</a:t>
            </a:r>
            <a:r>
              <a:rPr lang="en-US" altLang="en-US" sz="2800" b="1" dirty="0"/>
              <a:t> - UNESA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6" name="Slide Number Placeholder 5">
            <a:extLst>
              <a:ext uri="{FF2B5EF4-FFF2-40B4-BE49-F238E27FC236}">
                <a16:creationId xmlns:a16="http://schemas.microsoft.com/office/drawing/2014/main" id="{910604A1-6683-44F4-ABB6-63A3526B8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F09DD397-570A-46A0-A0AE-C1004FCE89C9}" type="slidenum">
              <a:rPr lang="en-GB" altLang="en-US" sz="1400"/>
              <a:pPr eaLnBrk="1" hangingPunct="1"/>
              <a:t>2</a:t>
            </a:fld>
            <a:endParaRPr lang="en-GB" altLang="en-US" sz="1400"/>
          </a:p>
        </p:txBody>
      </p:sp>
      <p:sp>
        <p:nvSpPr>
          <p:cNvPr id="38917" name="Rectangle 2">
            <a:extLst>
              <a:ext uri="{FF2B5EF4-FFF2-40B4-BE49-F238E27FC236}">
                <a16:creationId xmlns:a16="http://schemas.microsoft.com/office/drawing/2014/main" id="{A50C61D5-6214-4E61-B1CB-5C110411DB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 err="1">
                <a:latin typeface="+mn-lt"/>
                <a:cs typeface="Times New Roman" panose="02020603050405020304" pitchFamily="18" charset="0"/>
              </a:rPr>
              <a:t>Representasi</a:t>
            </a:r>
            <a:r>
              <a:rPr lang="en-US" altLang="en-US" b="1" dirty="0">
                <a:latin typeface="+mn-lt"/>
                <a:cs typeface="Times New Roman" panose="02020603050405020304" pitchFamily="18" charset="0"/>
              </a:rPr>
              <a:t> Graf</a:t>
            </a:r>
            <a:endParaRPr lang="en-GB" altLang="en-US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BEA12A-4A17-A444-BC9D-A53673FBD854}"/>
              </a:ext>
            </a:extLst>
          </p:cNvPr>
          <p:cNvSpPr txBox="1"/>
          <p:nvPr/>
        </p:nvSpPr>
        <p:spPr>
          <a:xfrm>
            <a:off x="1149531" y="1613118"/>
            <a:ext cx="6542112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Tiga</a:t>
            </a:r>
            <a:r>
              <a:rPr lang="en-US" sz="2800" dirty="0"/>
              <a:t> </a:t>
            </a:r>
            <a:r>
              <a:rPr lang="en-US" sz="2800" dirty="0" err="1"/>
              <a:t>cara</a:t>
            </a:r>
            <a:r>
              <a:rPr lang="en-US" sz="2800" dirty="0"/>
              <a:t> </a:t>
            </a:r>
            <a:r>
              <a:rPr lang="en-US" sz="2800" dirty="0" err="1"/>
              <a:t>merepresentasikan</a:t>
            </a:r>
            <a:r>
              <a:rPr lang="en-US" sz="2800" dirty="0"/>
              <a:t> </a:t>
            </a:r>
            <a:r>
              <a:rPr lang="en-US" sz="2800" dirty="0" err="1"/>
              <a:t>graf</a:t>
            </a:r>
            <a:r>
              <a:rPr lang="en-US" sz="2800" dirty="0"/>
              <a:t>:</a:t>
            </a:r>
            <a:br>
              <a:rPr lang="en-US" sz="2800" dirty="0"/>
            </a:br>
            <a:r>
              <a:rPr lang="en-US" sz="2800" dirty="0"/>
              <a:t>1.  </a:t>
            </a:r>
            <a:r>
              <a:rPr lang="en-US" sz="2800" dirty="0" err="1"/>
              <a:t>Matriks</a:t>
            </a:r>
            <a:r>
              <a:rPr lang="en-US" sz="2800" dirty="0"/>
              <a:t> </a:t>
            </a:r>
            <a:r>
              <a:rPr lang="en-US" sz="2800" dirty="0" err="1"/>
              <a:t>ketetanggaan</a:t>
            </a:r>
            <a:r>
              <a:rPr lang="en-US" sz="2800" dirty="0"/>
              <a:t> (</a:t>
            </a:r>
            <a:r>
              <a:rPr lang="en-US" sz="2800" i="1" dirty="0"/>
              <a:t>adjacency matrix</a:t>
            </a:r>
            <a:r>
              <a:rPr lang="en-US" sz="2800" dirty="0"/>
              <a:t>)</a:t>
            </a:r>
          </a:p>
          <a:p>
            <a:r>
              <a:rPr lang="en-US" sz="2800" dirty="0"/>
              <a:t>2.  </a:t>
            </a:r>
            <a:r>
              <a:rPr lang="en-US" sz="2800" dirty="0" err="1"/>
              <a:t>Matriks</a:t>
            </a:r>
            <a:r>
              <a:rPr lang="en-US" sz="2800" dirty="0"/>
              <a:t> </a:t>
            </a:r>
            <a:r>
              <a:rPr lang="en-US" sz="2800" dirty="0" err="1"/>
              <a:t>bersisisan</a:t>
            </a:r>
            <a:r>
              <a:rPr lang="en-US" sz="2800" dirty="0"/>
              <a:t> (</a:t>
            </a:r>
            <a:r>
              <a:rPr lang="en-US" sz="2800" i="1" dirty="0" err="1"/>
              <a:t>incidency</a:t>
            </a:r>
            <a:r>
              <a:rPr lang="en-US" sz="2800" i="1" dirty="0"/>
              <a:t> matrix</a:t>
            </a:r>
            <a:r>
              <a:rPr lang="en-US" sz="2800" dirty="0"/>
              <a:t>)</a:t>
            </a:r>
          </a:p>
          <a:p>
            <a:r>
              <a:rPr lang="en-US" sz="2800" dirty="0"/>
              <a:t>3.  </a:t>
            </a:r>
            <a:r>
              <a:rPr lang="en-US" sz="2800" dirty="0" err="1"/>
              <a:t>Senarai</a:t>
            </a:r>
            <a:r>
              <a:rPr lang="en-US" sz="2800" dirty="0"/>
              <a:t> </a:t>
            </a:r>
            <a:r>
              <a:rPr lang="en-US" sz="2800" dirty="0" err="1"/>
              <a:t>ketetanggaan</a:t>
            </a:r>
            <a:r>
              <a:rPr lang="en-US" sz="2800" dirty="0"/>
              <a:t> (</a:t>
            </a:r>
            <a:r>
              <a:rPr lang="en-US" sz="2800" i="1" dirty="0"/>
              <a:t>adjacency list</a:t>
            </a:r>
            <a:r>
              <a:rPr lang="en-US" sz="2800" dirty="0"/>
              <a:t>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553B6E-2803-F4EC-81DE-D278B4ED3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3</a:t>
            </a:fld>
            <a:endParaRPr lang="en-US"/>
          </a:p>
        </p:txBody>
      </p:sp>
      <p:graphicFrame>
        <p:nvGraphicFramePr>
          <p:cNvPr id="38914" name="Object 4">
            <a:extLst>
              <a:ext uri="{FF2B5EF4-FFF2-40B4-BE49-F238E27FC236}">
                <a16:creationId xmlns:a16="http://schemas.microsoft.com/office/drawing/2014/main" id="{19EF7CF7-A33C-4B76-A3DC-0659D29C85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0341241"/>
              </p:ext>
            </p:extLst>
          </p:nvPr>
        </p:nvGraphicFramePr>
        <p:xfrm>
          <a:off x="1006250" y="587101"/>
          <a:ext cx="9715041" cy="244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86400" imgH="1379160" progId="Word.Document.8">
                  <p:embed/>
                </p:oleObj>
              </mc:Choice>
              <mc:Fallback>
                <p:oleObj name="Document" r:id="rId2" imgW="5486400" imgH="1379160" progId="Word.Document.8">
                  <p:embed/>
                  <p:pic>
                    <p:nvPicPr>
                      <p:cNvPr id="38914" name="Object 4">
                        <a:extLst>
                          <a:ext uri="{FF2B5EF4-FFF2-40B4-BE49-F238E27FC236}">
                            <a16:creationId xmlns:a16="http://schemas.microsoft.com/office/drawing/2014/main" id="{19EF7CF7-A33C-4B76-A3DC-0659D29C85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6250" y="587101"/>
                        <a:ext cx="9715041" cy="24434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 descr="A graph and a diagram&#10;&#10;Description automatically generated with medium confidence">
            <a:extLst>
              <a:ext uri="{FF2B5EF4-FFF2-40B4-BE49-F238E27FC236}">
                <a16:creationId xmlns:a16="http://schemas.microsoft.com/office/drawing/2014/main" id="{AB8DC97C-C994-73DE-5C66-2183583C37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986" y="3416527"/>
            <a:ext cx="5430157" cy="2715079"/>
          </a:xfrm>
          <a:prstGeom prst="rect">
            <a:avLst/>
          </a:prstGeom>
        </p:spPr>
      </p:pic>
      <p:pic>
        <p:nvPicPr>
          <p:cNvPr id="6" name="Picture 5" descr="A diagram of a graph with letters and numbers&#10;&#10;Description automatically generated">
            <a:extLst>
              <a:ext uri="{FF2B5EF4-FFF2-40B4-BE49-F238E27FC236}">
                <a16:creationId xmlns:a16="http://schemas.microsoft.com/office/drawing/2014/main" id="{41711353-6097-1F82-2FEB-5C15FA213A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8859" y="3325131"/>
            <a:ext cx="5795738" cy="289786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5F71C45-6B41-3A69-724D-23AF32F88672}"/>
              </a:ext>
            </a:extLst>
          </p:cNvPr>
          <p:cNvSpPr txBox="1"/>
          <p:nvPr/>
        </p:nvSpPr>
        <p:spPr>
          <a:xfrm>
            <a:off x="1268185" y="6397131"/>
            <a:ext cx="96556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6"/>
              </a:rPr>
              <a:t>https://graphicmaths.com/computer-science/graph-theory/adjacency-matrices/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6576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AC0C50-F715-4CD1-570F-0A70FF614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4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5F3AA33-B060-52BA-3C7B-B3DC0FC883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54892" y="798057"/>
            <a:ext cx="7580993" cy="49859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FC0D728-4280-EA7A-9180-EB126408741B}"/>
              </a:ext>
            </a:extLst>
          </p:cNvPr>
          <p:cNvSpPr txBox="1"/>
          <p:nvPr/>
        </p:nvSpPr>
        <p:spPr>
          <a:xfrm>
            <a:off x="3817257" y="5907314"/>
            <a:ext cx="2433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Sumber</a:t>
            </a:r>
            <a:r>
              <a:rPr lang="en-US" dirty="0"/>
              <a:t>: Wolfram Alpha</a:t>
            </a:r>
          </a:p>
        </p:txBody>
      </p:sp>
    </p:spTree>
    <p:extLst>
      <p:ext uri="{BB962C8B-B14F-4D97-AF65-F5344CB8AC3E}">
        <p14:creationId xmlns:p14="http://schemas.microsoft.com/office/powerpoint/2010/main" val="3305085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Slide Number Placeholder 5">
            <a:extLst>
              <a:ext uri="{FF2B5EF4-FFF2-40B4-BE49-F238E27FC236}">
                <a16:creationId xmlns:a16="http://schemas.microsoft.com/office/drawing/2014/main" id="{76DCAF84-7210-4830-A7D0-DEAE7E3E9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CA6EF5D-D563-4D49-8D18-4EB4BA6799E8}" type="slidenum">
              <a:rPr lang="en-GB" altLang="en-US" sz="1400"/>
              <a:pPr eaLnBrk="1" hangingPunct="1"/>
              <a:t>5</a:t>
            </a:fld>
            <a:endParaRPr lang="en-GB" altLang="en-US" sz="14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436B61-E89E-0516-48C0-B419F39DF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936" y="507058"/>
            <a:ext cx="9700080" cy="54308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D16792-B9C3-458C-25A8-3B2400435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6</a:t>
            </a:fld>
            <a:endParaRPr lang="en-US"/>
          </a:p>
        </p:txBody>
      </p:sp>
      <p:pic>
        <p:nvPicPr>
          <p:cNvPr id="4" name="Picture 3" descr="A diagram of a graph and a diagram of a graph&#10;&#10;Description automatically generated">
            <a:extLst>
              <a:ext uri="{FF2B5EF4-FFF2-40B4-BE49-F238E27FC236}">
                <a16:creationId xmlns:a16="http://schemas.microsoft.com/office/drawing/2014/main" id="{49A3B96A-86D8-D45E-727D-AC99A9FF6A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9258" y="1524000"/>
            <a:ext cx="7620000" cy="3810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E8F452E-B285-9E6D-2E14-4B3A4C54A965}"/>
              </a:ext>
            </a:extLst>
          </p:cNvPr>
          <p:cNvSpPr txBox="1"/>
          <p:nvPr/>
        </p:nvSpPr>
        <p:spPr>
          <a:xfrm>
            <a:off x="928913" y="653143"/>
            <a:ext cx="95462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Pada </a:t>
            </a:r>
            <a:r>
              <a:rPr lang="en-US" sz="2400" dirty="0" err="1"/>
              <a:t>graf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sisi</a:t>
            </a:r>
            <a:r>
              <a:rPr lang="en-US" sz="2400" dirty="0"/>
              <a:t> </a:t>
            </a:r>
            <a:r>
              <a:rPr lang="en-US" sz="2400" dirty="0" err="1"/>
              <a:t>ganda</a:t>
            </a:r>
            <a:r>
              <a:rPr lang="en-US" sz="2400" dirty="0"/>
              <a:t>, </a:t>
            </a:r>
            <a:r>
              <a:rPr lang="en-US" sz="2400" dirty="0" err="1"/>
              <a:t>elemen</a:t>
            </a:r>
            <a:r>
              <a:rPr lang="en-US" sz="2400" dirty="0"/>
              <a:t> </a:t>
            </a:r>
            <a:r>
              <a:rPr lang="en-US" sz="2400" dirty="0" err="1"/>
              <a:t>matriks</a:t>
            </a:r>
            <a:r>
              <a:rPr lang="en-US" sz="2400" dirty="0"/>
              <a:t> </a:t>
            </a:r>
            <a:r>
              <a:rPr lang="en-US" sz="2400" dirty="0" err="1"/>
              <a:t>diisi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jumlah</a:t>
            </a:r>
            <a:r>
              <a:rPr lang="en-US" sz="2400" dirty="0"/>
              <a:t> </a:t>
            </a:r>
            <a:r>
              <a:rPr lang="en-US" sz="2400" dirty="0" err="1"/>
              <a:t>sisi</a:t>
            </a:r>
            <a:r>
              <a:rPr lang="en-US" sz="2400" dirty="0"/>
              <a:t> </a:t>
            </a:r>
            <a:r>
              <a:rPr lang="en-US" sz="2400" dirty="0" err="1"/>
              <a:t>ganda</a:t>
            </a:r>
            <a:r>
              <a:rPr lang="en-US" sz="2400" dirty="0"/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0DFC7F-9E09-679F-39C5-C700647C7646}"/>
              </a:ext>
            </a:extLst>
          </p:cNvPr>
          <p:cNvSpPr txBox="1"/>
          <p:nvPr/>
        </p:nvSpPr>
        <p:spPr>
          <a:xfrm>
            <a:off x="2039257" y="5522009"/>
            <a:ext cx="91802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https://graphicmaths.com/computer-science/graph-theory/adjacency-matrices/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34712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421209-127A-56EF-9355-83ED98134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0F979D-B964-22D4-5570-F50876F86D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9232" y="232454"/>
            <a:ext cx="4844596" cy="56934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8A14CF9-3AC2-FFCE-6107-DF6393AEE78C}"/>
              </a:ext>
            </a:extLst>
          </p:cNvPr>
          <p:cNvSpPr txBox="1"/>
          <p:nvPr/>
        </p:nvSpPr>
        <p:spPr>
          <a:xfrm>
            <a:off x="5646058" y="493485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574068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373303-E403-AFDB-5DF9-CDEAD8BAC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8</a:t>
            </a:fld>
            <a:endParaRPr lang="en-US"/>
          </a:p>
        </p:txBody>
      </p:sp>
      <p:pic>
        <p:nvPicPr>
          <p:cNvPr id="4" name="Picture 3" descr="A diagram of a diagram&#10;&#10;Description automatically generated">
            <a:extLst>
              <a:ext uri="{FF2B5EF4-FFF2-40B4-BE49-F238E27FC236}">
                <a16:creationId xmlns:a16="http://schemas.microsoft.com/office/drawing/2014/main" id="{20A13129-A157-3D7B-EE17-7F7608FF40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3543" y="197756"/>
            <a:ext cx="5773202" cy="2255157"/>
          </a:xfrm>
          <a:prstGeom prst="rect">
            <a:avLst/>
          </a:prstGeom>
        </p:spPr>
      </p:pic>
      <p:pic>
        <p:nvPicPr>
          <p:cNvPr id="6" name="Picture 5" descr="A diagram of a diagram of a diagram&#10;&#10;Description automatically generated">
            <a:extLst>
              <a:ext uri="{FF2B5EF4-FFF2-40B4-BE49-F238E27FC236}">
                <a16:creationId xmlns:a16="http://schemas.microsoft.com/office/drawing/2014/main" id="{6198F0A3-48E5-E29D-BED7-F64FF0953C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023" y="2813594"/>
            <a:ext cx="5439721" cy="212489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43FB9BC-9B52-7EFD-015D-30F6627DFA2F}"/>
              </a:ext>
            </a:extLst>
          </p:cNvPr>
          <p:cNvSpPr txBox="1"/>
          <p:nvPr/>
        </p:nvSpPr>
        <p:spPr>
          <a:xfrm>
            <a:off x="1523999" y="5547863"/>
            <a:ext cx="95939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http://www.btechsmartclass.com/data_structures/graph-representations.html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51014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Slide Number Placeholder 5">
            <a:extLst>
              <a:ext uri="{FF2B5EF4-FFF2-40B4-BE49-F238E27FC236}">
                <a16:creationId xmlns:a16="http://schemas.microsoft.com/office/drawing/2014/main" id="{E1347AF6-76DB-454B-AAAA-CA2145458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D562159D-8E71-47F8-A8C6-90796CD97EB2}" type="slidenum">
              <a:rPr lang="en-GB" altLang="en-US" sz="1400"/>
              <a:pPr eaLnBrk="1" hangingPunct="1"/>
              <a:t>9</a:t>
            </a:fld>
            <a:endParaRPr lang="en-GB" altLang="en-US" sz="1400"/>
          </a:p>
        </p:txBody>
      </p:sp>
      <p:graphicFrame>
        <p:nvGraphicFramePr>
          <p:cNvPr id="41986" name="Object 4">
            <a:extLst>
              <a:ext uri="{FF2B5EF4-FFF2-40B4-BE49-F238E27FC236}">
                <a16:creationId xmlns:a16="http://schemas.microsoft.com/office/drawing/2014/main" id="{B0232BF8-02B5-402E-A01B-8F01A012F5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8456954"/>
              </p:ext>
            </p:extLst>
          </p:nvPr>
        </p:nvGraphicFramePr>
        <p:xfrm>
          <a:off x="1156787" y="1210492"/>
          <a:ext cx="9057655" cy="53441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806440" imgH="3426480" progId="Word.Document.8">
                  <p:embed/>
                </p:oleObj>
              </mc:Choice>
              <mc:Fallback>
                <p:oleObj name="Document" r:id="rId2" imgW="5806440" imgH="3426480" progId="Word.Document.8">
                  <p:embed/>
                  <p:pic>
                    <p:nvPicPr>
                      <p:cNvPr id="41986" name="Object 4">
                        <a:extLst>
                          <a:ext uri="{FF2B5EF4-FFF2-40B4-BE49-F238E27FC236}">
                            <a16:creationId xmlns:a16="http://schemas.microsoft.com/office/drawing/2014/main" id="{B0232BF8-02B5-402E-A01B-8F01A012F5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6787" y="1210492"/>
                        <a:ext cx="9057655" cy="53441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8A7AA5D-9356-BB58-4C62-145013648876}"/>
              </a:ext>
            </a:extLst>
          </p:cNvPr>
          <p:cNvSpPr txBox="1"/>
          <p:nvPr/>
        </p:nvSpPr>
        <p:spPr>
          <a:xfrm>
            <a:off x="1156787" y="303349"/>
            <a:ext cx="78018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Pada </a:t>
            </a:r>
            <a:r>
              <a:rPr lang="en-US" sz="2400" dirty="0" err="1"/>
              <a:t>graf</a:t>
            </a:r>
            <a:r>
              <a:rPr lang="en-US" sz="2400" dirty="0"/>
              <a:t> </a:t>
            </a:r>
            <a:r>
              <a:rPr lang="en-US" sz="2400" dirty="0" err="1"/>
              <a:t>berbobot</a:t>
            </a:r>
            <a:r>
              <a:rPr lang="en-US" sz="2400" dirty="0"/>
              <a:t>, </a:t>
            </a:r>
            <a:r>
              <a:rPr lang="en-US" sz="2400" dirty="0" err="1"/>
              <a:t>nilai</a:t>
            </a:r>
            <a:r>
              <a:rPr lang="en-US" sz="2400" dirty="0"/>
              <a:t> </a:t>
            </a:r>
            <a:r>
              <a:rPr lang="en-US" sz="2400" dirty="0" err="1"/>
              <a:t>setiap</a:t>
            </a:r>
            <a:r>
              <a:rPr lang="en-US" sz="2400" dirty="0"/>
              <a:t> A(</a:t>
            </a:r>
            <a:r>
              <a:rPr lang="en-US" sz="2400" dirty="0" err="1"/>
              <a:t>i,j</a:t>
            </a:r>
            <a:r>
              <a:rPr lang="en-US" sz="2400" dirty="0"/>
              <a:t>)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bobot</a:t>
            </a:r>
            <a:r>
              <a:rPr lang="en-US" sz="2400" dirty="0"/>
              <a:t> </a:t>
            </a:r>
            <a:r>
              <a:rPr lang="en-US" sz="2400" dirty="0" err="1"/>
              <a:t>sisi</a:t>
            </a:r>
            <a:r>
              <a:rPr lang="en-US" sz="2400" dirty="0"/>
              <a:t> (</a:t>
            </a:r>
            <a:r>
              <a:rPr lang="en-US" sz="2400" dirty="0" err="1"/>
              <a:t>i</a:t>
            </a:r>
            <a:r>
              <a:rPr lang="en-US" sz="2400" dirty="0"/>
              <a:t>, j)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Bobot</a:t>
            </a:r>
            <a:r>
              <a:rPr lang="en-US" sz="2400" dirty="0"/>
              <a:t> </a:t>
            </a:r>
            <a:r>
              <a:rPr lang="en-US" sz="2400" dirty="0" err="1"/>
              <a:t>sisi</a:t>
            </a:r>
            <a:r>
              <a:rPr lang="en-US" sz="2400" dirty="0"/>
              <a:t> (</a:t>
            </a:r>
            <a:r>
              <a:rPr lang="en-US" sz="2400" dirty="0" err="1"/>
              <a:t>i,j</a:t>
            </a:r>
            <a:r>
              <a:rPr lang="en-US" sz="2400" dirty="0"/>
              <a:t>)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didefinisikan</a:t>
            </a:r>
            <a:r>
              <a:rPr lang="en-US" sz="2400" dirty="0"/>
              <a:t>, </a:t>
            </a:r>
            <a:r>
              <a:rPr lang="en-US" sz="2400" dirty="0" err="1"/>
              <a:t>diisi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0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>
                <a:sym typeface="Symbol" panose="05050102010706020507" pitchFamily="18" charset="2"/>
              </a:rPr>
              <a:t>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1E53DA-9A9B-0ACA-D992-9928F41A7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10</a:t>
            </a:fld>
            <a:endParaRPr lang="en-US"/>
          </a:p>
        </p:txBody>
      </p:sp>
      <p:pic>
        <p:nvPicPr>
          <p:cNvPr id="4" name="Picture 3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1CE9BD7C-C7B1-55B4-C802-EBBFE0FFC7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657" y="1248228"/>
            <a:ext cx="7620000" cy="381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7C1896-EBF7-8F61-BD5E-F182122C1CFC}"/>
              </a:ext>
            </a:extLst>
          </p:cNvPr>
          <p:cNvSpPr txBox="1"/>
          <p:nvPr/>
        </p:nvSpPr>
        <p:spPr>
          <a:xfrm>
            <a:off x="2093685" y="5584210"/>
            <a:ext cx="91403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https://graphicmaths.com/computer-science/graph-theory/adjacency-matrices/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49668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DBF3F7-0ABF-6349-8368-D101E167F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11</a:t>
            </a:fld>
            <a:endParaRPr lang="en-US"/>
          </a:p>
        </p:txBody>
      </p:sp>
      <p:pic>
        <p:nvPicPr>
          <p:cNvPr id="4" name="Picture 3" descr="A diagram of a graph&#10;&#10;Description automatically generated">
            <a:extLst>
              <a:ext uri="{FF2B5EF4-FFF2-40B4-BE49-F238E27FC236}">
                <a16:creationId xmlns:a16="http://schemas.microsoft.com/office/drawing/2014/main" id="{B1332005-1B30-B95F-60BF-9A375498B1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082" y="223044"/>
            <a:ext cx="6169204" cy="58843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9DF8510-4741-4B12-BEDE-C53225FC8FDE}"/>
              </a:ext>
            </a:extLst>
          </p:cNvPr>
          <p:cNvSpPr txBox="1"/>
          <p:nvPr/>
        </p:nvSpPr>
        <p:spPr>
          <a:xfrm>
            <a:off x="1730827" y="6265624"/>
            <a:ext cx="90242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https://studyglance.in/ds/display.php?tno=33&amp;topic=Graph-Representation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855027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B6B8E9-35E8-91FD-14FB-3EED59D46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6DF09C-709F-9B20-02E1-17E168AE8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368" y="921396"/>
            <a:ext cx="8953264" cy="4773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0270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3" name="Slide Number Placeholder 5">
            <a:extLst>
              <a:ext uri="{FF2B5EF4-FFF2-40B4-BE49-F238E27FC236}">
                <a16:creationId xmlns:a16="http://schemas.microsoft.com/office/drawing/2014/main" id="{9087A6DF-4E71-424A-ABFD-B921B7495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0DA32F1-3F50-4772-95F8-7BD2F88107CA}" type="slidenum">
              <a:rPr lang="en-GB" altLang="en-US" sz="1400"/>
              <a:pPr eaLnBrk="1" hangingPunct="1"/>
              <a:t>13</a:t>
            </a:fld>
            <a:endParaRPr lang="en-GB" altLang="en-US" sz="1400"/>
          </a:p>
        </p:txBody>
      </p:sp>
      <p:graphicFrame>
        <p:nvGraphicFramePr>
          <p:cNvPr id="43010" name="Object 4">
            <a:extLst>
              <a:ext uri="{FF2B5EF4-FFF2-40B4-BE49-F238E27FC236}">
                <a16:creationId xmlns:a16="http://schemas.microsoft.com/office/drawing/2014/main" id="{279F0486-875E-4B41-9700-953AC4F2F7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5212483"/>
              </p:ext>
            </p:extLst>
          </p:nvPr>
        </p:nvGraphicFramePr>
        <p:xfrm>
          <a:off x="863600" y="304800"/>
          <a:ext cx="9075356" cy="2621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86400" imgH="1583640" progId="Word.Document.8">
                  <p:embed/>
                </p:oleObj>
              </mc:Choice>
              <mc:Fallback>
                <p:oleObj name="Document" r:id="rId2" imgW="5486400" imgH="1583640" progId="Word.Document.8">
                  <p:embed/>
                  <p:pic>
                    <p:nvPicPr>
                      <p:cNvPr id="43010" name="Object 4">
                        <a:extLst>
                          <a:ext uri="{FF2B5EF4-FFF2-40B4-BE49-F238E27FC236}">
                            <a16:creationId xmlns:a16="http://schemas.microsoft.com/office/drawing/2014/main" id="{279F0486-875E-4B41-9700-953AC4F2F7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3600" y="304800"/>
                        <a:ext cx="9075356" cy="26212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FBF3C7B1-FDBC-4524-A3E2-BFB9F572D3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9172" y="3216276"/>
            <a:ext cx="2679428" cy="282892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C6E8B7B-7E7E-4556-AD45-2262B10167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4889" y="3503612"/>
            <a:ext cx="4433272" cy="254158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D9009F-652B-E126-7BF9-0ECBA9BEE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14</a:t>
            </a:fld>
            <a:endParaRPr lang="en-US"/>
          </a:p>
        </p:txBody>
      </p:sp>
      <p:pic>
        <p:nvPicPr>
          <p:cNvPr id="4" name="Picture 3" descr="A diagram of a complex diagram&#10;&#10;Description automatically generated with medium confidence">
            <a:extLst>
              <a:ext uri="{FF2B5EF4-FFF2-40B4-BE49-F238E27FC236}">
                <a16:creationId xmlns:a16="http://schemas.microsoft.com/office/drawing/2014/main" id="{2A62C090-9283-A0B6-E2C8-CC11A5FA6A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242" y="1825449"/>
            <a:ext cx="8553515" cy="3677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2513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113B2-6979-301B-8137-2DBBF2C25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67657"/>
            <a:ext cx="10515600" cy="5509306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graf</a:t>
            </a:r>
            <a:r>
              <a:rPr lang="en-US" dirty="0"/>
              <a:t> </a:t>
            </a:r>
            <a:r>
              <a:rPr lang="en-US" dirty="0" err="1"/>
              <a:t>berarah</a:t>
            </a:r>
            <a:r>
              <a:rPr lang="en-US" dirty="0"/>
              <a:t>, </a:t>
            </a:r>
            <a:r>
              <a:rPr lang="en-US" dirty="0" err="1"/>
              <a:t>matriks</a:t>
            </a:r>
            <a:r>
              <a:rPr lang="en-US" dirty="0"/>
              <a:t> </a:t>
            </a:r>
            <a:r>
              <a:rPr lang="en-US" dirty="0" err="1"/>
              <a:t>bersisian</a:t>
            </a:r>
            <a:r>
              <a:rPr lang="en-US" dirty="0"/>
              <a:t> </a:t>
            </a:r>
            <a:r>
              <a:rPr lang="en-US" dirty="0" err="1"/>
              <a:t>diisi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0, 1, dan -1</a:t>
            </a:r>
          </a:p>
          <a:p>
            <a:r>
              <a:rPr lang="en-US" sz="2400" dirty="0"/>
              <a:t>0 </a:t>
            </a:r>
            <a:r>
              <a:rPr lang="en-US" sz="2400" dirty="0" err="1"/>
              <a:t>jika</a:t>
            </a:r>
            <a:r>
              <a:rPr lang="en-US" sz="2400" dirty="0"/>
              <a:t> </a:t>
            </a:r>
            <a:r>
              <a:rPr lang="en-US" sz="2400" dirty="0" err="1"/>
              <a:t>simpul</a:t>
            </a:r>
            <a:r>
              <a:rPr lang="en-US" sz="2400" dirty="0"/>
              <a:t> v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bersisian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sisi</a:t>
            </a:r>
            <a:r>
              <a:rPr lang="en-US" sz="2400" dirty="0"/>
              <a:t> e</a:t>
            </a:r>
          </a:p>
          <a:p>
            <a:r>
              <a:rPr lang="en-US" sz="2400" dirty="0"/>
              <a:t>1 </a:t>
            </a:r>
            <a:r>
              <a:rPr lang="en-US" sz="2400" dirty="0" err="1"/>
              <a:t>jika</a:t>
            </a:r>
            <a:r>
              <a:rPr lang="en-US" sz="2400" dirty="0"/>
              <a:t> </a:t>
            </a:r>
            <a:r>
              <a:rPr lang="en-US" sz="2400" dirty="0" err="1"/>
              <a:t>simpul</a:t>
            </a:r>
            <a:r>
              <a:rPr lang="en-US" sz="2400" dirty="0"/>
              <a:t> v </a:t>
            </a:r>
            <a:r>
              <a:rPr lang="en-US" sz="2400" dirty="0" err="1"/>
              <a:t>bersisian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sisi</a:t>
            </a:r>
            <a:r>
              <a:rPr lang="en-US" sz="2400" dirty="0"/>
              <a:t> e </a:t>
            </a:r>
            <a:r>
              <a:rPr lang="en-US" sz="2400" dirty="0" err="1"/>
              <a:t>bila</a:t>
            </a:r>
            <a:r>
              <a:rPr lang="en-US" sz="2400" dirty="0"/>
              <a:t> </a:t>
            </a:r>
            <a:r>
              <a:rPr lang="en-US" sz="2400" dirty="0" err="1"/>
              <a:t>arah</a:t>
            </a:r>
            <a:r>
              <a:rPr lang="en-US" sz="2400" dirty="0"/>
              <a:t> </a:t>
            </a:r>
            <a:r>
              <a:rPr lang="en-US" sz="2400" dirty="0" err="1"/>
              <a:t>sisi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simpul</a:t>
            </a:r>
            <a:r>
              <a:rPr lang="en-US" sz="2400" dirty="0"/>
              <a:t> v </a:t>
            </a:r>
          </a:p>
          <a:p>
            <a:r>
              <a:rPr lang="en-US" sz="2400" dirty="0"/>
              <a:t>-1 </a:t>
            </a:r>
            <a:r>
              <a:rPr lang="en-US" sz="2400" dirty="0" err="1"/>
              <a:t>jika</a:t>
            </a:r>
            <a:r>
              <a:rPr lang="en-US" sz="2400" dirty="0"/>
              <a:t> </a:t>
            </a:r>
            <a:r>
              <a:rPr lang="en-US" sz="2400" dirty="0" err="1"/>
              <a:t>simpul</a:t>
            </a:r>
            <a:r>
              <a:rPr lang="en-US" sz="2400" dirty="0"/>
              <a:t> v </a:t>
            </a:r>
            <a:r>
              <a:rPr lang="en-US" sz="2400" dirty="0" err="1"/>
              <a:t>bersisian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sisi</a:t>
            </a:r>
            <a:r>
              <a:rPr lang="en-US" sz="2400" dirty="0"/>
              <a:t> e </a:t>
            </a:r>
            <a:r>
              <a:rPr lang="en-US" sz="2400" dirty="0" err="1"/>
              <a:t>bila</a:t>
            </a:r>
            <a:r>
              <a:rPr lang="en-US" sz="2400" dirty="0"/>
              <a:t> </a:t>
            </a:r>
            <a:r>
              <a:rPr lang="en-US" sz="2400" dirty="0" err="1"/>
              <a:t>arah</a:t>
            </a:r>
            <a:r>
              <a:rPr lang="en-US" sz="2400" dirty="0"/>
              <a:t> </a:t>
            </a:r>
            <a:r>
              <a:rPr lang="en-US" sz="2400" dirty="0" err="1"/>
              <a:t>sisi</a:t>
            </a:r>
            <a:r>
              <a:rPr lang="en-US" sz="2400" dirty="0"/>
              <a:t> </a:t>
            </a:r>
            <a:r>
              <a:rPr lang="en-US" sz="2400" dirty="0" err="1"/>
              <a:t>menuju</a:t>
            </a:r>
            <a:r>
              <a:rPr lang="en-US" sz="2400" dirty="0"/>
              <a:t> </a:t>
            </a:r>
            <a:r>
              <a:rPr lang="en-US" sz="2400" dirty="0" err="1"/>
              <a:t>simpul</a:t>
            </a:r>
            <a:r>
              <a:rPr lang="en-US" sz="2400" dirty="0"/>
              <a:t> v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5506E4-04D2-E650-E600-4C14C4977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15</a:t>
            </a:fld>
            <a:endParaRPr lang="en-US"/>
          </a:p>
        </p:txBody>
      </p:sp>
      <p:pic>
        <p:nvPicPr>
          <p:cNvPr id="6" name="Picture 5" descr="A diagram of a number and a number&#10;&#10;Description automatically generated with medium confidence">
            <a:extLst>
              <a:ext uri="{FF2B5EF4-FFF2-40B4-BE49-F238E27FC236}">
                <a16:creationId xmlns:a16="http://schemas.microsoft.com/office/drawing/2014/main" id="{CAB1AAED-B824-4E21-5049-5903017566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5791" y="2929708"/>
            <a:ext cx="8780418" cy="2926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255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6" name="Slide Number Placeholder 5">
            <a:extLst>
              <a:ext uri="{FF2B5EF4-FFF2-40B4-BE49-F238E27FC236}">
                <a16:creationId xmlns:a16="http://schemas.microsoft.com/office/drawing/2014/main" id="{9160A4AB-D54A-4C7E-BFC4-866D46FE5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8008E5DF-7AC8-466F-9CA8-34D33B7B6220}" type="slidenum">
              <a:rPr lang="en-GB" altLang="en-US" sz="1400"/>
              <a:pPr eaLnBrk="1" hangingPunct="1"/>
              <a:t>16</a:t>
            </a:fld>
            <a:endParaRPr lang="en-GB" altLang="en-US" sz="1400"/>
          </a:p>
        </p:txBody>
      </p:sp>
      <p:graphicFrame>
        <p:nvGraphicFramePr>
          <p:cNvPr id="44034" name="Object 4">
            <a:extLst>
              <a:ext uri="{FF2B5EF4-FFF2-40B4-BE49-F238E27FC236}">
                <a16:creationId xmlns:a16="http://schemas.microsoft.com/office/drawing/2014/main" id="{F5241CD9-D90F-4573-9C7B-0A2D56D85C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848162"/>
              </p:ext>
            </p:extLst>
          </p:nvPr>
        </p:nvGraphicFramePr>
        <p:xfrm>
          <a:off x="934719" y="721360"/>
          <a:ext cx="9290337" cy="513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989320" imgH="3307680" progId="Word.Document.8">
                  <p:embed/>
                </p:oleObj>
              </mc:Choice>
              <mc:Fallback>
                <p:oleObj name="Document" r:id="rId2" imgW="5989320" imgH="3307680" progId="Word.Document.8">
                  <p:embed/>
                  <p:pic>
                    <p:nvPicPr>
                      <p:cNvPr id="44034" name="Object 4">
                        <a:extLst>
                          <a:ext uri="{FF2B5EF4-FFF2-40B4-BE49-F238E27FC236}">
                            <a16:creationId xmlns:a16="http://schemas.microsoft.com/office/drawing/2014/main" id="{F5241CD9-D90F-4573-9C7B-0A2D56D85C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4719" y="721360"/>
                        <a:ext cx="9290337" cy="5130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FF2240-6249-1E4B-EC1B-5B39D8DC1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17</a:t>
            </a:fld>
            <a:endParaRPr lang="en-US"/>
          </a:p>
        </p:txBody>
      </p:sp>
      <p:pic>
        <p:nvPicPr>
          <p:cNvPr id="4" name="Picture 3" descr="A diagram of a number&#10;&#10;Description automatically generated">
            <a:extLst>
              <a:ext uri="{FF2B5EF4-FFF2-40B4-BE49-F238E27FC236}">
                <a16:creationId xmlns:a16="http://schemas.microsoft.com/office/drawing/2014/main" id="{B3C7A9E1-98EC-F921-2514-A49475A9F0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5493" y="1271187"/>
            <a:ext cx="9751091" cy="4273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7102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3" name="Slide Number Placeholder 5">
            <a:extLst>
              <a:ext uri="{FF2B5EF4-FFF2-40B4-BE49-F238E27FC236}">
                <a16:creationId xmlns:a16="http://schemas.microsoft.com/office/drawing/2014/main" id="{7D2278E8-0672-4D12-84F3-B638C3FA6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AB6BBEA0-849E-44DD-B9EF-96BE734216E9}" type="slidenum">
              <a:rPr lang="en-GB" altLang="en-US" sz="1400"/>
              <a:pPr eaLnBrk="1" hangingPunct="1"/>
              <a:t>18</a:t>
            </a:fld>
            <a:endParaRPr lang="en-GB" altLang="en-US" sz="1400"/>
          </a:p>
        </p:txBody>
      </p:sp>
      <p:sp>
        <p:nvSpPr>
          <p:cNvPr id="92164" name="Rectangle 2">
            <a:extLst>
              <a:ext uri="{FF2B5EF4-FFF2-40B4-BE49-F238E27FC236}">
                <a16:creationId xmlns:a16="http://schemas.microsoft.com/office/drawing/2014/main" id="{B930D7F8-9488-49F1-BF38-7EC8DD213E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>
                <a:latin typeface="+mn-lt"/>
              </a:rPr>
              <a:t>Graf </a:t>
            </a:r>
            <a:r>
              <a:rPr lang="en-US" altLang="en-US" b="1" dirty="0" err="1">
                <a:latin typeface="+mn-lt"/>
              </a:rPr>
              <a:t>Isomorfik</a:t>
            </a:r>
            <a:endParaRPr lang="en-US" altLang="en-US" b="1" dirty="0">
              <a:latin typeface="+mn-lt"/>
            </a:endParaRPr>
          </a:p>
        </p:txBody>
      </p:sp>
      <p:sp>
        <p:nvSpPr>
          <p:cNvPr id="92165" name="Rectangle 3">
            <a:extLst>
              <a:ext uri="{FF2B5EF4-FFF2-40B4-BE49-F238E27FC236}">
                <a16:creationId xmlns:a16="http://schemas.microsoft.com/office/drawing/2014/main" id="{B14B16EE-346C-4509-9206-0EF0F7B1C2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rgbClr val="050507"/>
                </a:solidFill>
              </a:rPr>
              <a:t>Diketahui matriks ketetanggaan (</a:t>
            </a:r>
            <a:r>
              <a:rPr lang="en-US" altLang="en-US" i="1">
                <a:solidFill>
                  <a:srgbClr val="050507"/>
                </a:solidFill>
              </a:rPr>
              <a:t>adjacency matrices</a:t>
            </a:r>
            <a:r>
              <a:rPr lang="en-US" altLang="en-US">
                <a:solidFill>
                  <a:srgbClr val="050507"/>
                </a:solidFill>
              </a:rPr>
              <a:t>) dari sebuah graf tidak berarah. Gambarkan dua buah graf yang yang bersesuaian dengan matriks tersebut</a:t>
            </a:r>
            <a:r>
              <a:rPr lang="en-US" altLang="en-US" sz="2400"/>
              <a:t>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E62C503-AF84-1503-64D6-EE8B84E9E034}"/>
                  </a:ext>
                </a:extLst>
              </p:cNvPr>
              <p:cNvSpPr txBox="1"/>
              <p:nvPr/>
            </p:nvSpPr>
            <p:spPr>
              <a:xfrm>
                <a:off x="3859293" y="3429000"/>
                <a:ext cx="2721616" cy="17905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E62C503-AF84-1503-64D6-EE8B84E9E0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9293" y="3429000"/>
                <a:ext cx="2721616" cy="179055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Slide Number Placeholder 5">
            <a:extLst>
              <a:ext uri="{FF2B5EF4-FFF2-40B4-BE49-F238E27FC236}">
                <a16:creationId xmlns:a16="http://schemas.microsoft.com/office/drawing/2014/main" id="{09641529-A0A9-4BF7-B132-402DAEAE4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08F62BB-4928-4839-B0A1-0C95C77062C4}" type="slidenum">
              <a:rPr lang="en-GB" altLang="en-US" sz="1400"/>
              <a:pPr eaLnBrk="1" hangingPunct="1"/>
              <a:t>19</a:t>
            </a:fld>
            <a:endParaRPr lang="en-GB" altLang="en-US" sz="1400"/>
          </a:p>
        </p:txBody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870AE733-3EC1-4ADF-9256-CA096DDCE9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97280" y="981076"/>
            <a:ext cx="10393680" cy="5114925"/>
          </a:xfrm>
        </p:spPr>
        <p:txBody>
          <a:bodyPr/>
          <a:lstStyle/>
          <a:p>
            <a:pPr eaLnBrk="1" hangingPunct="1"/>
            <a:r>
              <a:rPr lang="en-US" altLang="en-US" dirty="0" err="1"/>
              <a:t>Jawaban</a:t>
            </a:r>
            <a:r>
              <a:rPr lang="en-US" altLang="en-US" dirty="0"/>
              <a:t>:</a:t>
            </a:r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 err="1"/>
              <a:t>Dua</a:t>
            </a:r>
            <a:r>
              <a:rPr lang="en-US" altLang="en-US" dirty="0"/>
              <a:t> </a:t>
            </a:r>
            <a:r>
              <a:rPr lang="en-US" altLang="en-US" dirty="0" err="1"/>
              <a:t>buah</a:t>
            </a:r>
            <a:r>
              <a:rPr lang="en-US" altLang="en-US" dirty="0"/>
              <a:t> </a:t>
            </a:r>
            <a:r>
              <a:rPr lang="en-US" altLang="en-US" dirty="0" err="1"/>
              <a:t>graf</a:t>
            </a:r>
            <a:r>
              <a:rPr lang="en-US" altLang="en-US" dirty="0"/>
              <a:t> yang </a:t>
            </a:r>
            <a:r>
              <a:rPr lang="en-US" altLang="en-US" dirty="0" err="1"/>
              <a:t>sama</a:t>
            </a:r>
            <a:r>
              <a:rPr lang="en-US" altLang="en-US" dirty="0"/>
              <a:t> (</a:t>
            </a:r>
            <a:r>
              <a:rPr lang="en-US" altLang="en-US" dirty="0" err="1"/>
              <a:t>hanya</a:t>
            </a:r>
            <a:r>
              <a:rPr lang="en-US" altLang="en-US" dirty="0"/>
              <a:t> </a:t>
            </a:r>
            <a:r>
              <a:rPr lang="en-US" altLang="en-US" dirty="0" err="1"/>
              <a:t>penggambaran</a:t>
            </a:r>
            <a:r>
              <a:rPr lang="en-US" altLang="en-US" dirty="0"/>
              <a:t> </a:t>
            </a:r>
            <a:r>
              <a:rPr lang="en-US" altLang="en-US" dirty="0" err="1"/>
              <a:t>secara</a:t>
            </a:r>
            <a:r>
              <a:rPr lang="en-US" altLang="en-US" dirty="0"/>
              <a:t> </a:t>
            </a:r>
            <a:r>
              <a:rPr lang="en-US" altLang="en-US" dirty="0" err="1"/>
              <a:t>geometri</a:t>
            </a:r>
            <a:r>
              <a:rPr lang="en-US" altLang="en-US" dirty="0"/>
              <a:t> </a:t>
            </a:r>
            <a:r>
              <a:rPr lang="en-US" altLang="en-US" dirty="0" err="1"/>
              <a:t>berbeda</a:t>
            </a:r>
            <a:r>
              <a:rPr lang="en-US" altLang="en-US" dirty="0"/>
              <a:t>) </a:t>
            </a:r>
          </a:p>
          <a:p>
            <a:pPr eaLnBrk="1" hangingPunct="1">
              <a:buFontTx/>
              <a:buNone/>
            </a:pPr>
            <a:r>
              <a:rPr lang="en-US" altLang="en-US" dirty="0">
                <a:sym typeface="Wingdings" panose="05000000000000000000" pitchFamily="2" charset="2"/>
              </a:rPr>
              <a:t>	 </a:t>
            </a:r>
            <a:r>
              <a:rPr lang="en-US" altLang="en-US" b="1" dirty="0" err="1">
                <a:sym typeface="Wingdings" panose="05000000000000000000" pitchFamily="2" charset="2"/>
              </a:rPr>
              <a:t>isomorfik</a:t>
            </a:r>
            <a:r>
              <a:rPr lang="en-US" altLang="en-US" dirty="0">
                <a:sym typeface="Wingdings" panose="05000000000000000000" pitchFamily="2" charset="2"/>
              </a:rPr>
              <a:t>!</a:t>
            </a:r>
            <a:endParaRPr lang="en-US" altLang="en-US" dirty="0"/>
          </a:p>
        </p:txBody>
      </p:sp>
      <p:pic>
        <p:nvPicPr>
          <p:cNvPr id="93189" name="Picture 4">
            <a:extLst>
              <a:ext uri="{FF2B5EF4-FFF2-40B4-BE49-F238E27FC236}">
                <a16:creationId xmlns:a16="http://schemas.microsoft.com/office/drawing/2014/main" id="{0AC2C6BB-3B06-4782-B3BD-9C04E7AAD5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2190" y="1169354"/>
            <a:ext cx="8172450" cy="284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Slide Number Placeholder 5">
            <a:extLst>
              <a:ext uri="{FF2B5EF4-FFF2-40B4-BE49-F238E27FC236}">
                <a16:creationId xmlns:a16="http://schemas.microsoft.com/office/drawing/2014/main" id="{76463D30-1554-4863-BEC6-D637A2EE2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1E84A4A-B2FC-4F09-AD29-111A069BF5A0}" type="slidenum">
              <a:rPr lang="en-GB" altLang="en-US" sz="1400"/>
              <a:pPr eaLnBrk="1" hangingPunct="1"/>
              <a:t>20</a:t>
            </a:fld>
            <a:endParaRPr lang="en-GB" altLang="en-US" sz="1400"/>
          </a:p>
        </p:txBody>
      </p:sp>
      <p:sp>
        <p:nvSpPr>
          <p:cNvPr id="45061" name="Rectangle 2">
            <a:extLst>
              <a:ext uri="{FF2B5EF4-FFF2-40B4-BE49-F238E27FC236}">
                <a16:creationId xmlns:a16="http://schemas.microsoft.com/office/drawing/2014/main" id="{40E212DA-EDCC-44DE-8D9E-10D6E66688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81001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cs typeface="Times New Roman" panose="02020603050405020304" pitchFamily="18" charset="0"/>
              </a:rPr>
              <a:t>Graf </a:t>
            </a:r>
            <a:r>
              <a:rPr lang="en-US" altLang="en-US" sz="3600" b="1" dirty="0" err="1">
                <a:cs typeface="Times New Roman" panose="02020603050405020304" pitchFamily="18" charset="0"/>
              </a:rPr>
              <a:t>Isomorfik</a:t>
            </a:r>
            <a:endParaRPr lang="en-GB" altLang="en-US" sz="3600" dirty="0"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01D8D7-F462-44B6-AC5C-EE738DEFCF75}"/>
              </a:ext>
            </a:extLst>
          </p:cNvPr>
          <p:cNvSpPr/>
          <p:nvPr/>
        </p:nvSpPr>
        <p:spPr>
          <a:xfrm>
            <a:off x="680720" y="1379161"/>
            <a:ext cx="11094720" cy="5201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Bef>
                <a:spcPts val="600"/>
              </a:spcBef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2400" dirty="0" err="1">
                <a:ea typeface="Times New Roman" panose="02020603050405020304" pitchFamily="18" charset="0"/>
              </a:rPr>
              <a:t>Dua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buah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graf</a:t>
            </a:r>
            <a:r>
              <a:rPr lang="en-US" sz="2400" dirty="0">
                <a:ea typeface="Times New Roman" panose="02020603050405020304" pitchFamily="18" charset="0"/>
              </a:rPr>
              <a:t> yang </a:t>
            </a:r>
            <a:r>
              <a:rPr lang="en-US" sz="2400" dirty="0" err="1">
                <a:ea typeface="Times New Roman" panose="02020603050405020304" pitchFamily="18" charset="0"/>
              </a:rPr>
              <a:t>sama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tetapi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secara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geometri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berbeda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disebut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graf</a:t>
            </a:r>
            <a:r>
              <a:rPr lang="en-US" sz="2400" dirty="0">
                <a:ea typeface="Times New Roman" panose="02020603050405020304" pitchFamily="18" charset="0"/>
              </a:rPr>
              <a:t> yang </a:t>
            </a:r>
            <a:r>
              <a:rPr lang="en-US" sz="2400" dirty="0" err="1">
                <a:ea typeface="Times New Roman" panose="02020603050405020304" pitchFamily="18" charset="0"/>
              </a:rPr>
              <a:t>saling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ea typeface="Times New Roman" panose="02020603050405020304" pitchFamily="18" charset="0"/>
              </a:rPr>
              <a:t>isomorfik</a:t>
            </a:r>
            <a:r>
              <a:rPr lang="en-US" sz="2400" dirty="0">
                <a:ea typeface="Times New Roman" panose="02020603050405020304" pitchFamily="18" charset="0"/>
              </a:rPr>
              <a:t>. </a:t>
            </a:r>
            <a:endParaRPr lang="en-US" sz="2400" dirty="0">
              <a:effectLst/>
              <a:ea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</a:pPr>
            <a:r>
              <a:rPr lang="en-US" sz="2400" dirty="0">
                <a:ea typeface="Times New Roman" panose="02020603050405020304" pitchFamily="18" charset="0"/>
              </a:rPr>
              <a:t> </a:t>
            </a:r>
            <a:endParaRPr lang="en-US" sz="2400" dirty="0">
              <a:effectLst/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600"/>
              </a:spcBef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2400" dirty="0" err="1">
                <a:ea typeface="Times New Roman" panose="02020603050405020304" pitchFamily="18" charset="0"/>
              </a:rPr>
              <a:t>Dua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buah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graf</a:t>
            </a:r>
            <a:r>
              <a:rPr lang="en-US" sz="2400" dirty="0">
                <a:ea typeface="Times New Roman" panose="02020603050405020304" pitchFamily="18" charset="0"/>
              </a:rPr>
              <a:t>, </a:t>
            </a:r>
            <a:r>
              <a:rPr lang="en-US" sz="2400" i="1" dirty="0">
                <a:ea typeface="Times New Roman" panose="02020603050405020304" pitchFamily="18" charset="0"/>
              </a:rPr>
              <a:t>G</a:t>
            </a:r>
            <a:r>
              <a:rPr lang="en-US" sz="2400" baseline="-25000" dirty="0">
                <a:ea typeface="Times New Roman" panose="02020603050405020304" pitchFamily="18" charset="0"/>
              </a:rPr>
              <a:t>1 </a:t>
            </a:r>
            <a:r>
              <a:rPr lang="en-US" sz="2400" dirty="0">
                <a:ea typeface="Times New Roman" panose="02020603050405020304" pitchFamily="18" charset="0"/>
              </a:rPr>
              <a:t>dan </a:t>
            </a:r>
            <a:r>
              <a:rPr lang="en-US" sz="2400" i="1" dirty="0">
                <a:ea typeface="Times New Roman" panose="02020603050405020304" pitchFamily="18" charset="0"/>
              </a:rPr>
              <a:t>G</a:t>
            </a:r>
            <a:r>
              <a:rPr lang="en-US" sz="2400" baseline="-25000" dirty="0">
                <a:ea typeface="Times New Roman" panose="02020603050405020304" pitchFamily="18" charset="0"/>
              </a:rPr>
              <a:t>2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dikatakan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isomorfik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jika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terdapat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korespondensi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satu-satu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antara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simpul-simpul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keduanya</a:t>
            </a:r>
            <a:r>
              <a:rPr lang="en-US" sz="2400" dirty="0">
                <a:ea typeface="Times New Roman" panose="02020603050405020304" pitchFamily="18" charset="0"/>
              </a:rPr>
              <a:t> dan </a:t>
            </a:r>
            <a:r>
              <a:rPr lang="en-US" sz="2400" dirty="0" err="1">
                <a:ea typeface="Times New Roman" panose="02020603050405020304" pitchFamily="18" charset="0"/>
              </a:rPr>
              <a:t>antara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sisi-sisi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keduaya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sedemikian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sehingga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hubungan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kebersisian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tetap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terjaga</a:t>
            </a:r>
            <a:r>
              <a:rPr lang="en-US" sz="2400" dirty="0">
                <a:ea typeface="Times New Roman" panose="02020603050405020304" pitchFamily="18" charset="0"/>
              </a:rPr>
              <a:t>. </a:t>
            </a:r>
            <a:endParaRPr lang="en-US" sz="2400" dirty="0">
              <a:effectLst/>
              <a:ea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</a:pPr>
            <a:r>
              <a:rPr lang="en-US" sz="2400" dirty="0">
                <a:ea typeface="Times New Roman" panose="02020603050405020304" pitchFamily="18" charset="0"/>
              </a:rPr>
              <a:t> </a:t>
            </a:r>
            <a:endParaRPr lang="en-US" sz="2400" dirty="0">
              <a:effectLst/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600"/>
              </a:spcBef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2400" dirty="0" err="1">
                <a:ea typeface="Times New Roman" panose="02020603050405020304" pitchFamily="18" charset="0"/>
              </a:rPr>
              <a:t>Dengan</a:t>
            </a:r>
            <a:r>
              <a:rPr lang="en-US" sz="2400" dirty="0">
                <a:ea typeface="Times New Roman" panose="02020603050405020304" pitchFamily="18" charset="0"/>
              </a:rPr>
              <a:t> kata lain, </a:t>
            </a:r>
            <a:r>
              <a:rPr lang="en-US" sz="2400" dirty="0" err="1">
                <a:ea typeface="Times New Roman" panose="02020603050405020304" pitchFamily="18" charset="0"/>
              </a:rPr>
              <a:t>misalkan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sisi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i="1" dirty="0">
                <a:ea typeface="Times New Roman" panose="02020603050405020304" pitchFamily="18" charset="0"/>
              </a:rPr>
              <a:t>e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bersisian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dengan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simpul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i="1" dirty="0">
                <a:ea typeface="Times New Roman" panose="02020603050405020304" pitchFamily="18" charset="0"/>
              </a:rPr>
              <a:t>u</a:t>
            </a:r>
            <a:r>
              <a:rPr lang="en-US" sz="2400" dirty="0">
                <a:ea typeface="Times New Roman" panose="02020603050405020304" pitchFamily="18" charset="0"/>
              </a:rPr>
              <a:t> dan </a:t>
            </a:r>
            <a:r>
              <a:rPr lang="en-US" sz="2400" i="1" dirty="0">
                <a:ea typeface="Times New Roman" panose="02020603050405020304" pitchFamily="18" charset="0"/>
              </a:rPr>
              <a:t>v</a:t>
            </a:r>
            <a:r>
              <a:rPr lang="en-US" sz="2400" dirty="0">
                <a:ea typeface="Times New Roman" panose="02020603050405020304" pitchFamily="18" charset="0"/>
              </a:rPr>
              <a:t> di </a:t>
            </a:r>
            <a:r>
              <a:rPr lang="en-US" sz="2400" i="1" dirty="0">
                <a:ea typeface="Times New Roman" panose="02020603050405020304" pitchFamily="18" charset="0"/>
              </a:rPr>
              <a:t>G</a:t>
            </a:r>
            <a:r>
              <a:rPr lang="en-US" sz="2400" baseline="-25000" dirty="0">
                <a:ea typeface="Times New Roman" panose="02020603050405020304" pitchFamily="18" charset="0"/>
              </a:rPr>
              <a:t>1</a:t>
            </a:r>
            <a:r>
              <a:rPr lang="en-US" sz="2400" dirty="0">
                <a:ea typeface="Times New Roman" panose="02020603050405020304" pitchFamily="18" charset="0"/>
              </a:rPr>
              <a:t>, </a:t>
            </a:r>
            <a:r>
              <a:rPr lang="en-US" sz="2400" dirty="0" err="1">
                <a:ea typeface="Times New Roman" panose="02020603050405020304" pitchFamily="18" charset="0"/>
              </a:rPr>
              <a:t>maka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sisi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i="1" dirty="0">
                <a:ea typeface="Times New Roman" panose="02020603050405020304" pitchFamily="18" charset="0"/>
              </a:rPr>
              <a:t>e</a:t>
            </a:r>
            <a:r>
              <a:rPr lang="en-US" sz="2400" dirty="0">
                <a:ea typeface="Times New Roman" panose="02020603050405020304" pitchFamily="18" charset="0"/>
              </a:rPr>
              <a:t>’ yang </a:t>
            </a:r>
            <a:r>
              <a:rPr lang="en-US" sz="2400" dirty="0" err="1">
                <a:ea typeface="Times New Roman" panose="02020603050405020304" pitchFamily="18" charset="0"/>
              </a:rPr>
              <a:t>berkoresponden</a:t>
            </a:r>
            <a:r>
              <a:rPr lang="en-US" sz="2400" dirty="0">
                <a:ea typeface="Times New Roman" panose="02020603050405020304" pitchFamily="18" charset="0"/>
              </a:rPr>
              <a:t> di </a:t>
            </a:r>
            <a:r>
              <a:rPr lang="en-US" sz="2400" i="1" dirty="0">
                <a:ea typeface="Times New Roman" panose="02020603050405020304" pitchFamily="18" charset="0"/>
              </a:rPr>
              <a:t>G</a:t>
            </a:r>
            <a:r>
              <a:rPr lang="en-US" sz="2400" baseline="-25000" dirty="0">
                <a:ea typeface="Times New Roman" panose="02020603050405020304" pitchFamily="18" charset="0"/>
              </a:rPr>
              <a:t>2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harus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bersisian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dengan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simpul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i="1" dirty="0">
                <a:ea typeface="Times New Roman" panose="02020603050405020304" pitchFamily="18" charset="0"/>
              </a:rPr>
              <a:t>u</a:t>
            </a:r>
            <a:r>
              <a:rPr lang="en-US" sz="2400" dirty="0">
                <a:ea typeface="Times New Roman" panose="02020603050405020304" pitchFamily="18" charset="0"/>
              </a:rPr>
              <a:t>’ dan </a:t>
            </a:r>
            <a:r>
              <a:rPr lang="en-US" sz="2400" i="1" dirty="0">
                <a:ea typeface="Times New Roman" panose="02020603050405020304" pitchFamily="18" charset="0"/>
              </a:rPr>
              <a:t>v</a:t>
            </a:r>
            <a:r>
              <a:rPr lang="en-US" sz="2400" dirty="0">
                <a:ea typeface="Times New Roman" panose="02020603050405020304" pitchFamily="18" charset="0"/>
              </a:rPr>
              <a:t>’ yang di </a:t>
            </a:r>
            <a:r>
              <a:rPr lang="en-US" sz="2400" i="1" dirty="0">
                <a:ea typeface="Times New Roman" panose="02020603050405020304" pitchFamily="18" charset="0"/>
              </a:rPr>
              <a:t>G</a:t>
            </a:r>
            <a:r>
              <a:rPr lang="en-US" sz="2400" baseline="-25000" dirty="0">
                <a:ea typeface="Times New Roman" panose="02020603050405020304" pitchFamily="18" charset="0"/>
              </a:rPr>
              <a:t>2</a:t>
            </a:r>
            <a:r>
              <a:rPr lang="en-US" sz="2400" dirty="0">
                <a:ea typeface="Times New Roman" panose="02020603050405020304" pitchFamily="18" charset="0"/>
              </a:rPr>
              <a:t>.</a:t>
            </a:r>
            <a:endParaRPr lang="en-US" sz="2400" dirty="0">
              <a:effectLst/>
              <a:ea typeface="Times New Roman" panose="02020603050405020304" pitchFamily="18" charset="0"/>
            </a:endParaRPr>
          </a:p>
          <a:p>
            <a:pPr algn="just"/>
            <a:r>
              <a:rPr lang="en-US" sz="2400" dirty="0">
                <a:ea typeface="Times New Roman" panose="02020603050405020304" pitchFamily="18" charset="0"/>
              </a:rPr>
              <a:t> </a:t>
            </a:r>
            <a:endParaRPr lang="en-US" sz="2400" dirty="0">
              <a:effectLst/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2400" dirty="0" err="1">
                <a:ea typeface="Times New Roman" panose="02020603050405020304" pitchFamily="18" charset="0"/>
              </a:rPr>
              <a:t>Dua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buah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graf</a:t>
            </a:r>
            <a:r>
              <a:rPr lang="en-US" sz="2400" dirty="0">
                <a:ea typeface="Times New Roman" panose="02020603050405020304" pitchFamily="18" charset="0"/>
              </a:rPr>
              <a:t> yang </a:t>
            </a:r>
            <a:r>
              <a:rPr lang="en-US" sz="2400" dirty="0" err="1">
                <a:ea typeface="Times New Roman" panose="02020603050405020304" pitchFamily="18" charset="0"/>
              </a:rPr>
              <a:t>isomorfik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adalah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graf</a:t>
            </a:r>
            <a:r>
              <a:rPr lang="en-US" sz="2400" dirty="0">
                <a:ea typeface="Times New Roman" panose="02020603050405020304" pitchFamily="18" charset="0"/>
              </a:rPr>
              <a:t> yang </a:t>
            </a:r>
            <a:r>
              <a:rPr lang="en-US" sz="2400" dirty="0" err="1">
                <a:ea typeface="Times New Roman" panose="02020603050405020304" pitchFamily="18" charset="0"/>
              </a:rPr>
              <a:t>sama</a:t>
            </a:r>
            <a:r>
              <a:rPr lang="en-US" sz="2400" dirty="0">
                <a:ea typeface="Times New Roman" panose="02020603050405020304" pitchFamily="18" charset="0"/>
              </a:rPr>
              <a:t>, </a:t>
            </a:r>
            <a:r>
              <a:rPr lang="en-US" sz="2400" dirty="0" err="1">
                <a:ea typeface="Times New Roman" panose="02020603050405020304" pitchFamily="18" charset="0"/>
              </a:rPr>
              <a:t>kecuali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penamaan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simpul</a:t>
            </a:r>
            <a:r>
              <a:rPr lang="en-US" sz="2400" dirty="0">
                <a:ea typeface="Times New Roman" panose="02020603050405020304" pitchFamily="18" charset="0"/>
              </a:rPr>
              <a:t> dan </a:t>
            </a:r>
            <a:r>
              <a:rPr lang="en-US" sz="2400" dirty="0" err="1">
                <a:ea typeface="Times New Roman" panose="02020603050405020304" pitchFamily="18" charset="0"/>
              </a:rPr>
              <a:t>sisinya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saja</a:t>
            </a:r>
            <a:r>
              <a:rPr lang="en-US" sz="2400" dirty="0">
                <a:ea typeface="Times New Roman" panose="02020603050405020304" pitchFamily="18" charset="0"/>
              </a:rPr>
              <a:t> yang </a:t>
            </a:r>
            <a:r>
              <a:rPr lang="en-US" sz="2400" dirty="0" err="1">
                <a:ea typeface="Times New Roman" panose="02020603050405020304" pitchFamily="18" charset="0"/>
              </a:rPr>
              <a:t>berbeda</a:t>
            </a:r>
            <a:r>
              <a:rPr lang="en-US" sz="2400" dirty="0">
                <a:ea typeface="Times New Roman" panose="02020603050405020304" pitchFamily="18" charset="0"/>
              </a:rPr>
              <a:t>.  </a:t>
            </a:r>
            <a:r>
              <a:rPr lang="en-US" sz="2400" dirty="0" err="1">
                <a:ea typeface="Times New Roman" panose="02020603050405020304" pitchFamily="18" charset="0"/>
              </a:rPr>
              <a:t>Ini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benar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karena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sebuah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graf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dapat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digambarkan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dalam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banyak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cara</a:t>
            </a:r>
            <a:r>
              <a:rPr lang="en-US" sz="2400" dirty="0">
                <a:ea typeface="Times New Roman" panose="02020603050405020304" pitchFamily="18" charset="0"/>
              </a:rPr>
              <a:t>.</a:t>
            </a:r>
            <a:endParaRPr lang="en-US" sz="2400" dirty="0">
              <a:effectLst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Slide Number Placeholder 5">
            <a:extLst>
              <a:ext uri="{FF2B5EF4-FFF2-40B4-BE49-F238E27FC236}">
                <a16:creationId xmlns:a16="http://schemas.microsoft.com/office/drawing/2014/main" id="{F98BDAE3-26C9-4EA8-B1CB-0AF620A27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78E1B15F-35F7-4A21-9F73-7507E0A13124}" type="slidenum">
              <a:rPr lang="en-GB" altLang="en-US" sz="1400"/>
              <a:pPr eaLnBrk="1" hangingPunct="1"/>
              <a:t>21</a:t>
            </a:fld>
            <a:endParaRPr lang="en-GB" altLang="en-US" sz="1400"/>
          </a:p>
        </p:txBody>
      </p:sp>
      <p:graphicFrame>
        <p:nvGraphicFramePr>
          <p:cNvPr id="46082" name="Object 4">
            <a:extLst>
              <a:ext uri="{FF2B5EF4-FFF2-40B4-BE49-F238E27FC236}">
                <a16:creationId xmlns:a16="http://schemas.microsoft.com/office/drawing/2014/main" id="{1914BCD6-042C-4FF8-A10D-EA40EF887A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2617163"/>
              </p:ext>
            </p:extLst>
          </p:nvPr>
        </p:nvGraphicFramePr>
        <p:xfrm>
          <a:off x="969963" y="1023938"/>
          <a:ext cx="9936162" cy="444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6898005" imgH="3095031" progId="Word.Document.8">
                  <p:embed/>
                </p:oleObj>
              </mc:Choice>
              <mc:Fallback>
                <p:oleObj name="Document" r:id="rId2" imgW="6898005" imgH="3095031" progId="Word.Document.8">
                  <p:embed/>
                  <p:pic>
                    <p:nvPicPr>
                      <p:cNvPr id="46082" name="Object 4">
                        <a:extLst>
                          <a:ext uri="{FF2B5EF4-FFF2-40B4-BE49-F238E27FC236}">
                            <a16:creationId xmlns:a16="http://schemas.microsoft.com/office/drawing/2014/main" id="{1914BCD6-042C-4FF8-A10D-EA40EF887A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9963" y="1023938"/>
                        <a:ext cx="9936162" cy="4440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11DBCE7C-FBA5-4510-8299-4D2CF6E02B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9532319"/>
              </p:ext>
            </p:extLst>
          </p:nvPr>
        </p:nvGraphicFramePr>
        <p:xfrm>
          <a:off x="3498851" y="-40025"/>
          <a:ext cx="5783577" cy="27063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853080" imgH="1801440" progId="">
                  <p:embed/>
                </p:oleObj>
              </mc:Choice>
              <mc:Fallback>
                <p:oleObj r:id="rId2" imgW="3853080" imgH="1801440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8851" y="-40025"/>
                        <a:ext cx="5783577" cy="27063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DCCE8C58-7549-40E2-8705-D49D5FF817FC}"/>
              </a:ext>
            </a:extLst>
          </p:cNvPr>
          <p:cNvSpPr/>
          <p:nvPr/>
        </p:nvSpPr>
        <p:spPr>
          <a:xfrm>
            <a:off x="3047999" y="2611735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marL="1371600" marR="0" indent="15875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(a)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		                       (b)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Gambar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Graf (a) dan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graf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(b)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isomorfik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[DEO74]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D02ED8-699A-4A9D-8571-13BFC4DCCA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6861" y="3817580"/>
            <a:ext cx="8409032" cy="2532626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8DEDA-04F3-311E-B47B-91D312A6D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4214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Slide Number Placeholder 5">
            <a:extLst>
              <a:ext uri="{FF2B5EF4-FFF2-40B4-BE49-F238E27FC236}">
                <a16:creationId xmlns:a16="http://schemas.microsoft.com/office/drawing/2014/main" id="{E3EF0561-822D-47B8-98F1-96F487A39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F3FDC199-BCD9-4880-8A9F-AE19D64F4DA9}" type="slidenum">
              <a:rPr lang="en-GB" altLang="en-US" sz="1400"/>
              <a:pPr eaLnBrk="1" hangingPunct="1"/>
              <a:t>23</a:t>
            </a:fld>
            <a:endParaRPr lang="en-GB" altLang="en-US" sz="1400"/>
          </a:p>
        </p:txBody>
      </p:sp>
      <p:graphicFrame>
        <p:nvGraphicFramePr>
          <p:cNvPr id="48130" name="Object 4">
            <a:extLst>
              <a:ext uri="{FF2B5EF4-FFF2-40B4-BE49-F238E27FC236}">
                <a16:creationId xmlns:a16="http://schemas.microsoft.com/office/drawing/2014/main" id="{AB5A8512-7299-48E2-917B-466B1773B6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6201872"/>
              </p:ext>
            </p:extLst>
          </p:nvPr>
        </p:nvGraphicFramePr>
        <p:xfrm>
          <a:off x="1725295" y="455613"/>
          <a:ext cx="9186863" cy="553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6203527" imgH="3756939" progId="Word.Document.8">
                  <p:embed/>
                </p:oleObj>
              </mc:Choice>
              <mc:Fallback>
                <p:oleObj name="Document" r:id="rId2" imgW="6203527" imgH="3756939" progId="Word.Document.8">
                  <p:embed/>
                  <p:pic>
                    <p:nvPicPr>
                      <p:cNvPr id="48130" name="Object 4">
                        <a:extLst>
                          <a:ext uri="{FF2B5EF4-FFF2-40B4-BE49-F238E27FC236}">
                            <a16:creationId xmlns:a16="http://schemas.microsoft.com/office/drawing/2014/main" id="{AB5A8512-7299-48E2-917B-466B1773B6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5295" y="455613"/>
                        <a:ext cx="9186863" cy="553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525F1DA-82D7-4775-94FD-D6346623BA0E}"/>
              </a:ext>
            </a:extLst>
          </p:cNvPr>
          <p:cNvSpPr/>
          <p:nvPr/>
        </p:nvSpPr>
        <p:spPr>
          <a:xfrm>
            <a:off x="650240" y="506998"/>
            <a:ext cx="1045464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Dari </a:t>
            </a:r>
            <a:r>
              <a:rPr lang="en-US" sz="2400" dirty="0" err="1"/>
              <a:t>definisi</a:t>
            </a:r>
            <a:r>
              <a:rPr lang="en-US" sz="2400" dirty="0"/>
              <a:t> </a:t>
            </a:r>
            <a:r>
              <a:rPr lang="en-US" sz="2400" dirty="0" err="1"/>
              <a:t>graf</a:t>
            </a:r>
            <a:r>
              <a:rPr lang="en-US" sz="2400" dirty="0"/>
              <a:t> </a:t>
            </a:r>
            <a:r>
              <a:rPr lang="en-US" sz="2400" dirty="0" err="1"/>
              <a:t>isomorfik</a:t>
            </a:r>
            <a:r>
              <a:rPr lang="en-US" sz="2400" dirty="0"/>
              <a:t>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dikemukakan</a:t>
            </a:r>
            <a:r>
              <a:rPr lang="en-US" sz="2400" dirty="0"/>
              <a:t> </a:t>
            </a:r>
            <a:r>
              <a:rPr lang="en-US" sz="2400" dirty="0" err="1"/>
              <a:t>bahwa</a:t>
            </a:r>
            <a:r>
              <a:rPr lang="en-US" sz="2400" dirty="0"/>
              <a:t> </a:t>
            </a:r>
            <a:r>
              <a:rPr lang="en-US" sz="2400" dirty="0" err="1"/>
              <a:t>dua</a:t>
            </a:r>
            <a:r>
              <a:rPr lang="en-US" sz="2400" dirty="0"/>
              <a:t> </a:t>
            </a:r>
            <a:r>
              <a:rPr lang="en-US" sz="2400" dirty="0" err="1"/>
              <a:t>buah</a:t>
            </a:r>
            <a:r>
              <a:rPr lang="en-US" sz="2400" dirty="0"/>
              <a:t> </a:t>
            </a:r>
            <a:r>
              <a:rPr lang="en-US" sz="2400" dirty="0" err="1"/>
              <a:t>graf</a:t>
            </a:r>
            <a:r>
              <a:rPr lang="en-US" sz="2400" dirty="0"/>
              <a:t> </a:t>
            </a:r>
            <a:r>
              <a:rPr lang="en-US" sz="2400" dirty="0" err="1"/>
              <a:t>isomorfik</a:t>
            </a:r>
            <a:r>
              <a:rPr lang="en-US" sz="2400" dirty="0"/>
              <a:t> </a:t>
            </a:r>
            <a:r>
              <a:rPr lang="en-US" sz="2400" dirty="0" err="1"/>
              <a:t>memenuhi</a:t>
            </a:r>
            <a:r>
              <a:rPr lang="en-US" sz="2400" dirty="0"/>
              <a:t> </a:t>
            </a:r>
            <a:r>
              <a:rPr lang="en-US" sz="2400" dirty="0" err="1"/>
              <a:t>ketiga</a:t>
            </a:r>
            <a:r>
              <a:rPr lang="en-US" sz="2400" dirty="0"/>
              <a:t> </a:t>
            </a:r>
            <a:r>
              <a:rPr lang="en-US" sz="2400" dirty="0" err="1"/>
              <a:t>syarat</a:t>
            </a:r>
            <a:r>
              <a:rPr lang="en-US" sz="2400" dirty="0"/>
              <a:t> </a:t>
            </a:r>
            <a:r>
              <a:rPr lang="en-US" sz="2400" dirty="0" err="1"/>
              <a:t>berikut</a:t>
            </a:r>
            <a:r>
              <a:rPr lang="en-US" sz="2400" dirty="0"/>
              <a:t> [DEO74]:</a:t>
            </a:r>
            <a:endParaRPr lang="en-US" sz="2400" dirty="0">
              <a:effectLst/>
            </a:endParaRPr>
          </a:p>
          <a:p>
            <a:pPr>
              <a:tabLst>
                <a:tab pos="900430" algn="l"/>
              </a:tabLst>
            </a:pPr>
            <a:r>
              <a:rPr lang="en-US" sz="2400" dirty="0">
                <a:ea typeface="Times New Roman" panose="02020603050405020304" pitchFamily="18" charset="0"/>
              </a:rPr>
              <a:t>1. </a:t>
            </a:r>
            <a:r>
              <a:rPr lang="en-US" sz="2400" dirty="0" err="1">
                <a:ea typeface="Times New Roman" panose="02020603050405020304" pitchFamily="18" charset="0"/>
              </a:rPr>
              <a:t>Mempunyai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jumlah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simpul</a:t>
            </a:r>
            <a:r>
              <a:rPr lang="en-US" sz="2400" dirty="0">
                <a:ea typeface="Times New Roman" panose="02020603050405020304" pitchFamily="18" charset="0"/>
              </a:rPr>
              <a:t> yang </a:t>
            </a:r>
            <a:r>
              <a:rPr lang="en-US" sz="2400" dirty="0" err="1">
                <a:ea typeface="Times New Roman" panose="02020603050405020304" pitchFamily="18" charset="0"/>
              </a:rPr>
              <a:t>sama</a:t>
            </a:r>
            <a:r>
              <a:rPr lang="en-US" sz="2400" dirty="0">
                <a:ea typeface="Times New Roman" panose="02020603050405020304" pitchFamily="18" charset="0"/>
              </a:rPr>
              <a:t>.</a:t>
            </a:r>
            <a:endParaRPr lang="en-US" sz="2400" dirty="0">
              <a:effectLst/>
              <a:ea typeface="Times New Roman" panose="02020603050405020304" pitchFamily="18" charset="0"/>
            </a:endParaRPr>
          </a:p>
          <a:p>
            <a:pPr>
              <a:tabLst>
                <a:tab pos="685800" algn="l"/>
              </a:tabLst>
            </a:pPr>
            <a:r>
              <a:rPr lang="en-US" sz="2400" dirty="0">
                <a:ea typeface="Times New Roman" panose="02020603050405020304" pitchFamily="18" charset="0"/>
              </a:rPr>
              <a:t>2. </a:t>
            </a:r>
            <a:r>
              <a:rPr lang="en-US" sz="2400" dirty="0" err="1">
                <a:ea typeface="Times New Roman" panose="02020603050405020304" pitchFamily="18" charset="0"/>
              </a:rPr>
              <a:t>Mempunyai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jumlah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sisi</a:t>
            </a:r>
            <a:r>
              <a:rPr lang="en-US" sz="2400" dirty="0">
                <a:ea typeface="Times New Roman" panose="02020603050405020304" pitchFamily="18" charset="0"/>
              </a:rPr>
              <a:t> yang </a:t>
            </a:r>
            <a:r>
              <a:rPr lang="en-US" sz="2400" dirty="0" err="1">
                <a:ea typeface="Times New Roman" panose="02020603050405020304" pitchFamily="18" charset="0"/>
              </a:rPr>
              <a:t>sama</a:t>
            </a:r>
            <a:endParaRPr lang="en-US" sz="2400" dirty="0">
              <a:effectLst/>
              <a:ea typeface="Times New Roman" panose="02020603050405020304" pitchFamily="18" charset="0"/>
            </a:endParaRPr>
          </a:p>
          <a:p>
            <a:pPr>
              <a:tabLst>
                <a:tab pos="685800" algn="l"/>
              </a:tabLst>
            </a:pPr>
            <a:r>
              <a:rPr lang="en-US" sz="2400" dirty="0">
                <a:ea typeface="Times New Roman" panose="02020603050405020304" pitchFamily="18" charset="0"/>
              </a:rPr>
              <a:t>3. </a:t>
            </a:r>
            <a:r>
              <a:rPr lang="en-US" sz="2400" dirty="0" err="1">
                <a:ea typeface="Times New Roman" panose="02020603050405020304" pitchFamily="18" charset="0"/>
              </a:rPr>
              <a:t>Mempunyai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jumlah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simpul</a:t>
            </a:r>
            <a:r>
              <a:rPr lang="en-US" sz="2400" dirty="0">
                <a:ea typeface="Times New Roman" panose="02020603050405020304" pitchFamily="18" charset="0"/>
              </a:rPr>
              <a:t> yang </a:t>
            </a:r>
            <a:r>
              <a:rPr lang="en-US" sz="2400" dirty="0" err="1">
                <a:ea typeface="Times New Roman" panose="02020603050405020304" pitchFamily="18" charset="0"/>
              </a:rPr>
              <a:t>sama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berderajat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tertentu</a:t>
            </a:r>
            <a:endParaRPr lang="en-US" sz="2400" dirty="0">
              <a:effectLst/>
              <a:ea typeface="Times New Roman" panose="02020603050405020304" pitchFamily="18" charset="0"/>
            </a:endParaRPr>
          </a:p>
          <a:p>
            <a:pPr algn="just"/>
            <a:r>
              <a:rPr lang="en-US" sz="2400" dirty="0">
                <a:ea typeface="Times New Roman" panose="02020603050405020304" pitchFamily="18" charset="0"/>
              </a:rPr>
              <a:t> </a:t>
            </a:r>
            <a:endParaRPr lang="en-US" sz="2400" dirty="0">
              <a:effectLst/>
              <a:ea typeface="Times New Roman" panose="02020603050405020304" pitchFamily="18" charset="0"/>
            </a:endParaRPr>
          </a:p>
          <a:p>
            <a:pPr algn="just"/>
            <a:r>
              <a:rPr lang="en-US" sz="2400" dirty="0" err="1">
                <a:ea typeface="Times New Roman" panose="02020603050405020304" pitchFamily="18" charset="0"/>
              </a:rPr>
              <a:t>Namun</a:t>
            </a:r>
            <a:r>
              <a:rPr lang="en-US" sz="2400" dirty="0">
                <a:ea typeface="Times New Roman" panose="02020603050405020304" pitchFamily="18" charset="0"/>
              </a:rPr>
              <a:t>, </a:t>
            </a:r>
            <a:r>
              <a:rPr lang="en-US" sz="2400" dirty="0" err="1">
                <a:ea typeface="Times New Roman" panose="02020603050405020304" pitchFamily="18" charset="0"/>
              </a:rPr>
              <a:t>ketiga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syarat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ini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ternyata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belum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cukup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menjamin</a:t>
            </a:r>
            <a:r>
              <a:rPr lang="en-US" sz="2400" dirty="0">
                <a:ea typeface="Times New Roman" panose="02020603050405020304" pitchFamily="18" charset="0"/>
              </a:rPr>
              <a:t>. </a:t>
            </a:r>
            <a:r>
              <a:rPr lang="en-US" sz="2400" dirty="0" err="1">
                <a:ea typeface="Times New Roman" panose="02020603050405020304" pitchFamily="18" charset="0"/>
              </a:rPr>
              <a:t>Pemeriksaan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secara</a:t>
            </a:r>
            <a:r>
              <a:rPr lang="en-US" sz="2400" dirty="0">
                <a:ea typeface="Times New Roman" panose="02020603050405020304" pitchFamily="18" charset="0"/>
              </a:rPr>
              <a:t> visual </a:t>
            </a:r>
            <a:r>
              <a:rPr lang="en-US" sz="2400" dirty="0" err="1">
                <a:ea typeface="Times New Roman" panose="02020603050405020304" pitchFamily="18" charset="0"/>
              </a:rPr>
              <a:t>perlu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dilakukan</a:t>
            </a:r>
            <a:r>
              <a:rPr lang="en-US" sz="2400" dirty="0">
                <a:ea typeface="Times New Roman" panose="02020603050405020304" pitchFamily="18" charset="0"/>
              </a:rPr>
              <a:t>, </a:t>
            </a:r>
            <a:r>
              <a:rPr lang="en-US" sz="2400" dirty="0" err="1">
                <a:ea typeface="Times New Roman" panose="02020603050405020304" pitchFamily="18" charset="0"/>
              </a:rPr>
              <a:t>seperti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contoh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dua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buah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graf</a:t>
            </a:r>
            <a:r>
              <a:rPr lang="en-US" sz="2400" dirty="0">
                <a:ea typeface="Times New Roman" panose="02020603050405020304" pitchFamily="18" charset="0"/>
              </a:rPr>
              <a:t> di </a:t>
            </a:r>
            <a:r>
              <a:rPr lang="en-US" sz="2400" dirty="0" err="1">
                <a:ea typeface="Times New Roman" panose="02020603050405020304" pitchFamily="18" charset="0"/>
              </a:rPr>
              <a:t>bawah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ini</a:t>
            </a:r>
            <a:r>
              <a:rPr lang="en-US" sz="2400" dirty="0">
                <a:ea typeface="Times New Roman" panose="02020603050405020304" pitchFamily="18" charset="0"/>
              </a:rPr>
              <a:t>: </a:t>
            </a:r>
            <a:endParaRPr lang="en-US" sz="2400" dirty="0">
              <a:effectLst/>
              <a:ea typeface="Times New Roman" panose="02020603050405020304" pitchFamily="18" charset="0"/>
            </a:endParaRP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0FE7F3E6-9425-41E2-91C3-85E2B44C97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7756962"/>
              </p:ext>
            </p:extLst>
          </p:nvPr>
        </p:nvGraphicFramePr>
        <p:xfrm>
          <a:off x="923926" y="3394631"/>
          <a:ext cx="9141998" cy="25870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838040" imgH="1369440" progId="">
                  <p:embed/>
                </p:oleObj>
              </mc:Choice>
              <mc:Fallback>
                <p:oleObj r:id="rId2" imgW="4838040" imgH="1369440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3926" y="3394631"/>
                        <a:ext cx="9141998" cy="25870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AC797D2-3516-47E4-984E-F9A035AB2B18}"/>
              </a:ext>
            </a:extLst>
          </p:cNvPr>
          <p:cNvSpPr txBox="1"/>
          <p:nvPr/>
        </p:nvSpPr>
        <p:spPr>
          <a:xfrm>
            <a:off x="923926" y="5981670"/>
            <a:ext cx="37094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Simpul</a:t>
            </a:r>
            <a:r>
              <a:rPr lang="en-US" dirty="0"/>
              <a:t> x </a:t>
            </a:r>
            <a:r>
              <a:rPr lang="en-US" dirty="0" err="1"/>
              <a:t>bertetangga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u dan v </a:t>
            </a:r>
          </a:p>
          <a:p>
            <a:pPr algn="ctr"/>
            <a:r>
              <a:rPr lang="en-US" dirty="0"/>
              <a:t>yang </a:t>
            </a:r>
            <a:r>
              <a:rPr lang="en-US" dirty="0" err="1"/>
              <a:t>masing-masing</a:t>
            </a:r>
            <a:r>
              <a:rPr lang="en-US" dirty="0"/>
              <a:t> </a:t>
            </a:r>
            <a:r>
              <a:rPr lang="en-US" dirty="0" err="1"/>
              <a:t>berderajat</a:t>
            </a:r>
            <a:r>
              <a:rPr lang="en-US" dirty="0"/>
              <a:t>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2209F9-48AA-44C4-9B8E-3FC099F32592}"/>
              </a:ext>
            </a:extLst>
          </p:cNvPr>
          <p:cNvSpPr txBox="1"/>
          <p:nvPr/>
        </p:nvSpPr>
        <p:spPr>
          <a:xfrm>
            <a:off x="6307694" y="5335339"/>
            <a:ext cx="47159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Simpul</a:t>
            </a:r>
            <a:r>
              <a:rPr lang="en-US" dirty="0"/>
              <a:t> y </a:t>
            </a:r>
            <a:r>
              <a:rPr lang="en-US" dirty="0" err="1"/>
              <a:t>bertetangga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simpul</a:t>
            </a:r>
            <a:r>
              <a:rPr lang="en-US" dirty="0"/>
              <a:t> </a:t>
            </a:r>
          </a:p>
          <a:p>
            <a:pPr algn="ctr"/>
            <a:r>
              <a:rPr lang="en-US" dirty="0" err="1"/>
              <a:t>berderajat</a:t>
            </a:r>
            <a:r>
              <a:rPr lang="en-US" dirty="0"/>
              <a:t>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EC4FCA-400C-48BB-BF01-EB0AC63934FC}"/>
              </a:ext>
            </a:extLst>
          </p:cNvPr>
          <p:cNvSpPr txBox="1"/>
          <p:nvPr/>
        </p:nvSpPr>
        <p:spPr>
          <a:xfrm>
            <a:off x="6096000" y="6304835"/>
            <a:ext cx="382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Kesimpulan: </a:t>
            </a:r>
            <a:r>
              <a:rPr lang="en-US" dirty="0" err="1">
                <a:solidFill>
                  <a:srgbClr val="FF0000"/>
                </a:solidFill>
              </a:rPr>
              <a:t>kedua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graf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tidak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isomorfik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F0E9ED-226F-D68E-6F38-6FC228869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5251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1" name="Slide Number Placeholder 5">
            <a:extLst>
              <a:ext uri="{FF2B5EF4-FFF2-40B4-BE49-F238E27FC236}">
                <a16:creationId xmlns:a16="http://schemas.microsoft.com/office/drawing/2014/main" id="{78124BC6-8E54-476C-A28D-7167997D4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CF416D6-15F7-4361-B632-8B1997C55B16}" type="slidenum">
              <a:rPr lang="en-GB" altLang="en-US" sz="1400"/>
              <a:pPr eaLnBrk="1" hangingPunct="1"/>
              <a:t>25</a:t>
            </a:fld>
            <a:endParaRPr lang="en-GB" altLang="en-US" sz="1400"/>
          </a:p>
        </p:txBody>
      </p:sp>
      <p:sp>
        <p:nvSpPr>
          <p:cNvPr id="94212" name="Rectangle 2">
            <a:extLst>
              <a:ext uri="{FF2B5EF4-FFF2-40B4-BE49-F238E27FC236}">
                <a16:creationId xmlns:a16="http://schemas.microsoft.com/office/drawing/2014/main" id="{405F8D12-8CE3-495C-8BAA-BD9CD0C27B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Latihan</a:t>
            </a:r>
          </a:p>
        </p:txBody>
      </p:sp>
      <p:sp>
        <p:nvSpPr>
          <p:cNvPr id="94213" name="Rectangle 3">
            <a:extLst>
              <a:ext uri="{FF2B5EF4-FFF2-40B4-BE49-F238E27FC236}">
                <a16:creationId xmlns:a16="http://schemas.microsoft.com/office/drawing/2014/main" id="{B53AE4C1-B070-4E92-9D17-E601A1CF25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rgbClr val="050507"/>
                </a:solidFill>
              </a:rPr>
              <a:t>Apakah pasangan graf di bawah ini isomorfik?</a:t>
            </a:r>
          </a:p>
        </p:txBody>
      </p:sp>
      <p:pic>
        <p:nvPicPr>
          <p:cNvPr id="94214" name="Picture 4">
            <a:extLst>
              <a:ext uri="{FF2B5EF4-FFF2-40B4-BE49-F238E27FC236}">
                <a16:creationId xmlns:a16="http://schemas.microsoft.com/office/drawing/2014/main" id="{563335B7-C1C7-4366-B471-BE06F5A23F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249" y="2550478"/>
            <a:ext cx="6603629" cy="3443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Slide Number Placeholder 5">
            <a:extLst>
              <a:ext uri="{FF2B5EF4-FFF2-40B4-BE49-F238E27FC236}">
                <a16:creationId xmlns:a16="http://schemas.microsoft.com/office/drawing/2014/main" id="{4D4243CD-C788-493F-A088-8404D7EF8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6F44F089-B68B-4497-A821-633918F77BFF}" type="slidenum">
              <a:rPr lang="en-GB" altLang="en-US" sz="1400"/>
              <a:pPr eaLnBrk="1" hangingPunct="1"/>
              <a:t>26</a:t>
            </a:fld>
            <a:endParaRPr lang="en-GB" altLang="en-US" sz="1400"/>
          </a:p>
        </p:txBody>
      </p:sp>
      <p:sp>
        <p:nvSpPr>
          <p:cNvPr id="95236" name="Rectangle 2">
            <a:extLst>
              <a:ext uri="{FF2B5EF4-FFF2-40B4-BE49-F238E27FC236}">
                <a16:creationId xmlns:a16="http://schemas.microsoft.com/office/drawing/2014/main" id="{E26A752E-0033-45C5-9952-103CA6FF1A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Latihan</a:t>
            </a:r>
          </a:p>
        </p:txBody>
      </p:sp>
      <p:sp>
        <p:nvSpPr>
          <p:cNvPr id="95237" name="Rectangle 3">
            <a:extLst>
              <a:ext uri="{FF2B5EF4-FFF2-40B4-BE49-F238E27FC236}">
                <a16:creationId xmlns:a16="http://schemas.microsoft.com/office/drawing/2014/main" id="{E2A7130D-EC6D-4179-9C70-7F142DACBE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err="1">
                <a:solidFill>
                  <a:srgbClr val="050507"/>
                </a:solidFill>
              </a:rPr>
              <a:t>Apakah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dirty="0" err="1">
                <a:solidFill>
                  <a:srgbClr val="050507"/>
                </a:solidFill>
              </a:rPr>
              <a:t>pasangan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dirty="0" err="1">
                <a:solidFill>
                  <a:srgbClr val="050507"/>
                </a:solidFill>
              </a:rPr>
              <a:t>graf</a:t>
            </a:r>
            <a:r>
              <a:rPr lang="en-US" altLang="en-US" dirty="0">
                <a:solidFill>
                  <a:srgbClr val="050507"/>
                </a:solidFill>
              </a:rPr>
              <a:t> di </a:t>
            </a:r>
            <a:r>
              <a:rPr lang="en-US" altLang="en-US" dirty="0" err="1">
                <a:solidFill>
                  <a:srgbClr val="050507"/>
                </a:solidFill>
              </a:rPr>
              <a:t>bawah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dirty="0" err="1">
                <a:solidFill>
                  <a:srgbClr val="050507"/>
                </a:solidFill>
              </a:rPr>
              <a:t>ini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dirty="0" err="1">
                <a:solidFill>
                  <a:srgbClr val="050507"/>
                </a:solidFill>
              </a:rPr>
              <a:t>isomorfik</a:t>
            </a:r>
            <a:r>
              <a:rPr lang="en-US" altLang="en-US" dirty="0">
                <a:solidFill>
                  <a:srgbClr val="050507"/>
                </a:solidFill>
              </a:rPr>
              <a:t>?</a:t>
            </a:r>
          </a:p>
          <a:p>
            <a:pPr eaLnBrk="1" hangingPunct="1"/>
            <a:endParaRPr lang="en-US" altLang="en-US" dirty="0"/>
          </a:p>
        </p:txBody>
      </p:sp>
      <p:pic>
        <p:nvPicPr>
          <p:cNvPr id="95238" name="Picture 4">
            <a:extLst>
              <a:ext uri="{FF2B5EF4-FFF2-40B4-BE49-F238E27FC236}">
                <a16:creationId xmlns:a16="http://schemas.microsoft.com/office/drawing/2014/main" id="{B90A7531-9360-402E-B8BC-C8A1A19067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1074" y="2715260"/>
            <a:ext cx="7182196" cy="2740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1CAAD-5565-3A5D-98DD-190672A03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Latihan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A7B56-1AA7-998A-3549-7D8CDF25C3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err="1">
                <a:solidFill>
                  <a:srgbClr val="050507"/>
                </a:solidFill>
              </a:rPr>
              <a:t>Apakah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dirty="0" err="1">
                <a:solidFill>
                  <a:srgbClr val="050507"/>
                </a:solidFill>
              </a:rPr>
              <a:t>pasangan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dirty="0" err="1">
                <a:solidFill>
                  <a:srgbClr val="050507"/>
                </a:solidFill>
              </a:rPr>
              <a:t>graf</a:t>
            </a:r>
            <a:r>
              <a:rPr lang="en-US" altLang="en-US" dirty="0">
                <a:solidFill>
                  <a:srgbClr val="050507"/>
                </a:solidFill>
              </a:rPr>
              <a:t> di </a:t>
            </a:r>
            <a:r>
              <a:rPr lang="en-US" altLang="en-US" dirty="0" err="1">
                <a:solidFill>
                  <a:srgbClr val="050507"/>
                </a:solidFill>
              </a:rPr>
              <a:t>bawah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dirty="0" err="1">
                <a:solidFill>
                  <a:srgbClr val="050507"/>
                </a:solidFill>
              </a:rPr>
              <a:t>ini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dirty="0" err="1">
                <a:solidFill>
                  <a:srgbClr val="050507"/>
                </a:solidFill>
              </a:rPr>
              <a:t>isomorfik</a:t>
            </a:r>
            <a:r>
              <a:rPr lang="en-US" altLang="en-US" dirty="0">
                <a:solidFill>
                  <a:srgbClr val="050507"/>
                </a:solidFill>
              </a:rPr>
              <a:t>?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42D04E-B97E-2A65-B1AE-AFC065CF75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288" y="2515394"/>
            <a:ext cx="4956348" cy="3442422"/>
          </a:xfrm>
          <a:prstGeom prst="rect">
            <a:avLst/>
          </a:prstGeom>
          <a:noFill/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4A4086-2493-CC8E-5CCB-B89E23EF6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9304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4FABA-E683-05B8-195B-83AB742A30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31273"/>
            <a:ext cx="6837218" cy="5345690"/>
          </a:xfrm>
        </p:spPr>
        <p:txBody>
          <a:bodyPr/>
          <a:lstStyle/>
          <a:p>
            <a:pPr marL="0" indent="0">
              <a:buNone/>
            </a:pPr>
            <a:r>
              <a:rPr lang="en-US" b="1" dirty="0" err="1"/>
              <a:t>Jawaban</a:t>
            </a:r>
            <a:r>
              <a:rPr lang="en-US" b="1" dirty="0"/>
              <a:t>:</a:t>
            </a:r>
            <a:br>
              <a:rPr lang="en-US" b="1" dirty="0"/>
            </a:br>
            <a:r>
              <a:rPr lang="en-US" sz="2400" dirty="0"/>
              <a:t>Graf </a:t>
            </a:r>
            <a:r>
              <a:rPr lang="en-US" sz="2400" dirty="0" err="1"/>
              <a:t>ini</a:t>
            </a:r>
            <a:r>
              <a:rPr lang="en-US" sz="2400" dirty="0"/>
              <a:t>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isomorfik</a:t>
            </a:r>
            <a:r>
              <a:rPr lang="en-US" sz="2400" dirty="0"/>
              <a:t> </a:t>
            </a:r>
            <a:r>
              <a:rPr lang="en-US" sz="2400" dirty="0" err="1"/>
              <a:t>karena</a:t>
            </a:r>
            <a:r>
              <a:rPr lang="en-US" sz="2400" dirty="0"/>
              <a:t> </a:t>
            </a:r>
            <a:r>
              <a:rPr lang="en-US" sz="2400" dirty="0" err="1"/>
              <a:t>setiap</a:t>
            </a:r>
            <a:r>
              <a:rPr lang="en-US" sz="2400" dirty="0"/>
              <a:t> </a:t>
            </a:r>
            <a:r>
              <a:rPr lang="en-US" sz="2400" dirty="0" err="1"/>
              <a:t>simpul</a:t>
            </a:r>
            <a:r>
              <a:rPr lang="en-US" sz="2400" dirty="0"/>
              <a:t> pada </a:t>
            </a:r>
            <a:r>
              <a:rPr lang="en-US" sz="2400" dirty="0" err="1"/>
              <a:t>graf</a:t>
            </a:r>
            <a:r>
              <a:rPr lang="en-US" sz="2400" dirty="0"/>
              <a:t> </a:t>
            </a:r>
            <a:r>
              <a:rPr lang="en-US" sz="2400" dirty="0" err="1"/>
              <a:t>kiri</a:t>
            </a:r>
            <a:r>
              <a:rPr lang="en-US" sz="2400" dirty="0"/>
              <a:t>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berkorespondensi</a:t>
            </a:r>
            <a:r>
              <a:rPr lang="en-US" sz="2400" dirty="0"/>
              <a:t> </a:t>
            </a:r>
            <a:r>
              <a:rPr lang="en-US" sz="2400" dirty="0" err="1"/>
              <a:t>satu-satu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simpul</a:t>
            </a:r>
            <a:r>
              <a:rPr lang="en-US" sz="2400" dirty="0"/>
              <a:t> pada </a:t>
            </a:r>
            <a:r>
              <a:rPr lang="en-US" sz="2400" dirty="0" err="1"/>
              <a:t>graf</a:t>
            </a:r>
            <a:r>
              <a:rPr lang="en-US" sz="2400" dirty="0"/>
              <a:t> </a:t>
            </a:r>
            <a:r>
              <a:rPr lang="en-US" sz="2400" dirty="0" err="1"/>
              <a:t>kanan</a:t>
            </a:r>
            <a:r>
              <a:rPr lang="en-US" sz="2400" dirty="0"/>
              <a:t>.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dilihat</a:t>
            </a:r>
            <a:r>
              <a:rPr lang="en-US" sz="2400" dirty="0"/>
              <a:t> pada </a:t>
            </a:r>
            <a:r>
              <a:rPr lang="en-US" sz="2400" dirty="0" err="1"/>
              <a:t>graf</a:t>
            </a:r>
            <a:r>
              <a:rPr lang="en-US" sz="2400" dirty="0"/>
              <a:t> </a:t>
            </a:r>
            <a:r>
              <a:rPr lang="en-US" sz="2400" dirty="0" err="1"/>
              <a:t>kiri</a:t>
            </a:r>
            <a:r>
              <a:rPr lang="en-US" sz="2400" dirty="0"/>
              <a:t>, </a:t>
            </a:r>
            <a:r>
              <a:rPr lang="en-US" sz="2400" dirty="0" err="1"/>
              <a:t>upagraf</a:t>
            </a:r>
            <a:r>
              <a:rPr lang="en-US" sz="2400" dirty="0"/>
              <a:t> yang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membentuk</a:t>
            </a:r>
            <a:r>
              <a:rPr lang="en-US" sz="2400" dirty="0"/>
              <a:t> </a:t>
            </a:r>
            <a:r>
              <a:rPr lang="en-US" sz="2400" dirty="0" err="1"/>
              <a:t>sirkuit</a:t>
            </a:r>
            <a:r>
              <a:rPr lang="en-US" sz="2400" dirty="0"/>
              <a:t> </a:t>
            </a:r>
            <a:r>
              <a:rPr lang="en-US" sz="2400" dirty="0" err="1"/>
              <a:t>terbentuk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minimal 4 </a:t>
            </a:r>
            <a:r>
              <a:rPr lang="en-US" sz="2400" dirty="0" err="1"/>
              <a:t>simpul</a:t>
            </a:r>
            <a:r>
              <a:rPr lang="en-US" sz="2400" dirty="0"/>
              <a:t>. </a:t>
            </a:r>
            <a:r>
              <a:rPr lang="en-US" sz="2400" dirty="0" err="1"/>
              <a:t>Sedangkan</a:t>
            </a:r>
            <a:r>
              <a:rPr lang="en-US" sz="2400" dirty="0"/>
              <a:t> pada </a:t>
            </a:r>
            <a:r>
              <a:rPr lang="en-US" sz="2400" dirty="0" err="1"/>
              <a:t>graf</a:t>
            </a:r>
            <a:r>
              <a:rPr lang="en-US" sz="2400" dirty="0"/>
              <a:t> </a:t>
            </a:r>
            <a:r>
              <a:rPr lang="en-US" sz="2400" dirty="0" err="1"/>
              <a:t>kanan</a:t>
            </a:r>
            <a:r>
              <a:rPr lang="en-US" sz="2400" dirty="0"/>
              <a:t>, </a:t>
            </a:r>
            <a:r>
              <a:rPr lang="en-US" sz="2400" dirty="0" err="1"/>
              <a:t>upagraf</a:t>
            </a:r>
            <a:r>
              <a:rPr lang="en-US" sz="2400" dirty="0"/>
              <a:t> yang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membentuk</a:t>
            </a:r>
            <a:r>
              <a:rPr lang="en-US" sz="2400" dirty="0"/>
              <a:t> </a:t>
            </a:r>
            <a:r>
              <a:rPr lang="en-US" sz="2400" dirty="0" err="1"/>
              <a:t>sirkuit</a:t>
            </a:r>
            <a:r>
              <a:rPr lang="en-US" sz="2400" dirty="0"/>
              <a:t> </a:t>
            </a:r>
            <a:r>
              <a:rPr lang="en-US" sz="2400" dirty="0" err="1"/>
              <a:t>terbentuk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minimal 3 </a:t>
            </a:r>
            <a:r>
              <a:rPr lang="en-US" sz="2400" dirty="0" err="1"/>
              <a:t>simpul</a:t>
            </a:r>
            <a:r>
              <a:rPr lang="en-US" sz="2400" dirty="0"/>
              <a:t>. </a:t>
            </a:r>
          </a:p>
          <a:p>
            <a:pPr marL="0" indent="0">
              <a:buNone/>
            </a:pPr>
            <a:r>
              <a:rPr lang="en-US" sz="2400" dirty="0" err="1"/>
              <a:t>Sehingga</a:t>
            </a:r>
            <a:r>
              <a:rPr lang="en-US" sz="2400" dirty="0"/>
              <a:t>,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disimpulkan</a:t>
            </a:r>
            <a:r>
              <a:rPr lang="en-US" sz="2400" dirty="0"/>
              <a:t> </a:t>
            </a:r>
            <a:r>
              <a:rPr lang="en-US" sz="2400" dirty="0" err="1"/>
              <a:t>bahwa</a:t>
            </a:r>
            <a:r>
              <a:rPr lang="en-US" sz="2400" dirty="0"/>
              <a:t> </a:t>
            </a:r>
            <a:r>
              <a:rPr lang="en-US" sz="2400" dirty="0" err="1"/>
              <a:t>kedua</a:t>
            </a:r>
            <a:r>
              <a:rPr lang="en-US" sz="2400" dirty="0"/>
              <a:t> </a:t>
            </a:r>
            <a:r>
              <a:rPr lang="en-US" sz="2400" dirty="0" err="1"/>
              <a:t>graf</a:t>
            </a:r>
            <a:r>
              <a:rPr lang="en-US" sz="2400" dirty="0"/>
              <a:t> </a:t>
            </a:r>
            <a:r>
              <a:rPr lang="en-US" sz="2400" dirty="0" err="1"/>
              <a:t>ini</a:t>
            </a:r>
            <a:r>
              <a:rPr lang="en-US" sz="2400" dirty="0"/>
              <a:t>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isomorfik</a:t>
            </a:r>
            <a:r>
              <a:rPr lang="en-US" sz="2400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D8CC9A-7B7B-A07F-4FAC-2A25BB43C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5418" y="1919648"/>
            <a:ext cx="4596772" cy="3192679"/>
          </a:xfrm>
          <a:prstGeom prst="rect">
            <a:avLst/>
          </a:prstGeom>
          <a:noFill/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68AB1A-4060-615C-C266-EF4D1F9ED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1100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DC06C-7201-8D94-F921-98E1A4FCC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Latihan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23E6E-F6A2-53E7-E3F6-7D17395EF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>
                <a:effectLst/>
                <a:ea typeface="Times New Roman" panose="02020603050405020304" pitchFamily="18" charset="0"/>
              </a:rPr>
              <a:t>Perhatikan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ea typeface="Times New Roman" panose="02020603050405020304" pitchFamily="18" charset="0"/>
              </a:rPr>
              <a:t>gambar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 dua </a:t>
            </a:r>
            <a:r>
              <a:rPr lang="en-US" sz="2400" dirty="0" err="1">
                <a:effectLst/>
                <a:ea typeface="Times New Roman" panose="02020603050405020304" pitchFamily="18" charset="0"/>
              </a:rPr>
              <a:t>buah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ea typeface="Times New Roman" panose="02020603050405020304" pitchFamily="18" charset="0"/>
              </a:rPr>
              <a:t>graf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 di </a:t>
            </a:r>
            <a:r>
              <a:rPr lang="en-US" sz="2400" dirty="0" err="1">
                <a:effectLst/>
                <a:ea typeface="Times New Roman" panose="02020603050405020304" pitchFamily="18" charset="0"/>
              </a:rPr>
              <a:t>samping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ea typeface="Times New Roman" panose="02020603050405020304" pitchFamily="18" charset="0"/>
              </a:rPr>
              <a:t>kanan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ea typeface="Times New Roman" panose="02020603050405020304" pitchFamily="18" charset="0"/>
              </a:rPr>
              <a:t>ini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. </a:t>
            </a:r>
            <a:r>
              <a:rPr lang="en-US" sz="2400" dirty="0" err="1">
                <a:effectLst/>
                <a:ea typeface="Times New Roman" panose="02020603050405020304" pitchFamily="18" charset="0"/>
              </a:rPr>
              <a:t>Tentukanlah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ea typeface="Times New Roman" panose="02020603050405020304" pitchFamily="18" charset="0"/>
              </a:rPr>
              <a:t>apakah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ea typeface="Times New Roman" panose="02020603050405020304" pitchFamily="18" charset="0"/>
              </a:rPr>
              <a:t>mereka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ea typeface="Times New Roman" panose="02020603050405020304" pitchFamily="18" charset="0"/>
              </a:rPr>
              <a:t>kedua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ea typeface="Times New Roman" panose="02020603050405020304" pitchFamily="18" charset="0"/>
              </a:rPr>
              <a:t>graf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ea typeface="Times New Roman" panose="02020603050405020304" pitchFamily="18" charset="0"/>
              </a:rPr>
              <a:t>tersebuk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ea typeface="Times New Roman" panose="02020603050405020304" pitchFamily="18" charset="0"/>
              </a:rPr>
              <a:t>isomorfik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ea typeface="Times New Roman" panose="02020603050405020304" pitchFamily="18" charset="0"/>
              </a:rPr>
              <a:t>atau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ea typeface="Times New Roman" panose="02020603050405020304" pitchFamily="18" charset="0"/>
              </a:rPr>
              <a:t>tidak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. (</a:t>
            </a:r>
            <a:r>
              <a:rPr lang="en-US" sz="2400" dirty="0" err="1">
                <a:effectLst/>
                <a:ea typeface="Times New Roman" panose="02020603050405020304" pitchFamily="18" charset="0"/>
              </a:rPr>
              <a:t>Apabila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ea typeface="Times New Roman" panose="02020603050405020304" pitchFamily="18" charset="0"/>
              </a:rPr>
              <a:t>iya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, </a:t>
            </a:r>
            <a:r>
              <a:rPr lang="en-US" sz="2400" dirty="0" err="1">
                <a:effectLst/>
                <a:ea typeface="Times New Roman" panose="02020603050405020304" pitchFamily="18" charset="0"/>
              </a:rPr>
              <a:t>tentukan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 pula </a:t>
            </a:r>
            <a:r>
              <a:rPr lang="en-US" sz="2400" dirty="0" err="1">
                <a:effectLst/>
                <a:ea typeface="Times New Roman" panose="02020603050405020304" pitchFamily="18" charset="0"/>
              </a:rPr>
              <a:t>simpul-simpul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 yang </a:t>
            </a:r>
            <a:r>
              <a:rPr lang="en-US" sz="2400" dirty="0" err="1">
                <a:effectLst/>
                <a:ea typeface="Times New Roman" panose="02020603050405020304" pitchFamily="18" charset="0"/>
              </a:rPr>
              <a:t>berkorespondensi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)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48B8FF-6C7D-908D-F11A-558ED19CE7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3994" y="2902527"/>
            <a:ext cx="5341443" cy="2840831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122115F-43E1-4EF0-0976-EEB7A9312E24}"/>
              </a:ext>
            </a:extLst>
          </p:cNvPr>
          <p:cNvSpPr txBox="1"/>
          <p:nvPr/>
        </p:nvSpPr>
        <p:spPr>
          <a:xfrm>
            <a:off x="6941127" y="5971309"/>
            <a:ext cx="4741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(</a:t>
            </a:r>
            <a:r>
              <a:rPr lang="en-US" sz="2400" dirty="0" err="1">
                <a:solidFill>
                  <a:srgbClr val="FF0000"/>
                </a:solidFill>
              </a:rPr>
              <a:t>jawaban</a:t>
            </a:r>
            <a:r>
              <a:rPr lang="en-US" sz="2400" dirty="0">
                <a:solidFill>
                  <a:srgbClr val="FF0000"/>
                </a:solidFill>
              </a:rPr>
              <a:t> pada </a:t>
            </a:r>
            <a:r>
              <a:rPr lang="en-US" sz="2400" dirty="0" err="1">
                <a:solidFill>
                  <a:srgbClr val="FF0000"/>
                </a:solidFill>
              </a:rPr>
              <a:t>halaman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sesudah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ini</a:t>
            </a:r>
            <a:r>
              <a:rPr lang="en-US" sz="240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173F9A-0AA7-0055-B859-2864457AC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173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53D9A-4BD5-DCEC-3F1F-E3F53ED36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8873"/>
            <a:ext cx="10515600" cy="54980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err="1"/>
              <a:t>Jawaban</a:t>
            </a:r>
            <a:r>
              <a:rPr lang="en-US" sz="2400" b="1" dirty="0"/>
              <a:t>: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effectLst/>
                <a:ea typeface="Times New Roman" panose="02020603050405020304" pitchFamily="18" charset="0"/>
              </a:rPr>
              <a:t>Kedua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ea typeface="Times New Roman" panose="02020603050405020304" pitchFamily="18" charset="0"/>
              </a:rPr>
              <a:t>graf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ea typeface="Times New Roman" panose="02020603050405020304" pitchFamily="18" charset="0"/>
              </a:rPr>
              <a:t>tersebut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ea typeface="Times New Roman" panose="02020603050405020304" pitchFamily="18" charset="0"/>
              </a:rPr>
              <a:t>bersifat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ea typeface="Times New Roman" panose="02020603050405020304" pitchFamily="18" charset="0"/>
              </a:rPr>
              <a:t>isomorfik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. </a:t>
            </a:r>
            <a:r>
              <a:rPr lang="en-US" sz="2400" dirty="0" err="1">
                <a:effectLst/>
                <a:ea typeface="Times New Roman" panose="02020603050405020304" pitchFamily="18" charset="0"/>
              </a:rPr>
              <a:t>Korespondensi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ea typeface="Times New Roman" panose="02020603050405020304" pitchFamily="18" charset="0"/>
              </a:rPr>
              <a:t>simpul-simpul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: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effectLst/>
                <a:ea typeface="Times New Roman" panose="02020603050405020304" pitchFamily="18" charset="0"/>
              </a:rPr>
              <a:t>                       a – 5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effectLst/>
                <a:ea typeface="Times New Roman" panose="02020603050405020304" pitchFamily="18" charset="0"/>
              </a:rPr>
              <a:t>                       b – 3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effectLst/>
                <a:ea typeface="Times New Roman" panose="02020603050405020304" pitchFamily="18" charset="0"/>
              </a:rPr>
              <a:t>                       c – 1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effectLst/>
                <a:ea typeface="Times New Roman" panose="02020603050405020304" pitchFamily="18" charset="0"/>
              </a:rPr>
              <a:t>                       d -  2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effectLst/>
                <a:ea typeface="Times New Roman" panose="02020603050405020304" pitchFamily="18" charset="0"/>
              </a:rPr>
              <a:t>                       e – 4 </a:t>
            </a:r>
          </a:p>
          <a:p>
            <a:pPr marL="0" indent="0">
              <a:buNone/>
            </a:pPr>
            <a:endParaRPr lang="en-US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61FFC9-CFE2-F5AF-79DF-2306DC6495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2067" y="2007502"/>
            <a:ext cx="5341443" cy="2840831"/>
          </a:xfrm>
          <a:prstGeom prst="rect">
            <a:avLst/>
          </a:prstGeom>
          <a:noFill/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2E3940-48C8-D250-8CBB-5F5964146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2379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9" name="Slide Number Placeholder 5">
            <a:extLst>
              <a:ext uri="{FF2B5EF4-FFF2-40B4-BE49-F238E27FC236}">
                <a16:creationId xmlns:a16="http://schemas.microsoft.com/office/drawing/2014/main" id="{03AD5481-EEAE-4440-BB6E-474B9BFB5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7F6F57FA-7516-4083-A183-0DAD6715071D}" type="slidenum">
              <a:rPr lang="en-GB" altLang="en-US" sz="1400"/>
              <a:pPr eaLnBrk="1" hangingPunct="1"/>
              <a:t>31</a:t>
            </a:fld>
            <a:endParaRPr lang="en-GB" altLang="en-US" sz="1400"/>
          </a:p>
        </p:txBody>
      </p:sp>
      <p:sp>
        <p:nvSpPr>
          <p:cNvPr id="96260" name="Rectangle 2">
            <a:extLst>
              <a:ext uri="{FF2B5EF4-FFF2-40B4-BE49-F238E27FC236}">
                <a16:creationId xmlns:a16="http://schemas.microsoft.com/office/drawing/2014/main" id="{0CFACAA0-37A3-4864-9508-0D5DE7DCAE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Latihan</a:t>
            </a:r>
          </a:p>
        </p:txBody>
      </p:sp>
      <p:sp>
        <p:nvSpPr>
          <p:cNvPr id="96261" name="Rectangle 3">
            <a:extLst>
              <a:ext uri="{FF2B5EF4-FFF2-40B4-BE49-F238E27FC236}">
                <a16:creationId xmlns:a16="http://schemas.microsoft.com/office/drawing/2014/main" id="{6F7705AF-363C-461E-8E89-DDF9CB2BAA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id-ID" altLang="en-US">
                <a:solidFill>
                  <a:srgbClr val="050507"/>
                </a:solidFill>
              </a:rPr>
              <a:t>Gambarkan 2 buah graf yang isomorfik dengan graf teratur berderajat 3 yang mempunyai 8 buah  simpul</a:t>
            </a:r>
            <a:r>
              <a:rPr lang="en-US" altLang="en-US">
                <a:solidFill>
                  <a:srgbClr val="050507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3" name="Slide Number Placeholder 5">
            <a:extLst>
              <a:ext uri="{FF2B5EF4-FFF2-40B4-BE49-F238E27FC236}">
                <a16:creationId xmlns:a16="http://schemas.microsoft.com/office/drawing/2014/main" id="{3DA8584B-D2AA-4E9F-BCBA-1445E06D6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B428CED-D848-4B32-A3A0-EC53BC281650}" type="slidenum">
              <a:rPr lang="en-GB" altLang="en-US" sz="1400"/>
              <a:pPr eaLnBrk="1" hangingPunct="1"/>
              <a:t>32</a:t>
            </a:fld>
            <a:endParaRPr lang="en-GB" altLang="en-US" sz="1400"/>
          </a:p>
        </p:txBody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38BBB0C0-F82C-4710-836E-43A165E157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99440" y="981076"/>
            <a:ext cx="9382760" cy="5114925"/>
          </a:xfrm>
        </p:spPr>
        <p:txBody>
          <a:bodyPr/>
          <a:lstStyle/>
          <a:p>
            <a:pPr eaLnBrk="1" hangingPunct="1"/>
            <a:r>
              <a:rPr lang="en-US" altLang="en-US" dirty="0" err="1">
                <a:solidFill>
                  <a:srgbClr val="050507"/>
                </a:solidFill>
              </a:rPr>
              <a:t>Jawaban</a:t>
            </a:r>
            <a:r>
              <a:rPr lang="en-US" altLang="en-US" dirty="0"/>
              <a:t>: (</a:t>
            </a:r>
            <a:r>
              <a:rPr lang="en-US" altLang="en-US" dirty="0" err="1"/>
              <a:t>contoh</a:t>
            </a:r>
            <a:r>
              <a:rPr lang="en-US" altLang="en-US" dirty="0"/>
              <a:t> </a:t>
            </a:r>
            <a:r>
              <a:rPr lang="en-US" altLang="en-US" dirty="0" err="1"/>
              <a:t>dua</a:t>
            </a:r>
            <a:r>
              <a:rPr lang="en-US" altLang="en-US" dirty="0"/>
              <a:t> </a:t>
            </a:r>
            <a:r>
              <a:rPr lang="en-US" altLang="en-US" dirty="0" err="1"/>
              <a:t>kemungkinan</a:t>
            </a:r>
            <a:r>
              <a:rPr lang="en-US" altLang="en-US" dirty="0"/>
              <a:t> </a:t>
            </a:r>
            <a:r>
              <a:rPr lang="en-US" altLang="en-US" dirty="0" err="1"/>
              <a:t>gambar</a:t>
            </a:r>
            <a:r>
              <a:rPr lang="en-US" altLang="en-US" dirty="0"/>
              <a:t> </a:t>
            </a:r>
            <a:r>
              <a:rPr lang="en-US" altLang="en-US" dirty="0" err="1"/>
              <a:t>grafnya</a:t>
            </a:r>
            <a:r>
              <a:rPr lang="en-US" altLang="en-US" dirty="0"/>
              <a:t>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2FE852-BB4B-4413-8F27-3B491D1E6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6996" y="1839175"/>
            <a:ext cx="2404968" cy="38186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8DFB77-1E7E-4506-9C91-AA3FFEAC46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1388" y="1777996"/>
            <a:ext cx="2906379" cy="3799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7" name="Slide Number Placeholder 5">
            <a:extLst>
              <a:ext uri="{FF2B5EF4-FFF2-40B4-BE49-F238E27FC236}">
                <a16:creationId xmlns:a16="http://schemas.microsoft.com/office/drawing/2014/main" id="{13DEC898-2202-4454-B6F4-A845E5056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829C3A25-DA37-4442-A3EA-80CEBC0845E5}" type="slidenum">
              <a:rPr lang="en-GB" altLang="en-US" sz="1400"/>
              <a:pPr eaLnBrk="1" hangingPunct="1"/>
              <a:t>33</a:t>
            </a:fld>
            <a:endParaRPr lang="en-GB" altLang="en-US" sz="1400"/>
          </a:p>
        </p:txBody>
      </p:sp>
      <p:sp>
        <p:nvSpPr>
          <p:cNvPr id="98308" name="Rectangle 2">
            <a:extLst>
              <a:ext uri="{FF2B5EF4-FFF2-40B4-BE49-F238E27FC236}">
                <a16:creationId xmlns:a16="http://schemas.microsoft.com/office/drawing/2014/main" id="{04D3D9E6-C299-442A-840B-B04A904A73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b="1" dirty="0">
                <a:cs typeface="Times New Roman" panose="02020603050405020304" pitchFamily="18" charset="0"/>
              </a:rPr>
              <a:t>Graf Planar (</a:t>
            </a:r>
            <a:r>
              <a:rPr lang="en-US" altLang="en-US" sz="3600" b="1" i="1" dirty="0">
                <a:cs typeface="Times New Roman" panose="02020603050405020304" pitchFamily="18" charset="0"/>
              </a:rPr>
              <a:t>Planar Graph</a:t>
            </a:r>
            <a:r>
              <a:rPr lang="en-US" altLang="en-US" sz="3600" b="1" dirty="0">
                <a:cs typeface="Times New Roman" panose="02020603050405020304" pitchFamily="18" charset="0"/>
              </a:rPr>
              <a:t>) dan Graf </a:t>
            </a:r>
            <a:r>
              <a:rPr lang="en-US" altLang="en-US" sz="3600" b="1" dirty="0" err="1">
                <a:cs typeface="Times New Roman" panose="02020603050405020304" pitchFamily="18" charset="0"/>
              </a:rPr>
              <a:t>Bidang</a:t>
            </a:r>
            <a:r>
              <a:rPr lang="en-US" altLang="en-US" sz="3600" b="1" dirty="0">
                <a:cs typeface="Times New Roman" panose="02020603050405020304" pitchFamily="18" charset="0"/>
              </a:rPr>
              <a:t> (</a:t>
            </a:r>
            <a:r>
              <a:rPr lang="en-US" altLang="en-US" sz="3600" b="1" i="1" dirty="0">
                <a:cs typeface="Times New Roman" panose="02020603050405020304" pitchFamily="18" charset="0"/>
              </a:rPr>
              <a:t>Plane Graph</a:t>
            </a:r>
            <a:r>
              <a:rPr lang="en-US" altLang="en-US" sz="3600" b="1" dirty="0"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98309" name="Rectangle 3">
            <a:extLst>
              <a:ext uri="{FF2B5EF4-FFF2-40B4-BE49-F238E27FC236}">
                <a16:creationId xmlns:a16="http://schemas.microsoft.com/office/drawing/2014/main" id="{2BF46E6C-9E8A-4784-A068-8824EE6B3C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>
                <a:solidFill>
                  <a:srgbClr val="050507"/>
                </a:solidFill>
              </a:rPr>
              <a:t>Graf yang </a:t>
            </a:r>
            <a:r>
              <a:rPr lang="en-US" altLang="en-US" sz="2400" dirty="0" err="1">
                <a:solidFill>
                  <a:srgbClr val="050507"/>
                </a:solidFill>
              </a:rPr>
              <a:t>dapat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dirty="0" err="1">
                <a:solidFill>
                  <a:srgbClr val="050507"/>
                </a:solidFill>
              </a:rPr>
              <a:t>digambarkan</a:t>
            </a:r>
            <a:r>
              <a:rPr lang="en-US" altLang="en-US" sz="2400" dirty="0">
                <a:solidFill>
                  <a:srgbClr val="050507"/>
                </a:solidFill>
              </a:rPr>
              <a:t> pada </a:t>
            </a:r>
            <a:r>
              <a:rPr lang="en-US" altLang="en-US" sz="2400" dirty="0" err="1">
                <a:solidFill>
                  <a:srgbClr val="050507"/>
                </a:solidFill>
              </a:rPr>
              <a:t>bidang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dirty="0" err="1">
                <a:solidFill>
                  <a:srgbClr val="050507"/>
                </a:solidFill>
              </a:rPr>
              <a:t>datar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dirty="0" err="1">
                <a:solidFill>
                  <a:srgbClr val="050507"/>
                </a:solidFill>
              </a:rPr>
              <a:t>dengan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dirty="0" err="1">
                <a:solidFill>
                  <a:srgbClr val="050507"/>
                </a:solidFill>
              </a:rPr>
              <a:t>sisi-sisi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dirty="0" err="1">
                <a:solidFill>
                  <a:srgbClr val="050507"/>
                </a:solidFill>
              </a:rPr>
              <a:t>tidak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dirty="0" err="1">
                <a:solidFill>
                  <a:srgbClr val="050507"/>
                </a:solidFill>
              </a:rPr>
              <a:t>saling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dirty="0" err="1">
                <a:solidFill>
                  <a:srgbClr val="050507"/>
                </a:solidFill>
              </a:rPr>
              <a:t>memotong</a:t>
            </a:r>
            <a:r>
              <a:rPr lang="en-US" altLang="en-US" sz="2400" dirty="0">
                <a:solidFill>
                  <a:srgbClr val="050507"/>
                </a:solidFill>
              </a:rPr>
              <a:t> (</a:t>
            </a:r>
            <a:r>
              <a:rPr lang="en-US" altLang="en-US" sz="2400" dirty="0" err="1">
                <a:solidFill>
                  <a:srgbClr val="050507"/>
                </a:solidFill>
              </a:rPr>
              <a:t>bersilangan</a:t>
            </a:r>
            <a:r>
              <a:rPr lang="en-US" altLang="en-US" sz="2400" dirty="0">
                <a:solidFill>
                  <a:srgbClr val="050507"/>
                </a:solidFill>
              </a:rPr>
              <a:t>) </a:t>
            </a:r>
            <a:r>
              <a:rPr lang="en-US" altLang="en-US" sz="2400" dirty="0" err="1">
                <a:solidFill>
                  <a:srgbClr val="050507"/>
                </a:solidFill>
              </a:rPr>
              <a:t>disebut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b="1" dirty="0" err="1">
                <a:solidFill>
                  <a:srgbClr val="050507"/>
                </a:solidFill>
              </a:rPr>
              <a:t>graf</a:t>
            </a:r>
            <a:r>
              <a:rPr lang="en-US" altLang="en-US" sz="2400" b="1" dirty="0">
                <a:solidFill>
                  <a:srgbClr val="050507"/>
                </a:solidFill>
              </a:rPr>
              <a:t> planar</a:t>
            </a:r>
            <a:r>
              <a:rPr lang="en-US" altLang="en-US" sz="2400" dirty="0">
                <a:solidFill>
                  <a:srgbClr val="050507"/>
                </a:solidFill>
              </a:rPr>
              <a:t>, </a:t>
            </a:r>
          </a:p>
          <a:p>
            <a:pPr eaLnBrk="1" hangingPunct="1"/>
            <a:r>
              <a:rPr lang="en-US" altLang="en-US" sz="2400" dirty="0" err="1">
                <a:solidFill>
                  <a:srgbClr val="050507"/>
                </a:solidFill>
              </a:rPr>
              <a:t>jika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dirty="0" err="1">
                <a:solidFill>
                  <a:srgbClr val="050507"/>
                </a:solidFill>
              </a:rPr>
              <a:t>tidak</a:t>
            </a:r>
            <a:r>
              <a:rPr lang="en-US" altLang="en-US" sz="2400" dirty="0">
                <a:solidFill>
                  <a:srgbClr val="050507"/>
                </a:solidFill>
              </a:rPr>
              <a:t>, </a:t>
            </a:r>
            <a:r>
              <a:rPr lang="en-US" altLang="en-US" sz="2400" dirty="0" err="1">
                <a:solidFill>
                  <a:srgbClr val="050507"/>
                </a:solidFill>
              </a:rPr>
              <a:t>maka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dirty="0" err="1">
                <a:solidFill>
                  <a:srgbClr val="050507"/>
                </a:solidFill>
              </a:rPr>
              <a:t>ia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dirty="0" err="1">
                <a:solidFill>
                  <a:srgbClr val="050507"/>
                </a:solidFill>
              </a:rPr>
              <a:t>disebut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b="1" dirty="0" err="1">
                <a:solidFill>
                  <a:srgbClr val="050507"/>
                </a:solidFill>
              </a:rPr>
              <a:t>graf</a:t>
            </a:r>
            <a:r>
              <a:rPr lang="en-US" altLang="en-US" sz="2400" b="1" dirty="0">
                <a:solidFill>
                  <a:srgbClr val="050507"/>
                </a:solidFill>
              </a:rPr>
              <a:t> </a:t>
            </a:r>
            <a:r>
              <a:rPr lang="en-US" altLang="en-US" sz="2400" b="1" dirty="0" err="1">
                <a:solidFill>
                  <a:srgbClr val="050507"/>
                </a:solidFill>
              </a:rPr>
              <a:t>tak</a:t>
            </a:r>
            <a:r>
              <a:rPr lang="en-US" altLang="en-US" sz="2400" b="1" dirty="0">
                <a:solidFill>
                  <a:srgbClr val="050507"/>
                </a:solidFill>
              </a:rPr>
              <a:t>-planar</a:t>
            </a:r>
            <a:r>
              <a:rPr lang="en-US" altLang="en-US" sz="2400" dirty="0">
                <a:solidFill>
                  <a:srgbClr val="050507"/>
                </a:solidFill>
              </a:rPr>
              <a:t>. </a:t>
            </a:r>
          </a:p>
          <a:p>
            <a:pPr eaLnBrk="1" hangingPunct="1"/>
            <a:r>
              <a:rPr lang="en-US" altLang="en-US" sz="2400" dirty="0" err="1">
                <a:solidFill>
                  <a:srgbClr val="050507"/>
                </a:solidFill>
              </a:rPr>
              <a:t>Contoh</a:t>
            </a:r>
            <a:r>
              <a:rPr lang="en-US" altLang="en-US" sz="2400" dirty="0">
                <a:solidFill>
                  <a:srgbClr val="050507"/>
                </a:solidFill>
              </a:rPr>
              <a:t>: K</a:t>
            </a:r>
            <a:r>
              <a:rPr lang="en-US" altLang="en-US" sz="2400" baseline="-25000" dirty="0">
                <a:solidFill>
                  <a:srgbClr val="050507"/>
                </a:solidFill>
              </a:rPr>
              <a:t>4</a:t>
            </a:r>
            <a:r>
              <a:rPr lang="en-US" altLang="en-US" sz="2400" dirty="0">
                <a:solidFill>
                  <a:srgbClr val="050507"/>
                </a:solidFill>
              </a:rPr>
              <a:t> di </a:t>
            </a:r>
            <a:r>
              <a:rPr lang="en-US" altLang="en-US" sz="2400" dirty="0" err="1">
                <a:solidFill>
                  <a:srgbClr val="050507"/>
                </a:solidFill>
              </a:rPr>
              <a:t>bawah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dirty="0" err="1">
                <a:solidFill>
                  <a:srgbClr val="050507"/>
                </a:solidFill>
              </a:rPr>
              <a:t>ini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dirty="0" err="1">
                <a:solidFill>
                  <a:srgbClr val="050507"/>
                </a:solidFill>
              </a:rPr>
              <a:t>adalah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dirty="0" err="1">
                <a:solidFill>
                  <a:srgbClr val="050507"/>
                </a:solidFill>
              </a:rPr>
              <a:t>graf</a:t>
            </a:r>
            <a:r>
              <a:rPr lang="en-US" altLang="en-US" sz="2400" dirty="0">
                <a:solidFill>
                  <a:srgbClr val="050507"/>
                </a:solidFill>
              </a:rPr>
              <a:t> planar:</a:t>
            </a:r>
          </a:p>
        </p:txBody>
      </p:sp>
      <p:pic>
        <p:nvPicPr>
          <p:cNvPr id="98310" name="Picture 4">
            <a:extLst>
              <a:ext uri="{FF2B5EF4-FFF2-40B4-BE49-F238E27FC236}">
                <a16:creationId xmlns:a16="http://schemas.microsoft.com/office/drawing/2014/main" id="{8A52DB85-5B9C-4200-A77F-448BE94C59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2671" y="3548381"/>
            <a:ext cx="6210015" cy="24761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1" name="Slide Number Placeholder 5">
            <a:extLst>
              <a:ext uri="{FF2B5EF4-FFF2-40B4-BE49-F238E27FC236}">
                <a16:creationId xmlns:a16="http://schemas.microsoft.com/office/drawing/2014/main" id="{5F9EBD6A-9B5C-4580-A544-C55098D2A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A9FEC0ED-93A8-4AB3-A3DC-7363307D2022}" type="slidenum">
              <a:rPr lang="en-GB" altLang="en-US" sz="1400"/>
              <a:pPr eaLnBrk="1" hangingPunct="1"/>
              <a:t>34</a:t>
            </a:fld>
            <a:endParaRPr lang="en-GB" altLang="en-US" sz="1400"/>
          </a:p>
        </p:txBody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ADEAA76B-DC6A-4DCA-B470-278C6C3101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6960" y="611794"/>
            <a:ext cx="8072120" cy="4970462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rgbClr val="050507"/>
                </a:solidFill>
              </a:rPr>
              <a:t>K</a:t>
            </a:r>
            <a:r>
              <a:rPr lang="en-US" altLang="en-US" baseline="-25000" dirty="0">
                <a:solidFill>
                  <a:srgbClr val="050507"/>
                </a:solidFill>
              </a:rPr>
              <a:t>5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dirty="0" err="1">
                <a:solidFill>
                  <a:srgbClr val="050507"/>
                </a:solidFill>
              </a:rPr>
              <a:t>adalah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dirty="0" err="1">
                <a:solidFill>
                  <a:srgbClr val="050507"/>
                </a:solidFill>
              </a:rPr>
              <a:t>graf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dirty="0" err="1">
                <a:solidFill>
                  <a:srgbClr val="050507"/>
                </a:solidFill>
              </a:rPr>
              <a:t>tidak</a:t>
            </a:r>
            <a:r>
              <a:rPr lang="en-US" altLang="en-US" dirty="0">
                <a:solidFill>
                  <a:srgbClr val="050507"/>
                </a:solidFill>
              </a:rPr>
              <a:t> planar:</a:t>
            </a:r>
          </a:p>
        </p:txBody>
      </p:sp>
      <p:pic>
        <p:nvPicPr>
          <p:cNvPr id="99333" name="Picture 4">
            <a:extLst>
              <a:ext uri="{FF2B5EF4-FFF2-40B4-BE49-F238E27FC236}">
                <a16:creationId xmlns:a16="http://schemas.microsoft.com/office/drawing/2014/main" id="{3239F837-0109-43EA-B181-60A429DDE6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902" y="1275744"/>
            <a:ext cx="9730195" cy="4377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91863F7B-31DE-4C63-9E71-6493B846FB81}"/>
              </a:ext>
            </a:extLst>
          </p:cNvPr>
          <p:cNvSpPr/>
          <p:nvPr/>
        </p:nvSpPr>
        <p:spPr>
          <a:xfrm>
            <a:off x="8266911" y="4932096"/>
            <a:ext cx="551267" cy="501751"/>
          </a:xfrm>
          <a:prstGeom prst="ellipse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rrow: Up 2">
            <a:extLst>
              <a:ext uri="{FF2B5EF4-FFF2-40B4-BE49-F238E27FC236}">
                <a16:creationId xmlns:a16="http://schemas.microsoft.com/office/drawing/2014/main" id="{FF8C4D64-7643-44C6-BE3A-919B26DD1F7D}"/>
              </a:ext>
            </a:extLst>
          </p:cNvPr>
          <p:cNvSpPr/>
          <p:nvPr/>
        </p:nvSpPr>
        <p:spPr>
          <a:xfrm>
            <a:off x="8389532" y="5488844"/>
            <a:ext cx="221068" cy="444818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0" name="Slide Number Placeholder 5">
            <a:extLst>
              <a:ext uri="{FF2B5EF4-FFF2-40B4-BE49-F238E27FC236}">
                <a16:creationId xmlns:a16="http://schemas.microsoft.com/office/drawing/2014/main" id="{08789A10-C7CA-4A7D-B9B6-956AFE33B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B7F8DA9F-2F04-4D1C-9CE1-949C7C00C57B}" type="slidenum">
              <a:rPr lang="en-GB" altLang="en-US" sz="1400"/>
              <a:pPr eaLnBrk="1" hangingPunct="1"/>
              <a:t>35</a:t>
            </a:fld>
            <a:endParaRPr lang="en-GB" altLang="en-US" sz="1400"/>
          </a:p>
        </p:txBody>
      </p:sp>
      <p:graphicFrame>
        <p:nvGraphicFramePr>
          <p:cNvPr id="50178" name="Object 4">
            <a:extLst>
              <a:ext uri="{FF2B5EF4-FFF2-40B4-BE49-F238E27FC236}">
                <a16:creationId xmlns:a16="http://schemas.microsoft.com/office/drawing/2014/main" id="{B5FCD7F9-40FB-4DA5-9397-27CF9F0003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1064381"/>
              </p:ext>
            </p:extLst>
          </p:nvPr>
        </p:nvGraphicFramePr>
        <p:xfrm>
          <a:off x="925513" y="1068388"/>
          <a:ext cx="10388600" cy="4649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306056" imgH="3279976" progId="Word.Document.8">
                  <p:embed/>
                </p:oleObj>
              </mc:Choice>
              <mc:Fallback>
                <p:oleObj name="Document" r:id="rId2" imgW="7306056" imgH="3279976" progId="Word.Document.8">
                  <p:embed/>
                  <p:pic>
                    <p:nvPicPr>
                      <p:cNvPr id="50178" name="Object 4">
                        <a:extLst>
                          <a:ext uri="{FF2B5EF4-FFF2-40B4-BE49-F238E27FC236}">
                            <a16:creationId xmlns:a16="http://schemas.microsoft.com/office/drawing/2014/main" id="{B5FCD7F9-40FB-4DA5-9397-27CF9F0003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5513" y="1068388"/>
                        <a:ext cx="10388600" cy="4649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4" name="Slide Number Placeholder 5">
            <a:extLst>
              <a:ext uri="{FF2B5EF4-FFF2-40B4-BE49-F238E27FC236}">
                <a16:creationId xmlns:a16="http://schemas.microsoft.com/office/drawing/2014/main" id="{67ECD4DB-9395-458F-9B90-5F4ED9837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C4AAE03-ED7F-4550-9DE5-7E4A7A42542B}" type="slidenum">
              <a:rPr lang="en-GB" altLang="en-US" sz="1400"/>
              <a:pPr eaLnBrk="1" hangingPunct="1"/>
              <a:t>36</a:t>
            </a:fld>
            <a:endParaRPr lang="en-GB" altLang="en-US" sz="1400"/>
          </a:p>
        </p:txBody>
      </p:sp>
      <p:graphicFrame>
        <p:nvGraphicFramePr>
          <p:cNvPr id="51202" name="Object 4">
            <a:extLst>
              <a:ext uri="{FF2B5EF4-FFF2-40B4-BE49-F238E27FC236}">
                <a16:creationId xmlns:a16="http://schemas.microsoft.com/office/drawing/2014/main" id="{8A08612B-9B8A-4DBB-B2A2-22A5A4A92E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4374915"/>
              </p:ext>
            </p:extLst>
          </p:nvPr>
        </p:nvGraphicFramePr>
        <p:xfrm>
          <a:off x="794384" y="1495426"/>
          <a:ext cx="9065131" cy="44926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609844" imgH="2695346" progId="Word.Document.8">
                  <p:embed/>
                </p:oleObj>
              </mc:Choice>
              <mc:Fallback>
                <p:oleObj name="Document" r:id="rId2" imgW="5609844" imgH="2695346" progId="Word.Document.8">
                  <p:embed/>
                  <p:pic>
                    <p:nvPicPr>
                      <p:cNvPr id="51202" name="Object 4">
                        <a:extLst>
                          <a:ext uri="{FF2B5EF4-FFF2-40B4-BE49-F238E27FC236}">
                            <a16:creationId xmlns:a16="http://schemas.microsoft.com/office/drawing/2014/main" id="{8A08612B-9B8A-4DBB-B2A2-22A5A4A92E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4384" y="1495426"/>
                        <a:ext cx="9065131" cy="44926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5" name="Rectangle 5">
            <a:extLst>
              <a:ext uri="{FF2B5EF4-FFF2-40B4-BE49-F238E27FC236}">
                <a16:creationId xmlns:a16="http://schemas.microsoft.com/office/drawing/2014/main" id="{C1C78127-9783-4DA2-8C33-D62E7E6D59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94360" y="758190"/>
            <a:ext cx="7772400" cy="357188"/>
          </a:xfrm>
          <a:noFill/>
        </p:spPr>
        <p:txBody>
          <a:bodyPr>
            <a:noAutofit/>
          </a:bodyPr>
          <a:lstStyle/>
          <a:p>
            <a:pPr eaLnBrk="1" hangingPunct="1"/>
            <a:r>
              <a:rPr lang="en-US" altLang="en-US" sz="3600" b="1" dirty="0" err="1">
                <a:latin typeface="+mn-lt"/>
              </a:rPr>
              <a:t>Aplikasi</a:t>
            </a:r>
            <a:r>
              <a:rPr lang="en-US" altLang="en-US" sz="3600" b="1" dirty="0">
                <a:latin typeface="+mn-lt"/>
              </a:rPr>
              <a:t> Graf Planar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0721E60-99BB-4071-BCD8-CD561AE78388}"/>
              </a:ext>
            </a:extLst>
          </p:cNvPr>
          <p:cNvSpPr/>
          <p:nvPr/>
        </p:nvSpPr>
        <p:spPr>
          <a:xfrm>
            <a:off x="6648318" y="3639324"/>
            <a:ext cx="551267" cy="501751"/>
          </a:xfrm>
          <a:prstGeom prst="ellipse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Up 6">
            <a:extLst>
              <a:ext uri="{FF2B5EF4-FFF2-40B4-BE49-F238E27FC236}">
                <a16:creationId xmlns:a16="http://schemas.microsoft.com/office/drawing/2014/main" id="{38E46BEE-3557-45D4-ABD9-72737D5C97F2}"/>
              </a:ext>
            </a:extLst>
          </p:cNvPr>
          <p:cNvSpPr/>
          <p:nvPr/>
        </p:nvSpPr>
        <p:spPr>
          <a:xfrm>
            <a:off x="6537784" y="4141075"/>
            <a:ext cx="221068" cy="444818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Slide Number Placeholder 5">
            <a:extLst>
              <a:ext uri="{FF2B5EF4-FFF2-40B4-BE49-F238E27FC236}">
                <a16:creationId xmlns:a16="http://schemas.microsoft.com/office/drawing/2014/main" id="{62BA4A29-6E1E-4872-B334-6F7E4A8EC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D178FB6-3FCC-4FEA-B155-CAC013A2C2CC}" type="slidenum">
              <a:rPr lang="en-GB" altLang="en-US" sz="1400"/>
              <a:pPr eaLnBrk="1" hangingPunct="1"/>
              <a:t>37</a:t>
            </a:fld>
            <a:endParaRPr lang="en-GB" altLang="en-US" sz="1400"/>
          </a:p>
        </p:txBody>
      </p:sp>
      <p:sp>
        <p:nvSpPr>
          <p:cNvPr id="100356" name="Rectangle 2">
            <a:extLst>
              <a:ext uri="{FF2B5EF4-FFF2-40B4-BE49-F238E27FC236}">
                <a16:creationId xmlns:a16="http://schemas.microsoft.com/office/drawing/2014/main" id="{F19E6B02-F7B3-40DA-AA0B-DCDFF51B73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49960" y="681037"/>
            <a:ext cx="7772400" cy="500063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3600" b="1" dirty="0" err="1">
                <a:latin typeface="+mn-lt"/>
              </a:rPr>
              <a:t>Aplikasi</a:t>
            </a:r>
            <a:r>
              <a:rPr lang="en-US" altLang="en-US" sz="3600" b="1" dirty="0">
                <a:latin typeface="+mn-lt"/>
              </a:rPr>
              <a:t> Graf Planar</a:t>
            </a:r>
          </a:p>
        </p:txBody>
      </p:sp>
      <p:sp>
        <p:nvSpPr>
          <p:cNvPr id="100357" name="Rectangle 3">
            <a:extLst>
              <a:ext uri="{FF2B5EF4-FFF2-40B4-BE49-F238E27FC236}">
                <a16:creationId xmlns:a16="http://schemas.microsoft.com/office/drawing/2014/main" id="{6992991B-9CD0-4F34-8968-18B74A07D1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 err="1">
                <a:solidFill>
                  <a:srgbClr val="050507"/>
                </a:solidFill>
              </a:rPr>
              <a:t>Perancangan</a:t>
            </a:r>
            <a:r>
              <a:rPr lang="en-US" altLang="en-US" dirty="0">
                <a:solidFill>
                  <a:srgbClr val="050507"/>
                </a:solidFill>
              </a:rPr>
              <a:t> IC (</a:t>
            </a:r>
            <a:r>
              <a:rPr lang="en-US" altLang="en-US" i="1" dirty="0">
                <a:solidFill>
                  <a:srgbClr val="050507"/>
                </a:solidFill>
              </a:rPr>
              <a:t>Integrated Circuit</a:t>
            </a:r>
            <a:r>
              <a:rPr lang="en-US" altLang="en-US" dirty="0">
                <a:solidFill>
                  <a:srgbClr val="050507"/>
                </a:solidFill>
              </a:rPr>
              <a:t>)</a:t>
            </a:r>
          </a:p>
          <a:p>
            <a:pPr eaLnBrk="1" hangingPunct="1">
              <a:lnSpc>
                <a:spcPct val="90000"/>
              </a:lnSpc>
            </a:pPr>
            <a:endParaRPr lang="en-US" altLang="en-US" dirty="0">
              <a:solidFill>
                <a:srgbClr val="050507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dirty="0" err="1">
                <a:solidFill>
                  <a:srgbClr val="050507"/>
                </a:solidFill>
              </a:rPr>
              <a:t>Tidak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dirty="0" err="1">
                <a:solidFill>
                  <a:srgbClr val="050507"/>
                </a:solidFill>
              </a:rPr>
              <a:t>boleh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dirty="0" err="1">
                <a:solidFill>
                  <a:srgbClr val="050507"/>
                </a:solidFill>
              </a:rPr>
              <a:t>ada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dirty="0" err="1">
                <a:solidFill>
                  <a:srgbClr val="050507"/>
                </a:solidFill>
              </a:rPr>
              <a:t>kawat-kawat</a:t>
            </a:r>
            <a:r>
              <a:rPr lang="en-US" altLang="en-US" dirty="0">
                <a:solidFill>
                  <a:srgbClr val="050507"/>
                </a:solidFill>
              </a:rPr>
              <a:t> di </a:t>
            </a:r>
            <a:r>
              <a:rPr lang="en-US" altLang="en-US" dirty="0" err="1">
                <a:solidFill>
                  <a:srgbClr val="050507"/>
                </a:solidFill>
              </a:rPr>
              <a:t>dalam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i="1" dirty="0">
                <a:solidFill>
                  <a:srgbClr val="050507"/>
                </a:solidFill>
              </a:rPr>
              <a:t>IC-board</a:t>
            </a:r>
            <a:r>
              <a:rPr lang="en-US" altLang="en-US" dirty="0">
                <a:solidFill>
                  <a:srgbClr val="050507"/>
                </a:solidFill>
              </a:rPr>
              <a:t> yang </a:t>
            </a:r>
            <a:r>
              <a:rPr lang="en-US" altLang="en-US" dirty="0" err="1">
                <a:solidFill>
                  <a:srgbClr val="050507"/>
                </a:solidFill>
              </a:rPr>
              <a:t>saling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dirty="0" err="1">
                <a:solidFill>
                  <a:srgbClr val="050507"/>
                </a:solidFill>
              </a:rPr>
              <a:t>bersilangan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dirty="0">
                <a:solidFill>
                  <a:srgbClr val="050507"/>
                </a:solidFill>
                <a:sym typeface="Wingdings" panose="05000000000000000000" pitchFamily="2" charset="2"/>
              </a:rPr>
              <a:t> </a:t>
            </a:r>
            <a:r>
              <a:rPr lang="en-US" altLang="en-US" dirty="0" err="1">
                <a:solidFill>
                  <a:srgbClr val="050507"/>
                </a:solidFill>
                <a:sym typeface="Wingdings" panose="05000000000000000000" pitchFamily="2" charset="2"/>
              </a:rPr>
              <a:t>dapat</a:t>
            </a:r>
            <a:r>
              <a:rPr lang="en-US" altLang="en-US" dirty="0">
                <a:solidFill>
                  <a:srgbClr val="050507"/>
                </a:solidFill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solidFill>
                  <a:srgbClr val="050507"/>
                </a:solidFill>
                <a:sym typeface="Wingdings" panose="05000000000000000000" pitchFamily="2" charset="2"/>
              </a:rPr>
              <a:t>menimbulkan</a:t>
            </a:r>
            <a:r>
              <a:rPr lang="en-US" altLang="en-US" dirty="0">
                <a:solidFill>
                  <a:srgbClr val="050507"/>
                </a:solidFill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solidFill>
                  <a:srgbClr val="050507"/>
                </a:solidFill>
                <a:sym typeface="Wingdings" panose="05000000000000000000" pitchFamily="2" charset="2"/>
              </a:rPr>
              <a:t>interferensi</a:t>
            </a:r>
            <a:r>
              <a:rPr lang="en-US" altLang="en-US" dirty="0">
                <a:solidFill>
                  <a:srgbClr val="050507"/>
                </a:solidFill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solidFill>
                  <a:srgbClr val="050507"/>
                </a:solidFill>
                <a:sym typeface="Wingdings" panose="05000000000000000000" pitchFamily="2" charset="2"/>
              </a:rPr>
              <a:t>arus</a:t>
            </a:r>
            <a:r>
              <a:rPr lang="en-US" altLang="en-US" dirty="0">
                <a:solidFill>
                  <a:srgbClr val="050507"/>
                </a:solidFill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solidFill>
                  <a:srgbClr val="050507"/>
                </a:solidFill>
                <a:sym typeface="Wingdings" panose="05000000000000000000" pitchFamily="2" charset="2"/>
              </a:rPr>
              <a:t>listrik</a:t>
            </a:r>
            <a:r>
              <a:rPr lang="en-US" altLang="en-US" dirty="0">
                <a:solidFill>
                  <a:srgbClr val="050507"/>
                </a:solidFill>
                <a:sym typeface="Wingdings" panose="05000000000000000000" pitchFamily="2" charset="2"/>
              </a:rPr>
              <a:t>  </a:t>
            </a:r>
            <a:r>
              <a:rPr lang="en-US" altLang="en-US" i="1" dirty="0">
                <a:solidFill>
                  <a:srgbClr val="050507"/>
                </a:solidFill>
                <a:sym typeface="Wingdings" panose="05000000000000000000" pitchFamily="2" charset="2"/>
              </a:rPr>
              <a:t>malfunction</a:t>
            </a:r>
          </a:p>
          <a:p>
            <a:pPr eaLnBrk="1" hangingPunct="1">
              <a:lnSpc>
                <a:spcPct val="90000"/>
              </a:lnSpc>
            </a:pPr>
            <a:endParaRPr lang="en-US" altLang="en-US" dirty="0">
              <a:solidFill>
                <a:srgbClr val="050507"/>
              </a:solidFill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dirty="0" err="1">
                <a:solidFill>
                  <a:srgbClr val="050507"/>
                </a:solidFill>
                <a:sym typeface="Wingdings" panose="05000000000000000000" pitchFamily="2" charset="2"/>
              </a:rPr>
              <a:t>Perancangan</a:t>
            </a:r>
            <a:r>
              <a:rPr lang="en-US" altLang="en-US" dirty="0">
                <a:solidFill>
                  <a:srgbClr val="050507"/>
                </a:solidFill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solidFill>
                  <a:srgbClr val="050507"/>
                </a:solidFill>
                <a:sym typeface="Wingdings" panose="05000000000000000000" pitchFamily="2" charset="2"/>
              </a:rPr>
              <a:t>kawat</a:t>
            </a:r>
            <a:r>
              <a:rPr lang="en-US" altLang="en-US" dirty="0">
                <a:solidFill>
                  <a:srgbClr val="050507"/>
                </a:solidFill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solidFill>
                  <a:srgbClr val="050507"/>
                </a:solidFill>
                <a:sym typeface="Wingdings" panose="05000000000000000000" pitchFamily="2" charset="2"/>
              </a:rPr>
              <a:t>memenuhi</a:t>
            </a:r>
            <a:r>
              <a:rPr lang="en-US" altLang="en-US" dirty="0">
                <a:solidFill>
                  <a:srgbClr val="050507"/>
                </a:solidFill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solidFill>
                  <a:srgbClr val="050507"/>
                </a:solidFill>
                <a:sym typeface="Wingdings" panose="05000000000000000000" pitchFamily="2" charset="2"/>
              </a:rPr>
              <a:t>prinsip</a:t>
            </a:r>
            <a:r>
              <a:rPr lang="en-US" altLang="en-US" dirty="0">
                <a:solidFill>
                  <a:srgbClr val="050507"/>
                </a:solidFill>
                <a:sym typeface="Wingdings" panose="05000000000000000000" pitchFamily="2" charset="2"/>
              </a:rPr>
              <a:t> </a:t>
            </a:r>
            <a:r>
              <a:rPr lang="en-US" altLang="en-US" dirty="0" err="1">
                <a:solidFill>
                  <a:srgbClr val="050507"/>
                </a:solidFill>
                <a:sym typeface="Wingdings" panose="05000000000000000000" pitchFamily="2" charset="2"/>
              </a:rPr>
              <a:t>graf</a:t>
            </a:r>
            <a:r>
              <a:rPr lang="en-US" altLang="en-US" dirty="0">
                <a:solidFill>
                  <a:srgbClr val="050507"/>
                </a:solidFill>
                <a:sym typeface="Wingdings" panose="05000000000000000000" pitchFamily="2" charset="2"/>
              </a:rPr>
              <a:t> planar</a:t>
            </a:r>
            <a:endParaRPr lang="en-US" altLang="en-US" dirty="0">
              <a:solidFill>
                <a:srgbClr val="050507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9" name="Slide Number Placeholder 5">
            <a:extLst>
              <a:ext uri="{FF2B5EF4-FFF2-40B4-BE49-F238E27FC236}">
                <a16:creationId xmlns:a16="http://schemas.microsoft.com/office/drawing/2014/main" id="{E68022DA-7266-41E3-AF01-F71AC74D4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A8930F3C-4F4F-49B4-A9F3-BACC2C7B5FB5}" type="slidenum">
              <a:rPr lang="en-GB" altLang="en-US" sz="1400"/>
              <a:pPr eaLnBrk="1" hangingPunct="1"/>
              <a:t>38</a:t>
            </a:fld>
            <a:endParaRPr lang="en-GB" altLang="en-US" sz="1400"/>
          </a:p>
        </p:txBody>
      </p:sp>
      <p:sp>
        <p:nvSpPr>
          <p:cNvPr id="101380" name="Rectangle 2">
            <a:extLst>
              <a:ext uri="{FF2B5EF4-FFF2-40B4-BE49-F238E27FC236}">
                <a16:creationId xmlns:a16="http://schemas.microsoft.com/office/drawing/2014/main" id="{4CE7944B-B4BC-42B1-8E0E-8043F39102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Latihan</a:t>
            </a:r>
          </a:p>
        </p:txBody>
      </p:sp>
      <p:sp>
        <p:nvSpPr>
          <p:cNvPr id="101381" name="Rectangle 3">
            <a:extLst>
              <a:ext uri="{FF2B5EF4-FFF2-40B4-BE49-F238E27FC236}">
                <a16:creationId xmlns:a16="http://schemas.microsoft.com/office/drawing/2014/main" id="{A2CA89B5-D9B8-423C-8932-0D604C1EEA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err="1">
                <a:solidFill>
                  <a:srgbClr val="050507"/>
                </a:solidFill>
              </a:rPr>
              <a:t>Gambarkan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dirty="0" err="1">
                <a:solidFill>
                  <a:srgbClr val="050507"/>
                </a:solidFill>
              </a:rPr>
              <a:t>graf</a:t>
            </a:r>
            <a:r>
              <a:rPr lang="en-US" altLang="en-US" dirty="0">
                <a:solidFill>
                  <a:srgbClr val="050507"/>
                </a:solidFill>
              </a:rPr>
              <a:t> (</a:t>
            </a:r>
            <a:r>
              <a:rPr lang="en-US" altLang="en-US" dirty="0" err="1">
                <a:solidFill>
                  <a:srgbClr val="050507"/>
                </a:solidFill>
              </a:rPr>
              <a:t>kiri</a:t>
            </a:r>
            <a:r>
              <a:rPr lang="en-US" altLang="en-US" dirty="0">
                <a:solidFill>
                  <a:srgbClr val="050507"/>
                </a:solidFill>
              </a:rPr>
              <a:t>) di </a:t>
            </a:r>
            <a:r>
              <a:rPr lang="en-US" altLang="en-US" dirty="0" err="1">
                <a:solidFill>
                  <a:srgbClr val="050507"/>
                </a:solidFill>
              </a:rPr>
              <a:t>bawah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dirty="0" err="1">
                <a:solidFill>
                  <a:srgbClr val="050507"/>
                </a:solidFill>
              </a:rPr>
              <a:t>ini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dirty="0" err="1">
                <a:solidFill>
                  <a:srgbClr val="050507"/>
                </a:solidFill>
              </a:rPr>
              <a:t>sehingga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dirty="0" err="1">
                <a:solidFill>
                  <a:srgbClr val="050507"/>
                </a:solidFill>
              </a:rPr>
              <a:t>tidak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dirty="0" err="1">
                <a:solidFill>
                  <a:srgbClr val="050507"/>
                </a:solidFill>
              </a:rPr>
              <a:t>ada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dirty="0" err="1">
                <a:solidFill>
                  <a:srgbClr val="050507"/>
                </a:solidFill>
              </a:rPr>
              <a:t>sisi-sisi</a:t>
            </a:r>
            <a:r>
              <a:rPr lang="en-US" altLang="en-US" dirty="0">
                <a:solidFill>
                  <a:srgbClr val="050507"/>
                </a:solidFill>
              </a:rPr>
              <a:t> yang </a:t>
            </a:r>
            <a:r>
              <a:rPr lang="en-US" altLang="en-US" dirty="0" err="1">
                <a:solidFill>
                  <a:srgbClr val="050507"/>
                </a:solidFill>
              </a:rPr>
              <a:t>berpotongan</a:t>
            </a:r>
            <a:r>
              <a:rPr lang="en-US" altLang="en-US" dirty="0">
                <a:solidFill>
                  <a:srgbClr val="050507"/>
                </a:solidFill>
              </a:rPr>
              <a:t> (</a:t>
            </a:r>
            <a:r>
              <a:rPr lang="en-US" altLang="en-US" dirty="0" err="1">
                <a:solidFill>
                  <a:srgbClr val="050507"/>
                </a:solidFill>
              </a:rPr>
              <a:t>menjadi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dirty="0" err="1">
                <a:solidFill>
                  <a:srgbClr val="050507"/>
                </a:solidFill>
              </a:rPr>
              <a:t>graf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dirty="0" err="1">
                <a:solidFill>
                  <a:srgbClr val="050507"/>
                </a:solidFill>
              </a:rPr>
              <a:t>bidang</a:t>
            </a:r>
            <a:r>
              <a:rPr lang="en-US" altLang="en-US" dirty="0">
                <a:solidFill>
                  <a:srgbClr val="050507"/>
                </a:solidFill>
              </a:rPr>
              <a:t>). (</a:t>
            </a:r>
            <a:r>
              <a:rPr lang="en-US" altLang="en-US" dirty="0" err="1">
                <a:solidFill>
                  <a:srgbClr val="050507"/>
                </a:solidFill>
              </a:rPr>
              <a:t>Solusi</a:t>
            </a:r>
            <a:r>
              <a:rPr lang="en-US" altLang="en-US" dirty="0">
                <a:solidFill>
                  <a:srgbClr val="050507"/>
                </a:solidFill>
              </a:rPr>
              <a:t>: </a:t>
            </a:r>
            <a:r>
              <a:rPr lang="en-US" altLang="en-US" dirty="0" err="1">
                <a:solidFill>
                  <a:srgbClr val="050507"/>
                </a:solidFill>
              </a:rPr>
              <a:t>graf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dirty="0" err="1">
                <a:solidFill>
                  <a:srgbClr val="050507"/>
                </a:solidFill>
              </a:rPr>
              <a:t>kanan</a:t>
            </a:r>
            <a:r>
              <a:rPr lang="en-US" altLang="en-US" dirty="0">
                <a:solidFill>
                  <a:srgbClr val="050507"/>
                </a:solidFill>
              </a:rPr>
              <a:t>)</a:t>
            </a:r>
          </a:p>
        </p:txBody>
      </p:sp>
      <p:pic>
        <p:nvPicPr>
          <p:cNvPr id="101382" name="Picture 4">
            <a:extLst>
              <a:ext uri="{FF2B5EF4-FFF2-40B4-BE49-F238E27FC236}">
                <a16:creationId xmlns:a16="http://schemas.microsoft.com/office/drawing/2014/main" id="{01FDB912-50B4-494E-9356-BBAC233F0C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5934" y="3012440"/>
            <a:ext cx="7976461" cy="292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3" name="Slide Number Placeholder 5">
            <a:extLst>
              <a:ext uri="{FF2B5EF4-FFF2-40B4-BE49-F238E27FC236}">
                <a16:creationId xmlns:a16="http://schemas.microsoft.com/office/drawing/2014/main" id="{CF010F3F-0288-4D18-9BAE-8EDAA228F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B0C4D0F9-3E85-46C5-9CB5-48FBB9664635}" type="slidenum">
              <a:rPr lang="en-GB" altLang="en-US" sz="1400"/>
              <a:pPr eaLnBrk="1" hangingPunct="1"/>
              <a:t>39</a:t>
            </a:fld>
            <a:endParaRPr lang="en-GB" altLang="en-US" sz="1400"/>
          </a:p>
        </p:txBody>
      </p:sp>
      <p:sp>
        <p:nvSpPr>
          <p:cNvPr id="102404" name="Rectangle 3">
            <a:extLst>
              <a:ext uri="{FF2B5EF4-FFF2-40B4-BE49-F238E27FC236}">
                <a16:creationId xmlns:a16="http://schemas.microsoft.com/office/drawing/2014/main" id="{D64A8C0D-A478-4AAA-8C1C-8B17BAC586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5680" y="981076"/>
            <a:ext cx="10210800" cy="5114925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 err="1">
                <a:solidFill>
                  <a:srgbClr val="050507"/>
                </a:solidFill>
              </a:rPr>
              <a:t>Sisi-sisi</a:t>
            </a:r>
            <a:r>
              <a:rPr lang="en-US" altLang="en-US" dirty="0">
                <a:solidFill>
                  <a:srgbClr val="050507"/>
                </a:solidFill>
              </a:rPr>
              <a:t> pada </a:t>
            </a:r>
            <a:r>
              <a:rPr lang="en-US" altLang="en-US" dirty="0" err="1">
                <a:solidFill>
                  <a:srgbClr val="050507"/>
                </a:solidFill>
              </a:rPr>
              <a:t>graf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dirty="0" err="1">
                <a:solidFill>
                  <a:srgbClr val="050507"/>
                </a:solidFill>
              </a:rPr>
              <a:t>bidang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dirty="0" err="1">
                <a:solidFill>
                  <a:srgbClr val="050507"/>
                </a:solidFill>
              </a:rPr>
              <a:t>membagi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dirty="0" err="1">
                <a:solidFill>
                  <a:srgbClr val="050507"/>
                </a:solidFill>
              </a:rPr>
              <a:t>bidang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dirty="0" err="1">
                <a:solidFill>
                  <a:srgbClr val="050507"/>
                </a:solidFill>
              </a:rPr>
              <a:t>datar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dirty="0" err="1">
                <a:solidFill>
                  <a:srgbClr val="050507"/>
                </a:solidFill>
              </a:rPr>
              <a:t>menjadi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dirty="0" err="1">
                <a:solidFill>
                  <a:srgbClr val="050507"/>
                </a:solidFill>
              </a:rPr>
              <a:t>beberapa</a:t>
            </a:r>
            <a:r>
              <a:rPr lang="en-US" altLang="en-US" dirty="0">
                <a:solidFill>
                  <a:srgbClr val="050507"/>
                </a:solidFill>
              </a:rPr>
              <a:t> wilayah (</a:t>
            </a:r>
            <a:r>
              <a:rPr lang="en-US" altLang="en-US" i="1" dirty="0">
                <a:solidFill>
                  <a:srgbClr val="050507"/>
                </a:solidFill>
              </a:rPr>
              <a:t>region</a:t>
            </a:r>
            <a:r>
              <a:rPr lang="en-US" altLang="en-US" dirty="0">
                <a:solidFill>
                  <a:srgbClr val="050507"/>
                </a:solidFill>
              </a:rPr>
              <a:t>) </a:t>
            </a:r>
            <a:r>
              <a:rPr lang="en-US" altLang="en-US" dirty="0" err="1">
                <a:solidFill>
                  <a:srgbClr val="050507"/>
                </a:solidFill>
              </a:rPr>
              <a:t>atau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dirty="0" err="1">
                <a:solidFill>
                  <a:srgbClr val="050507"/>
                </a:solidFill>
              </a:rPr>
              <a:t>muka</a:t>
            </a:r>
            <a:r>
              <a:rPr lang="en-US" altLang="en-US" dirty="0">
                <a:solidFill>
                  <a:srgbClr val="050507"/>
                </a:solidFill>
              </a:rPr>
              <a:t> (</a:t>
            </a:r>
            <a:r>
              <a:rPr lang="en-US" altLang="en-US" i="1" dirty="0">
                <a:solidFill>
                  <a:srgbClr val="050507"/>
                </a:solidFill>
              </a:rPr>
              <a:t>face</a:t>
            </a:r>
            <a:r>
              <a:rPr lang="en-US" altLang="en-US" dirty="0">
                <a:solidFill>
                  <a:srgbClr val="050507"/>
                </a:solidFill>
              </a:rPr>
              <a:t>). </a:t>
            </a:r>
          </a:p>
          <a:p>
            <a:pPr eaLnBrk="1" hangingPunct="1"/>
            <a:endParaRPr lang="en-US" altLang="en-US" dirty="0">
              <a:solidFill>
                <a:srgbClr val="050507"/>
              </a:solidFill>
            </a:endParaRPr>
          </a:p>
          <a:p>
            <a:pPr eaLnBrk="1" hangingPunct="1"/>
            <a:r>
              <a:rPr lang="en-US" altLang="en-US" dirty="0">
                <a:solidFill>
                  <a:srgbClr val="050507"/>
                </a:solidFill>
              </a:rPr>
              <a:t>Graf </a:t>
            </a:r>
            <a:r>
              <a:rPr lang="en-US" altLang="en-US" dirty="0" err="1">
                <a:solidFill>
                  <a:srgbClr val="050507"/>
                </a:solidFill>
              </a:rPr>
              <a:t>bidang</a:t>
            </a:r>
            <a:r>
              <a:rPr lang="en-US" altLang="en-US" dirty="0">
                <a:solidFill>
                  <a:srgbClr val="050507"/>
                </a:solidFill>
              </a:rPr>
              <a:t> pada </a:t>
            </a:r>
            <a:r>
              <a:rPr lang="en-US" altLang="en-US" dirty="0" err="1">
                <a:solidFill>
                  <a:srgbClr val="050507"/>
                </a:solidFill>
              </a:rPr>
              <a:t>gambar</a:t>
            </a:r>
            <a:r>
              <a:rPr lang="en-US" altLang="en-US" dirty="0">
                <a:solidFill>
                  <a:srgbClr val="050507"/>
                </a:solidFill>
              </a:rPr>
              <a:t> di </a:t>
            </a:r>
            <a:r>
              <a:rPr lang="en-US" altLang="en-US" dirty="0" err="1">
                <a:solidFill>
                  <a:srgbClr val="050507"/>
                </a:solidFill>
              </a:rPr>
              <a:t>bawah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dirty="0" err="1">
                <a:solidFill>
                  <a:srgbClr val="050507"/>
                </a:solidFill>
              </a:rPr>
              <a:t>initerdiri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dirty="0" err="1">
                <a:solidFill>
                  <a:srgbClr val="050507"/>
                </a:solidFill>
              </a:rPr>
              <a:t>atas</a:t>
            </a:r>
            <a:r>
              <a:rPr lang="en-US" altLang="en-US" dirty="0">
                <a:solidFill>
                  <a:srgbClr val="050507"/>
                </a:solidFill>
              </a:rPr>
              <a:t> 6 wilayah (</a:t>
            </a:r>
            <a:r>
              <a:rPr lang="en-US" altLang="en-US" dirty="0" err="1">
                <a:solidFill>
                  <a:srgbClr val="050507"/>
                </a:solidFill>
              </a:rPr>
              <a:t>termasuk</a:t>
            </a:r>
            <a:r>
              <a:rPr lang="en-US" altLang="en-US" dirty="0">
                <a:solidFill>
                  <a:srgbClr val="050507"/>
                </a:solidFill>
              </a:rPr>
              <a:t> wilayah </a:t>
            </a:r>
            <a:r>
              <a:rPr lang="en-US" altLang="en-US" dirty="0" err="1">
                <a:solidFill>
                  <a:srgbClr val="050507"/>
                </a:solidFill>
              </a:rPr>
              <a:t>terluar</a:t>
            </a:r>
            <a:r>
              <a:rPr lang="en-US" altLang="en-US" dirty="0">
                <a:solidFill>
                  <a:srgbClr val="050507"/>
                </a:solidFill>
              </a:rPr>
              <a:t>):</a:t>
            </a:r>
          </a:p>
        </p:txBody>
      </p:sp>
      <p:pic>
        <p:nvPicPr>
          <p:cNvPr id="102405" name="Picture 4">
            <a:extLst>
              <a:ext uri="{FF2B5EF4-FFF2-40B4-BE49-F238E27FC236}">
                <a16:creationId xmlns:a16="http://schemas.microsoft.com/office/drawing/2014/main" id="{FA13F2DF-CEB0-4EFC-9E6C-330EA9F40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6731" y="3673473"/>
            <a:ext cx="5462903" cy="2422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7" name="Slide Number Placeholder 5">
            <a:extLst>
              <a:ext uri="{FF2B5EF4-FFF2-40B4-BE49-F238E27FC236}">
                <a16:creationId xmlns:a16="http://schemas.microsoft.com/office/drawing/2014/main" id="{E248097D-63A7-4591-B61A-C3169765E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680516E5-D85F-4045-A561-303DA744DE75}" type="slidenum">
              <a:rPr lang="en-GB" altLang="en-US" sz="1400"/>
              <a:pPr eaLnBrk="1" hangingPunct="1"/>
              <a:t>40</a:t>
            </a:fld>
            <a:endParaRPr lang="en-GB" altLang="en-US" sz="1400"/>
          </a:p>
        </p:txBody>
      </p:sp>
      <p:sp>
        <p:nvSpPr>
          <p:cNvPr id="103428" name="Rectangle 3">
            <a:extLst>
              <a:ext uri="{FF2B5EF4-FFF2-40B4-BE49-F238E27FC236}">
                <a16:creationId xmlns:a16="http://schemas.microsoft.com/office/drawing/2014/main" id="{229E611A-426C-41FD-A14F-BACECE02C5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65200" y="981076"/>
            <a:ext cx="10388600" cy="5114925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 err="1">
                <a:solidFill>
                  <a:srgbClr val="050507"/>
                </a:solidFill>
              </a:rPr>
              <a:t>Hubungan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dirty="0" err="1">
                <a:solidFill>
                  <a:srgbClr val="050507"/>
                </a:solidFill>
              </a:rPr>
              <a:t>antara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dirty="0" err="1">
                <a:solidFill>
                  <a:srgbClr val="050507"/>
                </a:solidFill>
              </a:rPr>
              <a:t>jumlah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dirty="0" err="1">
                <a:solidFill>
                  <a:srgbClr val="050507"/>
                </a:solidFill>
              </a:rPr>
              <a:t>simpul</a:t>
            </a:r>
            <a:r>
              <a:rPr lang="en-US" altLang="en-US" sz="2400" dirty="0">
                <a:solidFill>
                  <a:srgbClr val="050507"/>
                </a:solidFill>
              </a:rPr>
              <a:t> (</a:t>
            </a:r>
            <a:r>
              <a:rPr lang="en-US" altLang="en-US" sz="2400" i="1" dirty="0">
                <a:solidFill>
                  <a:srgbClr val="050507"/>
                </a:solidFill>
              </a:rPr>
              <a:t>n</a:t>
            </a:r>
            <a:r>
              <a:rPr lang="en-US" altLang="en-US" sz="2400" dirty="0">
                <a:solidFill>
                  <a:srgbClr val="050507"/>
                </a:solidFill>
              </a:rPr>
              <a:t>), </a:t>
            </a:r>
            <a:r>
              <a:rPr lang="en-US" altLang="en-US" sz="2400" dirty="0" err="1">
                <a:solidFill>
                  <a:srgbClr val="050507"/>
                </a:solidFill>
              </a:rPr>
              <a:t>jumlah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dirty="0" err="1">
                <a:solidFill>
                  <a:srgbClr val="050507"/>
                </a:solidFill>
              </a:rPr>
              <a:t>sisi</a:t>
            </a:r>
            <a:r>
              <a:rPr lang="en-US" altLang="en-US" sz="2400" dirty="0">
                <a:solidFill>
                  <a:srgbClr val="050507"/>
                </a:solidFill>
              </a:rPr>
              <a:t> (</a:t>
            </a:r>
            <a:r>
              <a:rPr lang="en-US" altLang="en-US" sz="2400" i="1" dirty="0">
                <a:solidFill>
                  <a:srgbClr val="050507"/>
                </a:solidFill>
              </a:rPr>
              <a:t>e</a:t>
            </a:r>
            <a:r>
              <a:rPr lang="en-US" altLang="en-US" sz="2400" dirty="0">
                <a:solidFill>
                  <a:srgbClr val="050507"/>
                </a:solidFill>
              </a:rPr>
              <a:t>), dan </a:t>
            </a:r>
            <a:r>
              <a:rPr lang="en-US" altLang="en-US" sz="2400" dirty="0" err="1">
                <a:solidFill>
                  <a:srgbClr val="050507"/>
                </a:solidFill>
              </a:rPr>
              <a:t>jumlah</a:t>
            </a:r>
            <a:r>
              <a:rPr lang="en-US" altLang="en-US" sz="2400" dirty="0">
                <a:solidFill>
                  <a:srgbClr val="050507"/>
                </a:solidFill>
              </a:rPr>
              <a:t> wilayah (</a:t>
            </a:r>
            <a:r>
              <a:rPr lang="en-US" altLang="en-US" sz="2400" i="1" dirty="0">
                <a:solidFill>
                  <a:srgbClr val="050507"/>
                </a:solidFill>
              </a:rPr>
              <a:t>f</a:t>
            </a:r>
            <a:r>
              <a:rPr lang="en-US" altLang="en-US" sz="2400" dirty="0">
                <a:solidFill>
                  <a:srgbClr val="050507"/>
                </a:solidFill>
              </a:rPr>
              <a:t>) pada </a:t>
            </a:r>
            <a:r>
              <a:rPr lang="en-US" altLang="en-US" sz="2400" dirty="0" err="1">
                <a:solidFill>
                  <a:srgbClr val="050507"/>
                </a:solidFill>
              </a:rPr>
              <a:t>graf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dirty="0" err="1">
                <a:solidFill>
                  <a:srgbClr val="050507"/>
                </a:solidFill>
              </a:rPr>
              <a:t>bidang</a:t>
            </a:r>
            <a:r>
              <a:rPr lang="en-US" altLang="en-US" sz="2400" dirty="0">
                <a:solidFill>
                  <a:srgbClr val="050507"/>
                </a:solidFill>
              </a:rPr>
              <a:t>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BR" altLang="en-US" i="1" dirty="0"/>
              <a:t>		</a:t>
            </a:r>
            <a:r>
              <a:rPr lang="pt-BR" altLang="en-US" i="1" dirty="0">
                <a:solidFill>
                  <a:srgbClr val="050507"/>
                </a:solidFill>
              </a:rPr>
              <a:t>n – e + f</a:t>
            </a:r>
            <a:r>
              <a:rPr lang="pt-BR" altLang="en-US" dirty="0">
                <a:solidFill>
                  <a:srgbClr val="050507"/>
                </a:solidFill>
              </a:rPr>
              <a:t> = 2	</a:t>
            </a:r>
            <a:r>
              <a:rPr lang="en-US" altLang="en-US" dirty="0"/>
              <a:t> (</a:t>
            </a:r>
            <a:r>
              <a:rPr lang="en-US" altLang="en-US" dirty="0" err="1"/>
              <a:t>Rumus</a:t>
            </a:r>
            <a:r>
              <a:rPr lang="en-US" altLang="en-US" dirty="0"/>
              <a:t> Euler)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dirty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dirty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dirty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dirty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dirty="0"/>
          </a:p>
          <a:p>
            <a:pPr eaLnBrk="1" hangingPunct="1">
              <a:lnSpc>
                <a:spcPct val="90000"/>
              </a:lnSpc>
            </a:pPr>
            <a:endParaRPr lang="pt-BR" altLang="en-US" sz="2400" dirty="0">
              <a:solidFill>
                <a:srgbClr val="050507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pt-BR" altLang="en-US" sz="2400" dirty="0">
                <a:solidFill>
                  <a:srgbClr val="050507"/>
                </a:solidFill>
              </a:rPr>
              <a:t>Pada Gambar di atas, </a:t>
            </a:r>
            <a:r>
              <a:rPr lang="pt-BR" altLang="en-US" sz="2400" i="1" dirty="0">
                <a:solidFill>
                  <a:srgbClr val="050507"/>
                </a:solidFill>
              </a:rPr>
              <a:t>e </a:t>
            </a:r>
            <a:r>
              <a:rPr lang="pt-BR" altLang="en-US" sz="2400" dirty="0">
                <a:solidFill>
                  <a:srgbClr val="050507"/>
                </a:solidFill>
              </a:rPr>
              <a:t>= 11 dan </a:t>
            </a:r>
            <a:r>
              <a:rPr lang="pt-BR" altLang="en-US" sz="2400" i="1" dirty="0">
                <a:solidFill>
                  <a:srgbClr val="050507"/>
                </a:solidFill>
              </a:rPr>
              <a:t>n</a:t>
            </a:r>
            <a:r>
              <a:rPr lang="pt-BR" altLang="en-US" sz="2400" dirty="0">
                <a:solidFill>
                  <a:srgbClr val="050507"/>
                </a:solidFill>
              </a:rPr>
              <a:t> = 7, </a:t>
            </a:r>
            <a:r>
              <a:rPr lang="pt-BR" altLang="en-US" sz="2400" i="1" dirty="0">
                <a:solidFill>
                  <a:srgbClr val="050507"/>
                </a:solidFill>
              </a:rPr>
              <a:t>f </a:t>
            </a:r>
            <a:r>
              <a:rPr lang="pt-BR" altLang="en-US" sz="2400" dirty="0">
                <a:solidFill>
                  <a:srgbClr val="050507"/>
                </a:solidFill>
              </a:rPr>
              <a:t>= 6, maka  </a:t>
            </a:r>
            <a:r>
              <a:rPr lang="pt-BR" altLang="en-US" sz="2400" i="1" dirty="0">
                <a:solidFill>
                  <a:srgbClr val="050507"/>
                </a:solidFill>
              </a:rPr>
              <a:t>7</a:t>
            </a:r>
            <a:r>
              <a:rPr lang="pt-BR" altLang="en-US" sz="2400" dirty="0">
                <a:solidFill>
                  <a:srgbClr val="050507"/>
                </a:solidFill>
              </a:rPr>
              <a:t> – 11 + 6 = 2. </a:t>
            </a:r>
            <a:endParaRPr lang="en-US" altLang="en-US" sz="2400" dirty="0">
              <a:solidFill>
                <a:srgbClr val="050507"/>
              </a:solidFill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2400" dirty="0">
              <a:solidFill>
                <a:srgbClr val="050507"/>
              </a:solidFill>
            </a:endParaRPr>
          </a:p>
        </p:txBody>
      </p:sp>
      <p:pic>
        <p:nvPicPr>
          <p:cNvPr id="103429" name="Picture 4">
            <a:extLst>
              <a:ext uri="{FF2B5EF4-FFF2-40B4-BE49-F238E27FC236}">
                <a16:creationId xmlns:a16="http://schemas.microsoft.com/office/drawing/2014/main" id="{2167FEBA-132F-4B46-80DC-C18AC9734F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0395" y="2470943"/>
            <a:ext cx="5446546" cy="24160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1" name="Slide Number Placeholder 5">
            <a:extLst>
              <a:ext uri="{FF2B5EF4-FFF2-40B4-BE49-F238E27FC236}">
                <a16:creationId xmlns:a16="http://schemas.microsoft.com/office/drawing/2014/main" id="{85C20733-6513-4757-B1AF-FEF4AE40B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1B5ACFD-9E23-415C-A8E0-FC6BADCBAD0A}" type="slidenum">
              <a:rPr lang="en-GB" altLang="en-US" sz="1400"/>
              <a:pPr eaLnBrk="1" hangingPunct="1"/>
              <a:t>41</a:t>
            </a:fld>
            <a:endParaRPr lang="en-GB" altLang="en-US" sz="1400"/>
          </a:p>
        </p:txBody>
      </p:sp>
      <p:sp>
        <p:nvSpPr>
          <p:cNvPr id="104452" name="Rectangle 2">
            <a:extLst>
              <a:ext uri="{FF2B5EF4-FFF2-40B4-BE49-F238E27FC236}">
                <a16:creationId xmlns:a16="http://schemas.microsoft.com/office/drawing/2014/main" id="{99A9878A-627C-4503-8AB0-F11D8D134D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Latihan</a:t>
            </a:r>
          </a:p>
        </p:txBody>
      </p:sp>
      <p:sp>
        <p:nvSpPr>
          <p:cNvPr id="104453" name="Rectangle 3">
            <a:extLst>
              <a:ext uri="{FF2B5EF4-FFF2-40B4-BE49-F238E27FC236}">
                <a16:creationId xmlns:a16="http://schemas.microsoft.com/office/drawing/2014/main" id="{C3F22A39-3CDA-4C13-9D0A-7594E5DDFE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err="1">
                <a:solidFill>
                  <a:srgbClr val="050507"/>
                </a:solidFill>
              </a:rPr>
              <a:t>Misalkan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dirty="0" err="1">
                <a:solidFill>
                  <a:srgbClr val="050507"/>
                </a:solidFill>
              </a:rPr>
              <a:t>graf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dirty="0" err="1">
                <a:solidFill>
                  <a:srgbClr val="050507"/>
                </a:solidFill>
              </a:rPr>
              <a:t>sederhana</a:t>
            </a:r>
            <a:r>
              <a:rPr lang="en-US" altLang="en-US" dirty="0">
                <a:solidFill>
                  <a:srgbClr val="050507"/>
                </a:solidFill>
              </a:rPr>
              <a:t> planar </a:t>
            </a:r>
            <a:r>
              <a:rPr lang="en-US" altLang="en-US" dirty="0" err="1">
                <a:solidFill>
                  <a:srgbClr val="050507"/>
                </a:solidFill>
              </a:rPr>
              <a:t>memiliki</a:t>
            </a:r>
            <a:r>
              <a:rPr lang="en-US" altLang="en-US" dirty="0">
                <a:solidFill>
                  <a:srgbClr val="050507"/>
                </a:solidFill>
              </a:rPr>
              <a:t> 24 </a:t>
            </a:r>
            <a:r>
              <a:rPr lang="en-US" altLang="en-US" dirty="0" err="1">
                <a:solidFill>
                  <a:srgbClr val="050507"/>
                </a:solidFill>
              </a:rPr>
              <a:t>buah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dirty="0" err="1">
                <a:solidFill>
                  <a:srgbClr val="050507"/>
                </a:solidFill>
              </a:rPr>
              <a:t>simpul</a:t>
            </a:r>
            <a:r>
              <a:rPr lang="en-US" altLang="en-US" dirty="0">
                <a:solidFill>
                  <a:srgbClr val="050507"/>
                </a:solidFill>
              </a:rPr>
              <a:t>, </a:t>
            </a:r>
            <a:r>
              <a:rPr lang="en-US" altLang="en-US" dirty="0" err="1">
                <a:solidFill>
                  <a:srgbClr val="050507"/>
                </a:solidFill>
              </a:rPr>
              <a:t>masing-masing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dirty="0" err="1">
                <a:solidFill>
                  <a:srgbClr val="050507"/>
                </a:solidFill>
              </a:rPr>
              <a:t>simpul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dirty="0" err="1">
                <a:solidFill>
                  <a:srgbClr val="050507"/>
                </a:solidFill>
              </a:rPr>
              <a:t>berderajat</a:t>
            </a:r>
            <a:r>
              <a:rPr lang="en-US" altLang="en-US" dirty="0">
                <a:solidFill>
                  <a:srgbClr val="050507"/>
                </a:solidFill>
              </a:rPr>
              <a:t> 4. </a:t>
            </a:r>
            <a:r>
              <a:rPr lang="en-US" altLang="en-US" dirty="0" err="1">
                <a:solidFill>
                  <a:srgbClr val="050507"/>
                </a:solidFill>
              </a:rPr>
              <a:t>Representasi</a:t>
            </a:r>
            <a:r>
              <a:rPr lang="en-US" altLang="en-US" dirty="0">
                <a:solidFill>
                  <a:srgbClr val="050507"/>
                </a:solidFill>
              </a:rPr>
              <a:t> planar </a:t>
            </a:r>
            <a:r>
              <a:rPr lang="en-US" altLang="en-US" dirty="0" err="1">
                <a:solidFill>
                  <a:srgbClr val="050507"/>
                </a:solidFill>
              </a:rPr>
              <a:t>dari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dirty="0" err="1">
                <a:solidFill>
                  <a:srgbClr val="050507"/>
                </a:solidFill>
              </a:rPr>
              <a:t>graf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dirty="0" err="1">
                <a:solidFill>
                  <a:srgbClr val="050507"/>
                </a:solidFill>
              </a:rPr>
              <a:t>tersebut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dirty="0" err="1">
                <a:solidFill>
                  <a:srgbClr val="050507"/>
                </a:solidFill>
              </a:rPr>
              <a:t>membagi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dirty="0" err="1">
                <a:solidFill>
                  <a:srgbClr val="050507"/>
                </a:solidFill>
              </a:rPr>
              <a:t>bidang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dirty="0" err="1">
                <a:solidFill>
                  <a:srgbClr val="050507"/>
                </a:solidFill>
              </a:rPr>
              <a:t>datar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dirty="0" err="1">
                <a:solidFill>
                  <a:srgbClr val="050507"/>
                </a:solidFill>
              </a:rPr>
              <a:t>menjadi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dirty="0" err="1">
                <a:solidFill>
                  <a:srgbClr val="050507"/>
                </a:solidFill>
              </a:rPr>
              <a:t>sejumlah</a:t>
            </a:r>
            <a:r>
              <a:rPr lang="en-US" altLang="en-US" dirty="0">
                <a:solidFill>
                  <a:srgbClr val="050507"/>
                </a:solidFill>
              </a:rPr>
              <a:t> wilayah </a:t>
            </a:r>
            <a:r>
              <a:rPr lang="en-US" altLang="en-US" dirty="0" err="1">
                <a:solidFill>
                  <a:srgbClr val="050507"/>
                </a:solidFill>
              </a:rPr>
              <a:t>atau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dirty="0" err="1">
                <a:solidFill>
                  <a:srgbClr val="050507"/>
                </a:solidFill>
              </a:rPr>
              <a:t>muka</a:t>
            </a:r>
            <a:r>
              <a:rPr lang="en-US" altLang="en-US" dirty="0">
                <a:solidFill>
                  <a:srgbClr val="050507"/>
                </a:solidFill>
              </a:rPr>
              <a:t>. </a:t>
            </a:r>
            <a:r>
              <a:rPr lang="en-US" altLang="en-US" dirty="0" err="1">
                <a:solidFill>
                  <a:srgbClr val="050507"/>
                </a:solidFill>
              </a:rPr>
              <a:t>Berapa</a:t>
            </a:r>
            <a:r>
              <a:rPr lang="en-US" altLang="en-US" dirty="0">
                <a:solidFill>
                  <a:srgbClr val="050507"/>
                </a:solidFill>
              </a:rPr>
              <a:t> </a:t>
            </a:r>
            <a:r>
              <a:rPr lang="en-US" altLang="en-US" dirty="0" err="1">
                <a:solidFill>
                  <a:srgbClr val="050507"/>
                </a:solidFill>
              </a:rPr>
              <a:t>banyak</a:t>
            </a:r>
            <a:r>
              <a:rPr lang="en-US" altLang="en-US" dirty="0">
                <a:solidFill>
                  <a:srgbClr val="050507"/>
                </a:solidFill>
              </a:rPr>
              <a:t> wilayah yang </a:t>
            </a:r>
            <a:r>
              <a:rPr lang="en-US" altLang="en-US" dirty="0" err="1">
                <a:solidFill>
                  <a:srgbClr val="050507"/>
                </a:solidFill>
              </a:rPr>
              <a:t>terbentuk</a:t>
            </a:r>
            <a:r>
              <a:rPr lang="en-US" altLang="en-US" dirty="0">
                <a:solidFill>
                  <a:srgbClr val="050507"/>
                </a:solidFill>
              </a:rPr>
              <a:t>?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5" name="Slide Number Placeholder 5">
            <a:extLst>
              <a:ext uri="{FF2B5EF4-FFF2-40B4-BE49-F238E27FC236}">
                <a16:creationId xmlns:a16="http://schemas.microsoft.com/office/drawing/2014/main" id="{73BC9568-3FD2-4A1B-97C3-5441DBC5F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77378187-C5AD-4D17-9AB4-79710F209EFB}" type="slidenum">
              <a:rPr lang="en-GB" altLang="en-US" sz="1400"/>
              <a:pPr eaLnBrk="1" hangingPunct="1"/>
              <a:t>42</a:t>
            </a:fld>
            <a:endParaRPr lang="en-GB" altLang="en-US" sz="1400"/>
          </a:p>
        </p:txBody>
      </p:sp>
      <p:sp>
        <p:nvSpPr>
          <p:cNvPr id="105476" name="Rectangle 2">
            <a:extLst>
              <a:ext uri="{FF2B5EF4-FFF2-40B4-BE49-F238E27FC236}">
                <a16:creationId xmlns:a16="http://schemas.microsoft.com/office/drawing/2014/main" id="{42B532F0-A820-46EE-99DE-E3529ACB8F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Jawaban:</a:t>
            </a:r>
          </a:p>
        </p:txBody>
      </p:sp>
      <p:sp>
        <p:nvSpPr>
          <p:cNvPr id="105477" name="Rectangle 3">
            <a:extLst>
              <a:ext uri="{FF2B5EF4-FFF2-40B4-BE49-F238E27FC236}">
                <a16:creationId xmlns:a16="http://schemas.microsoft.com/office/drawing/2014/main" id="{E6BBC24E-2A3E-428D-9CA0-525E13BA6B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825625"/>
            <a:ext cx="1092708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400" dirty="0" err="1">
                <a:solidFill>
                  <a:srgbClr val="050507"/>
                </a:solidFill>
              </a:rPr>
              <a:t>Diketahui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i="1" dirty="0">
                <a:solidFill>
                  <a:srgbClr val="050507"/>
                </a:solidFill>
              </a:rPr>
              <a:t>n</a:t>
            </a:r>
            <a:r>
              <a:rPr lang="en-US" altLang="en-US" sz="2400" dirty="0">
                <a:solidFill>
                  <a:srgbClr val="050507"/>
                </a:solidFill>
              </a:rPr>
              <a:t> = </a:t>
            </a:r>
            <a:r>
              <a:rPr lang="en-US" altLang="en-US" sz="2400" dirty="0" err="1">
                <a:solidFill>
                  <a:srgbClr val="050507"/>
                </a:solidFill>
              </a:rPr>
              <a:t>jumlah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dirty="0" err="1">
                <a:solidFill>
                  <a:srgbClr val="050507"/>
                </a:solidFill>
              </a:rPr>
              <a:t>simpul</a:t>
            </a:r>
            <a:r>
              <a:rPr lang="en-US" altLang="en-US" sz="2400" dirty="0">
                <a:solidFill>
                  <a:srgbClr val="050507"/>
                </a:solidFill>
              </a:rPr>
              <a:t> = 24, </a:t>
            </a:r>
            <a:r>
              <a:rPr lang="en-US" altLang="en-US" sz="2400" dirty="0" err="1">
                <a:solidFill>
                  <a:srgbClr val="050507"/>
                </a:solidFill>
              </a:rPr>
              <a:t>maka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dirty="0" err="1">
                <a:solidFill>
                  <a:srgbClr val="050507"/>
                </a:solidFill>
              </a:rPr>
              <a:t>jumlah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dirty="0" err="1">
                <a:solidFill>
                  <a:srgbClr val="050507"/>
                </a:solidFill>
              </a:rPr>
              <a:t>derajat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dirty="0" err="1">
                <a:solidFill>
                  <a:srgbClr val="050507"/>
                </a:solidFill>
              </a:rPr>
              <a:t>seluruh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dirty="0" err="1">
                <a:solidFill>
                  <a:srgbClr val="050507"/>
                </a:solidFill>
              </a:rPr>
              <a:t>simpul</a:t>
            </a:r>
            <a:r>
              <a:rPr lang="en-US" altLang="en-US" sz="2400" dirty="0">
                <a:solidFill>
                  <a:srgbClr val="050507"/>
                </a:solidFill>
              </a:rPr>
              <a:t> = 24 </a:t>
            </a:r>
            <a:r>
              <a:rPr lang="en-US" altLang="en-US" sz="2400" dirty="0">
                <a:solidFill>
                  <a:srgbClr val="050507"/>
                </a:solidFill>
                <a:sym typeface="Symbol" panose="05050102010706020507" pitchFamily="18" charset="2"/>
              </a:rPr>
              <a:t></a:t>
            </a:r>
            <a:r>
              <a:rPr lang="en-US" altLang="en-US" sz="2400" dirty="0">
                <a:solidFill>
                  <a:srgbClr val="050507"/>
                </a:solidFill>
              </a:rPr>
              <a:t> 4 = 96.</a:t>
            </a:r>
          </a:p>
          <a:p>
            <a:pPr marL="0" indent="0">
              <a:buNone/>
            </a:pPr>
            <a:endParaRPr lang="en-US" altLang="en-US" sz="2400" dirty="0">
              <a:solidFill>
                <a:srgbClr val="050507"/>
              </a:solidFill>
            </a:endParaRPr>
          </a:p>
          <a:p>
            <a:pPr marL="0" indent="0">
              <a:buNone/>
            </a:pPr>
            <a:r>
              <a:rPr lang="en-US" altLang="en-US" sz="2400" dirty="0" err="1">
                <a:solidFill>
                  <a:srgbClr val="050507"/>
                </a:solidFill>
              </a:rPr>
              <a:t>Menurut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i="1" dirty="0">
                <a:solidFill>
                  <a:srgbClr val="050507"/>
                </a:solidFill>
              </a:rPr>
              <a:t>lemma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dirty="0" err="1">
                <a:solidFill>
                  <a:srgbClr val="050507"/>
                </a:solidFill>
              </a:rPr>
              <a:t>jabat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dirty="0" err="1">
                <a:solidFill>
                  <a:srgbClr val="050507"/>
                </a:solidFill>
              </a:rPr>
              <a:t>tangan</a:t>
            </a:r>
            <a:r>
              <a:rPr lang="en-US" altLang="en-US" sz="2400" dirty="0">
                <a:solidFill>
                  <a:srgbClr val="050507"/>
                </a:solidFill>
              </a:rPr>
              <a:t>,</a:t>
            </a:r>
          </a:p>
          <a:p>
            <a:pPr marL="0" indent="0">
              <a:buNone/>
            </a:pPr>
            <a:r>
              <a:rPr lang="en-US" altLang="en-US" sz="2400" dirty="0">
                <a:solidFill>
                  <a:srgbClr val="050507"/>
                </a:solidFill>
              </a:rPr>
              <a:t>		 </a:t>
            </a:r>
            <a:r>
              <a:rPr lang="en-US" altLang="en-US" sz="2400" dirty="0" err="1">
                <a:solidFill>
                  <a:srgbClr val="050507"/>
                </a:solidFill>
              </a:rPr>
              <a:t>jumlah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dirty="0" err="1">
                <a:solidFill>
                  <a:srgbClr val="050507"/>
                </a:solidFill>
              </a:rPr>
              <a:t>derajat</a:t>
            </a:r>
            <a:r>
              <a:rPr lang="en-US" altLang="en-US" sz="2400" dirty="0">
                <a:solidFill>
                  <a:srgbClr val="050507"/>
                </a:solidFill>
              </a:rPr>
              <a:t> = 2 </a:t>
            </a:r>
            <a:r>
              <a:rPr lang="en-US" altLang="en-US" sz="2400" dirty="0">
                <a:solidFill>
                  <a:srgbClr val="050507"/>
                </a:solidFill>
                <a:sym typeface="Symbol" panose="05050102010706020507" pitchFamily="18" charset="2"/>
              </a:rPr>
              <a:t>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dirty="0" err="1">
                <a:solidFill>
                  <a:srgbClr val="050507"/>
                </a:solidFill>
              </a:rPr>
              <a:t>jumlah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dirty="0" err="1">
                <a:solidFill>
                  <a:srgbClr val="050507"/>
                </a:solidFill>
              </a:rPr>
              <a:t>sisi</a:t>
            </a:r>
            <a:r>
              <a:rPr lang="en-US" altLang="en-US" sz="2400" dirty="0">
                <a:solidFill>
                  <a:srgbClr val="050507"/>
                </a:solidFill>
              </a:rPr>
              <a:t>,</a:t>
            </a:r>
          </a:p>
          <a:p>
            <a:pPr marL="0" indent="0">
              <a:buNone/>
            </a:pPr>
            <a:r>
              <a:rPr lang="en-US" altLang="en-US" sz="2400" dirty="0" err="1">
                <a:solidFill>
                  <a:srgbClr val="050507"/>
                </a:solidFill>
              </a:rPr>
              <a:t>sehingga</a:t>
            </a:r>
            <a:endParaRPr lang="en-US" altLang="en-US" sz="2400" dirty="0">
              <a:solidFill>
                <a:srgbClr val="050507"/>
              </a:solidFill>
            </a:endParaRPr>
          </a:p>
          <a:p>
            <a:pPr marL="0" indent="0">
              <a:buNone/>
            </a:pPr>
            <a:r>
              <a:rPr lang="en-US" altLang="en-US" sz="2400" dirty="0">
                <a:solidFill>
                  <a:srgbClr val="050507"/>
                </a:solidFill>
              </a:rPr>
              <a:t>		</a:t>
            </a:r>
            <a:r>
              <a:rPr lang="en-US" altLang="en-US" sz="2400" dirty="0" err="1">
                <a:solidFill>
                  <a:srgbClr val="050507"/>
                </a:solidFill>
              </a:rPr>
              <a:t>jumlah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dirty="0" err="1">
                <a:solidFill>
                  <a:srgbClr val="050507"/>
                </a:solidFill>
              </a:rPr>
              <a:t>sisi</a:t>
            </a:r>
            <a:r>
              <a:rPr lang="en-US" altLang="en-US" sz="2400" dirty="0">
                <a:solidFill>
                  <a:srgbClr val="050507"/>
                </a:solidFill>
              </a:rPr>
              <a:t> = </a:t>
            </a:r>
            <a:r>
              <a:rPr lang="en-US" altLang="en-US" sz="2400" i="1" dirty="0">
                <a:solidFill>
                  <a:srgbClr val="050507"/>
                </a:solidFill>
              </a:rPr>
              <a:t>e</a:t>
            </a:r>
            <a:r>
              <a:rPr lang="en-US" altLang="en-US" sz="2400" dirty="0">
                <a:solidFill>
                  <a:srgbClr val="050507"/>
                </a:solidFill>
              </a:rPr>
              <a:t> = </a:t>
            </a:r>
            <a:r>
              <a:rPr lang="en-US" altLang="en-US" sz="2400" dirty="0" err="1">
                <a:solidFill>
                  <a:srgbClr val="050507"/>
                </a:solidFill>
              </a:rPr>
              <a:t>jumlah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dirty="0" err="1">
                <a:solidFill>
                  <a:srgbClr val="050507"/>
                </a:solidFill>
              </a:rPr>
              <a:t>derajat</a:t>
            </a:r>
            <a:r>
              <a:rPr lang="en-US" altLang="en-US" sz="2400" dirty="0">
                <a:solidFill>
                  <a:srgbClr val="050507"/>
                </a:solidFill>
              </a:rPr>
              <a:t>/2 = 96/2 = 48 </a:t>
            </a:r>
          </a:p>
          <a:p>
            <a:pPr marL="0" indent="0">
              <a:buNone/>
            </a:pPr>
            <a:endParaRPr lang="pt-BR" altLang="en-US" sz="2400" dirty="0">
              <a:solidFill>
                <a:srgbClr val="050507"/>
              </a:solidFill>
            </a:endParaRPr>
          </a:p>
          <a:p>
            <a:pPr marL="0" indent="0">
              <a:buNone/>
            </a:pPr>
            <a:r>
              <a:rPr lang="pt-BR" altLang="en-US" sz="2400" dirty="0">
                <a:solidFill>
                  <a:srgbClr val="050507"/>
                </a:solidFill>
              </a:rPr>
              <a:t>Dari rumus Euler, </a:t>
            </a:r>
            <a:r>
              <a:rPr lang="pt-BR" altLang="en-US" sz="2400" i="1" dirty="0">
                <a:solidFill>
                  <a:srgbClr val="050507"/>
                </a:solidFill>
              </a:rPr>
              <a:t>n</a:t>
            </a:r>
            <a:r>
              <a:rPr lang="pt-BR" altLang="en-US" sz="2400" dirty="0">
                <a:solidFill>
                  <a:srgbClr val="050507"/>
                </a:solidFill>
              </a:rPr>
              <a:t> – </a:t>
            </a:r>
            <a:r>
              <a:rPr lang="pt-BR" altLang="en-US" sz="2400" i="1" dirty="0">
                <a:solidFill>
                  <a:srgbClr val="050507"/>
                </a:solidFill>
              </a:rPr>
              <a:t>e</a:t>
            </a:r>
            <a:r>
              <a:rPr lang="pt-BR" altLang="en-US" sz="2400" dirty="0">
                <a:solidFill>
                  <a:srgbClr val="050507"/>
                </a:solidFill>
              </a:rPr>
              <a:t> + </a:t>
            </a:r>
            <a:r>
              <a:rPr lang="pt-BR" altLang="en-US" sz="2400" i="1" dirty="0">
                <a:solidFill>
                  <a:srgbClr val="050507"/>
                </a:solidFill>
              </a:rPr>
              <a:t>f</a:t>
            </a:r>
            <a:r>
              <a:rPr lang="pt-BR" altLang="en-US" sz="2400" dirty="0">
                <a:solidFill>
                  <a:srgbClr val="050507"/>
                </a:solidFill>
              </a:rPr>
              <a:t> = 2, sehingga  </a:t>
            </a:r>
          </a:p>
          <a:p>
            <a:pPr marL="0" indent="0">
              <a:buNone/>
            </a:pPr>
            <a:r>
              <a:rPr lang="pt-BR" altLang="en-US" sz="2400" dirty="0">
                <a:solidFill>
                  <a:srgbClr val="050507"/>
                </a:solidFill>
              </a:rPr>
              <a:t>	 </a:t>
            </a:r>
            <a:r>
              <a:rPr lang="pt-BR" altLang="en-US" sz="2400" i="1" dirty="0">
                <a:solidFill>
                  <a:srgbClr val="050507"/>
                </a:solidFill>
              </a:rPr>
              <a:t>f</a:t>
            </a:r>
            <a:r>
              <a:rPr lang="pt-BR" altLang="en-US" sz="2400" dirty="0">
                <a:solidFill>
                  <a:srgbClr val="050507"/>
                </a:solidFill>
              </a:rPr>
              <a:t> = 2 – </a:t>
            </a:r>
            <a:r>
              <a:rPr lang="pt-BR" altLang="en-US" sz="2400" i="1" dirty="0">
                <a:solidFill>
                  <a:srgbClr val="050507"/>
                </a:solidFill>
              </a:rPr>
              <a:t>n</a:t>
            </a:r>
            <a:r>
              <a:rPr lang="pt-BR" altLang="en-US" sz="2400" dirty="0">
                <a:solidFill>
                  <a:srgbClr val="050507"/>
                </a:solidFill>
              </a:rPr>
              <a:t> + </a:t>
            </a:r>
            <a:r>
              <a:rPr lang="pt-BR" altLang="en-US" sz="2400" i="1" dirty="0">
                <a:solidFill>
                  <a:srgbClr val="050507"/>
                </a:solidFill>
              </a:rPr>
              <a:t>e</a:t>
            </a:r>
            <a:r>
              <a:rPr lang="pt-BR" altLang="en-US" sz="2400" dirty="0">
                <a:solidFill>
                  <a:srgbClr val="050507"/>
                </a:solidFill>
              </a:rPr>
              <a:t> = 2 – 24 + 48 = 26 buah.	 </a:t>
            </a:r>
            <a:endParaRPr lang="en-US" altLang="en-US" sz="2400" dirty="0">
              <a:solidFill>
                <a:srgbClr val="050507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9" name="Slide Number Placeholder 5">
            <a:extLst>
              <a:ext uri="{FF2B5EF4-FFF2-40B4-BE49-F238E27FC236}">
                <a16:creationId xmlns:a16="http://schemas.microsoft.com/office/drawing/2014/main" id="{BC6E1206-363C-4C7F-9123-8A01B10DD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737FAE15-35F5-415C-95B5-359F7F957E6B}" type="slidenum">
              <a:rPr lang="en-GB" altLang="en-US" sz="1400"/>
              <a:pPr eaLnBrk="1" hangingPunct="1"/>
              <a:t>43</a:t>
            </a:fld>
            <a:endParaRPr lang="en-GB" altLang="en-US" sz="1400"/>
          </a:p>
        </p:txBody>
      </p:sp>
      <p:sp>
        <p:nvSpPr>
          <p:cNvPr id="106500" name="Rectangle 3">
            <a:extLst>
              <a:ext uri="{FF2B5EF4-FFF2-40B4-BE49-F238E27FC236}">
                <a16:creationId xmlns:a16="http://schemas.microsoft.com/office/drawing/2014/main" id="{D860FDAF-5980-4728-A7E3-D1BCDE5186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82320" y="908050"/>
            <a:ext cx="10830560" cy="5187950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pt-BR" altLang="en-US" dirty="0">
                <a:solidFill>
                  <a:srgbClr val="050507"/>
                </a:solidFill>
              </a:rPr>
              <a:t>Pada graf planar sederhana terhubung dengan </a:t>
            </a:r>
            <a:r>
              <a:rPr lang="pt-BR" altLang="en-US" i="1" dirty="0">
                <a:solidFill>
                  <a:srgbClr val="050507"/>
                </a:solidFill>
              </a:rPr>
              <a:t>f  </a:t>
            </a:r>
            <a:r>
              <a:rPr lang="pt-BR" altLang="en-US" dirty="0">
                <a:solidFill>
                  <a:srgbClr val="050507"/>
                </a:solidFill>
              </a:rPr>
              <a:t>buah wilayah, </a:t>
            </a:r>
            <a:r>
              <a:rPr lang="pt-BR" altLang="en-US" i="1" dirty="0">
                <a:solidFill>
                  <a:srgbClr val="050507"/>
                </a:solidFill>
              </a:rPr>
              <a:t>n</a:t>
            </a:r>
            <a:r>
              <a:rPr lang="pt-BR" altLang="en-US" dirty="0">
                <a:solidFill>
                  <a:srgbClr val="050507"/>
                </a:solidFill>
              </a:rPr>
              <a:t> buah simpul, dan </a:t>
            </a:r>
            <a:r>
              <a:rPr lang="pt-BR" altLang="en-US" i="1" dirty="0">
                <a:solidFill>
                  <a:srgbClr val="050507"/>
                </a:solidFill>
              </a:rPr>
              <a:t>e</a:t>
            </a:r>
            <a:r>
              <a:rPr lang="pt-BR" altLang="en-US" dirty="0">
                <a:solidFill>
                  <a:srgbClr val="050507"/>
                </a:solidFill>
              </a:rPr>
              <a:t> buah sisi (</a:t>
            </a:r>
            <a:r>
              <a:rPr lang="pt-BR" altLang="en-US" i="1" dirty="0">
                <a:solidFill>
                  <a:srgbClr val="050507"/>
                </a:solidFill>
              </a:rPr>
              <a:t>e</a:t>
            </a:r>
            <a:r>
              <a:rPr lang="pt-BR" altLang="en-US" dirty="0">
                <a:solidFill>
                  <a:srgbClr val="050507"/>
                </a:solidFill>
              </a:rPr>
              <a:t> &gt; 2) selalu berlaku: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t-BR" altLang="en-US" dirty="0">
                <a:solidFill>
                  <a:srgbClr val="050507"/>
                </a:solidFill>
              </a:rPr>
              <a:t>			</a:t>
            </a:r>
            <a:r>
              <a:rPr lang="pt-BR" altLang="en-US" i="1" dirty="0">
                <a:solidFill>
                  <a:srgbClr val="050507"/>
                </a:solidFill>
              </a:rPr>
              <a:t>e </a:t>
            </a:r>
            <a:r>
              <a:rPr lang="en-US" altLang="en-US" dirty="0">
                <a:solidFill>
                  <a:srgbClr val="050507"/>
                </a:solidFill>
                <a:sym typeface="Symbol" panose="05050102010706020507" pitchFamily="18" charset="2"/>
              </a:rPr>
              <a:t></a:t>
            </a:r>
            <a:r>
              <a:rPr lang="pt-BR" altLang="en-US" dirty="0">
                <a:solidFill>
                  <a:srgbClr val="050507"/>
                </a:solidFill>
              </a:rPr>
              <a:t> 3</a:t>
            </a:r>
            <a:r>
              <a:rPr lang="pt-BR" altLang="en-US" i="1" dirty="0">
                <a:solidFill>
                  <a:srgbClr val="050507"/>
                </a:solidFill>
              </a:rPr>
              <a:t>n</a:t>
            </a:r>
            <a:r>
              <a:rPr lang="pt-BR" altLang="en-US" dirty="0">
                <a:solidFill>
                  <a:srgbClr val="050507"/>
                </a:solidFill>
              </a:rPr>
              <a:t> – 6</a:t>
            </a:r>
          </a:p>
          <a:p>
            <a:pPr eaLnBrk="1" hangingPunct="1">
              <a:lnSpc>
                <a:spcPct val="80000"/>
              </a:lnSpc>
            </a:pPr>
            <a:endParaRPr lang="pt-BR" altLang="en-US" dirty="0">
              <a:solidFill>
                <a:srgbClr val="050507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pt-BR" altLang="en-US" dirty="0">
                <a:solidFill>
                  <a:srgbClr val="050507"/>
                </a:solidFill>
              </a:rPr>
              <a:t>Ketidaksamaan yang terakhir dinamakan </a:t>
            </a:r>
            <a:r>
              <a:rPr lang="pt-BR" altLang="en-US" b="1" dirty="0">
                <a:solidFill>
                  <a:srgbClr val="050507"/>
                </a:solidFill>
              </a:rPr>
              <a:t>ketidaksamaan Euler</a:t>
            </a:r>
            <a:r>
              <a:rPr lang="pt-BR" altLang="en-US" dirty="0">
                <a:solidFill>
                  <a:srgbClr val="050507"/>
                </a:solidFill>
              </a:rPr>
              <a:t>, </a:t>
            </a:r>
          </a:p>
          <a:p>
            <a:pPr eaLnBrk="1" hangingPunct="1">
              <a:lnSpc>
                <a:spcPct val="80000"/>
              </a:lnSpc>
            </a:pPr>
            <a:endParaRPr lang="pt-BR" altLang="en-US" dirty="0">
              <a:solidFill>
                <a:srgbClr val="050507"/>
              </a:solidFill>
            </a:endParaRPr>
          </a:p>
          <a:p>
            <a:pPr>
              <a:lnSpc>
                <a:spcPct val="80000"/>
              </a:lnSpc>
            </a:pPr>
            <a:r>
              <a:rPr lang="pt-BR" altLang="en-US" dirty="0">
                <a:solidFill>
                  <a:srgbClr val="050507"/>
                </a:solidFill>
              </a:rPr>
              <a:t>Ketidaksamaan ini dapat digunakan untuk menunjukkan keplanaran suatu graf sederhana </a:t>
            </a:r>
          </a:p>
          <a:p>
            <a:pPr eaLnBrk="1" hangingPunct="1">
              <a:lnSpc>
                <a:spcPct val="80000"/>
              </a:lnSpc>
            </a:pPr>
            <a:endParaRPr lang="pt-BR" altLang="en-US" dirty="0">
              <a:solidFill>
                <a:srgbClr val="050507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pt-BR" altLang="en-US" dirty="0">
                <a:solidFill>
                  <a:srgbClr val="050507"/>
                </a:solidFill>
              </a:rPr>
              <a:t>Jika sebuah graf planar, maka ia memenuhi ketidaksamaan Euler, sebaliknya jika tidak planar maka ketidaksamaan tersebut tidak dipenuhi.</a:t>
            </a:r>
            <a:r>
              <a:rPr lang="en-US" altLang="en-US" dirty="0"/>
              <a:t> 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3" name="Slide Number Placeholder 5">
            <a:extLst>
              <a:ext uri="{FF2B5EF4-FFF2-40B4-BE49-F238E27FC236}">
                <a16:creationId xmlns:a16="http://schemas.microsoft.com/office/drawing/2014/main" id="{D425E7FE-0AFF-4E5A-A767-842E1C6E1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89FF1982-549B-484A-B305-F8AEDFD70A29}" type="slidenum">
              <a:rPr lang="en-GB" altLang="en-US" sz="1400"/>
              <a:pPr eaLnBrk="1" hangingPunct="1"/>
              <a:t>44</a:t>
            </a:fld>
            <a:endParaRPr lang="en-GB" altLang="en-US" sz="1400"/>
          </a:p>
        </p:txBody>
      </p:sp>
      <p:sp>
        <p:nvSpPr>
          <p:cNvPr id="107524" name="Rectangle 3">
            <a:extLst>
              <a:ext uri="{FF2B5EF4-FFF2-40B4-BE49-F238E27FC236}">
                <a16:creationId xmlns:a16="http://schemas.microsoft.com/office/drawing/2014/main" id="{F0483CBC-F398-444D-B466-6F60A1ACA5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58240" y="908050"/>
            <a:ext cx="10322560" cy="558419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400" dirty="0" err="1">
                <a:solidFill>
                  <a:srgbClr val="050507"/>
                </a:solidFill>
              </a:rPr>
              <a:t>Contoh</a:t>
            </a:r>
            <a:r>
              <a:rPr lang="en-US" altLang="en-US" sz="2400" dirty="0">
                <a:solidFill>
                  <a:srgbClr val="050507"/>
                </a:solidFill>
              </a:rPr>
              <a:t>: </a:t>
            </a:r>
            <a:r>
              <a:rPr lang="pt-BR" altLang="en-US" sz="2400" dirty="0">
                <a:solidFill>
                  <a:srgbClr val="050507"/>
                </a:solidFill>
              </a:rPr>
              <a:t>Pada </a:t>
            </a:r>
            <a:r>
              <a:rPr lang="pt-BR" altLang="en-US" sz="2400" i="1" dirty="0">
                <a:solidFill>
                  <a:srgbClr val="050507"/>
                </a:solidFill>
              </a:rPr>
              <a:t>K</a:t>
            </a:r>
            <a:r>
              <a:rPr lang="pt-BR" altLang="en-US" sz="2400" baseline="-25000" dirty="0">
                <a:solidFill>
                  <a:srgbClr val="050507"/>
                </a:solidFill>
              </a:rPr>
              <a:t>4</a:t>
            </a:r>
            <a:r>
              <a:rPr lang="pt-BR" altLang="en-US" sz="2400" dirty="0">
                <a:solidFill>
                  <a:srgbClr val="050507"/>
                </a:solidFill>
              </a:rPr>
              <a:t>, </a:t>
            </a:r>
            <a:r>
              <a:rPr lang="pt-BR" altLang="en-US" sz="2400" i="1" dirty="0">
                <a:solidFill>
                  <a:srgbClr val="050507"/>
                </a:solidFill>
              </a:rPr>
              <a:t>n</a:t>
            </a:r>
            <a:r>
              <a:rPr lang="pt-BR" altLang="en-US" sz="2400" dirty="0">
                <a:solidFill>
                  <a:srgbClr val="050507"/>
                </a:solidFill>
              </a:rPr>
              <a:t> = 4, </a:t>
            </a:r>
            <a:r>
              <a:rPr lang="pt-BR" altLang="en-US" sz="2400" i="1" dirty="0">
                <a:solidFill>
                  <a:srgbClr val="050507"/>
                </a:solidFill>
              </a:rPr>
              <a:t>e</a:t>
            </a:r>
            <a:r>
              <a:rPr lang="pt-BR" altLang="en-US" sz="2400" dirty="0">
                <a:solidFill>
                  <a:srgbClr val="050507"/>
                </a:solidFill>
              </a:rPr>
              <a:t> = 6, memenuhi ketidaksamaan Euler, sebab</a:t>
            </a:r>
          </a:p>
          <a:p>
            <a:pPr eaLnBrk="1" hangingPunct="1">
              <a:buFontTx/>
              <a:buNone/>
            </a:pPr>
            <a:r>
              <a:rPr lang="pt-BR" altLang="en-US" sz="2400" dirty="0">
                <a:solidFill>
                  <a:srgbClr val="050507"/>
                </a:solidFill>
              </a:rPr>
              <a:t>			 6 </a:t>
            </a:r>
            <a:r>
              <a:rPr lang="en-US" altLang="en-US" sz="2400" dirty="0">
                <a:solidFill>
                  <a:srgbClr val="050507"/>
                </a:solidFill>
                <a:sym typeface="Symbol" panose="05050102010706020507" pitchFamily="18" charset="2"/>
              </a:rPr>
              <a:t></a:t>
            </a:r>
            <a:r>
              <a:rPr lang="pt-BR" altLang="en-US" sz="2400" dirty="0">
                <a:solidFill>
                  <a:srgbClr val="050507"/>
                </a:solidFill>
              </a:rPr>
              <a:t> 3(4) – 6.  	Jadi, </a:t>
            </a:r>
            <a:r>
              <a:rPr lang="pt-BR" altLang="en-US" sz="2400" i="1" dirty="0">
                <a:solidFill>
                  <a:srgbClr val="050507"/>
                </a:solidFill>
              </a:rPr>
              <a:t>K</a:t>
            </a:r>
            <a:r>
              <a:rPr lang="pt-BR" altLang="en-US" sz="2400" baseline="-25000" dirty="0">
                <a:solidFill>
                  <a:srgbClr val="050507"/>
                </a:solidFill>
              </a:rPr>
              <a:t>4</a:t>
            </a:r>
            <a:r>
              <a:rPr lang="pt-BR" altLang="en-US" sz="2400" dirty="0">
                <a:solidFill>
                  <a:srgbClr val="050507"/>
                </a:solidFill>
              </a:rPr>
              <a:t> adalah graf planar.</a:t>
            </a:r>
            <a:r>
              <a:rPr lang="en-US" altLang="en-US" sz="2400" dirty="0"/>
              <a:t> </a:t>
            </a:r>
          </a:p>
          <a:p>
            <a:pPr eaLnBrk="1" hangingPunct="1">
              <a:buFontTx/>
              <a:buNone/>
            </a:pPr>
            <a:r>
              <a:rPr lang="pt-BR" altLang="en-US" sz="2400" b="1" dirty="0"/>
              <a:t>	</a:t>
            </a:r>
          </a:p>
          <a:p>
            <a:pPr eaLnBrk="1" hangingPunct="1">
              <a:buFontTx/>
              <a:buNone/>
            </a:pPr>
            <a:r>
              <a:rPr lang="pt-BR" altLang="en-US" sz="2400" dirty="0">
                <a:solidFill>
                  <a:srgbClr val="050507"/>
                </a:solidFill>
              </a:rPr>
              <a:t>Pada graf </a:t>
            </a:r>
            <a:r>
              <a:rPr lang="pt-BR" altLang="en-US" sz="2400" i="1" dirty="0">
                <a:solidFill>
                  <a:srgbClr val="050507"/>
                </a:solidFill>
              </a:rPr>
              <a:t>K</a:t>
            </a:r>
            <a:r>
              <a:rPr lang="pt-BR" altLang="en-US" sz="2400" baseline="-25000" dirty="0">
                <a:solidFill>
                  <a:srgbClr val="050507"/>
                </a:solidFill>
              </a:rPr>
              <a:t>5</a:t>
            </a:r>
            <a:r>
              <a:rPr lang="pt-BR" altLang="en-US" sz="2400" dirty="0">
                <a:solidFill>
                  <a:srgbClr val="050507"/>
                </a:solidFill>
              </a:rPr>
              <a:t>, </a:t>
            </a:r>
            <a:r>
              <a:rPr lang="pt-BR" altLang="en-US" sz="2400" i="1" dirty="0">
                <a:solidFill>
                  <a:srgbClr val="050507"/>
                </a:solidFill>
              </a:rPr>
              <a:t>n</a:t>
            </a:r>
            <a:r>
              <a:rPr lang="pt-BR" altLang="en-US" sz="2400" dirty="0">
                <a:solidFill>
                  <a:srgbClr val="050507"/>
                </a:solidFill>
              </a:rPr>
              <a:t> = </a:t>
            </a:r>
            <a:r>
              <a:rPr lang="pt-BR" altLang="en-US" sz="2400" i="1" dirty="0">
                <a:solidFill>
                  <a:srgbClr val="050507"/>
                </a:solidFill>
              </a:rPr>
              <a:t>5</a:t>
            </a:r>
            <a:r>
              <a:rPr lang="pt-BR" altLang="en-US" sz="2400" dirty="0">
                <a:solidFill>
                  <a:srgbClr val="050507"/>
                </a:solidFill>
              </a:rPr>
              <a:t> dan </a:t>
            </a:r>
            <a:r>
              <a:rPr lang="pt-BR" altLang="en-US" sz="2400" i="1" dirty="0">
                <a:solidFill>
                  <a:srgbClr val="050507"/>
                </a:solidFill>
              </a:rPr>
              <a:t>e</a:t>
            </a:r>
            <a:r>
              <a:rPr lang="pt-BR" altLang="en-US" sz="2400" dirty="0">
                <a:solidFill>
                  <a:srgbClr val="050507"/>
                </a:solidFill>
              </a:rPr>
              <a:t> = 10, tidak memenuhi ketidaksamaan Euler  sebab </a:t>
            </a:r>
          </a:p>
          <a:p>
            <a:pPr eaLnBrk="1" hangingPunct="1">
              <a:buFontTx/>
              <a:buNone/>
            </a:pPr>
            <a:r>
              <a:rPr lang="pt-BR" altLang="en-US" sz="2400" dirty="0">
                <a:solidFill>
                  <a:srgbClr val="050507"/>
                </a:solidFill>
              </a:rPr>
              <a:t>			10 </a:t>
            </a:r>
            <a:r>
              <a:rPr lang="en-US" altLang="en-US" sz="2400" dirty="0">
                <a:solidFill>
                  <a:srgbClr val="050507"/>
                </a:solidFill>
                <a:sym typeface="Symbol" panose="05050102010706020507" pitchFamily="18" charset="2"/>
              </a:rPr>
              <a:t></a:t>
            </a:r>
            <a:r>
              <a:rPr lang="pt-BR" altLang="en-US" sz="2400" dirty="0">
                <a:solidFill>
                  <a:srgbClr val="050507"/>
                </a:solidFill>
              </a:rPr>
              <a:t> 3(5) – 6.  Jadi, </a:t>
            </a:r>
            <a:r>
              <a:rPr lang="en-US" altLang="en-US" sz="2400" i="1" dirty="0">
                <a:solidFill>
                  <a:srgbClr val="050507"/>
                </a:solidFill>
              </a:rPr>
              <a:t>K</a:t>
            </a:r>
            <a:r>
              <a:rPr lang="en-US" altLang="en-US" sz="2400" baseline="-25000" dirty="0">
                <a:solidFill>
                  <a:srgbClr val="050507"/>
                </a:solidFill>
              </a:rPr>
              <a:t>5</a:t>
            </a:r>
            <a:r>
              <a:rPr lang="en-US" altLang="en-US" sz="2400" dirty="0">
                <a:solidFill>
                  <a:srgbClr val="050507"/>
                </a:solidFill>
              </a:rPr>
              <a:t> </a:t>
            </a:r>
            <a:r>
              <a:rPr lang="en-US" altLang="en-US" sz="2400" dirty="0" err="1">
                <a:solidFill>
                  <a:srgbClr val="050507"/>
                </a:solidFill>
              </a:rPr>
              <a:t>tidak</a:t>
            </a:r>
            <a:r>
              <a:rPr lang="en-US" altLang="en-US" sz="2400" dirty="0">
                <a:solidFill>
                  <a:srgbClr val="050507"/>
                </a:solidFill>
              </a:rPr>
              <a:t> planar</a:t>
            </a:r>
            <a:r>
              <a:rPr lang="en-US" altLang="en-US" sz="2400" dirty="0"/>
              <a:t> </a:t>
            </a:r>
          </a:p>
          <a:p>
            <a:pPr eaLnBrk="1" hangingPunct="1">
              <a:buFontTx/>
              <a:buNone/>
            </a:pPr>
            <a:endParaRPr lang="en-US" altLang="en-US" sz="2400" dirty="0">
              <a:latin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endParaRPr lang="en-US" altLang="en-US" sz="2400" dirty="0">
              <a:latin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endParaRPr lang="en-US" altLang="en-US" sz="2400" dirty="0">
              <a:latin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endParaRPr lang="en-US" altLang="en-US" sz="2400" dirty="0">
              <a:latin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endParaRPr lang="en-US" altLang="en-US" sz="2400" dirty="0">
              <a:latin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	        </a:t>
            </a:r>
          </a:p>
          <a:p>
            <a:pPr eaLnBrk="1" hangingPunct="1">
              <a:buFontTx/>
              <a:buNone/>
            </a:pPr>
            <a:r>
              <a:rPr lang="en-US" altLang="en-US" sz="2400" i="1" dirty="0">
                <a:solidFill>
                  <a:srgbClr val="050507"/>
                </a:solidFill>
                <a:latin typeface="Times New Roman" panose="02020603050405020304" pitchFamily="18" charset="0"/>
              </a:rPr>
              <a:t>                          K</a:t>
            </a:r>
            <a:r>
              <a:rPr lang="en-US" altLang="en-US" sz="2400" baseline="-25000" dirty="0">
                <a:solidFill>
                  <a:srgbClr val="050507"/>
                </a:solidFill>
                <a:latin typeface="Times New Roman" panose="02020603050405020304" pitchFamily="18" charset="0"/>
              </a:rPr>
              <a:t>4</a:t>
            </a:r>
            <a:r>
              <a:rPr lang="en-US" altLang="en-US" sz="2400" dirty="0">
                <a:solidFill>
                  <a:srgbClr val="050507"/>
                </a:solidFill>
                <a:latin typeface="Times New Roman" panose="02020603050405020304" pitchFamily="18" charset="0"/>
              </a:rPr>
              <a:t>		        </a:t>
            </a:r>
            <a:r>
              <a:rPr lang="en-US" altLang="en-US" sz="2400" i="1" dirty="0">
                <a:solidFill>
                  <a:srgbClr val="050507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sz="2400" baseline="-25000" dirty="0">
                <a:solidFill>
                  <a:srgbClr val="050507"/>
                </a:solidFill>
                <a:latin typeface="Times New Roman" panose="02020603050405020304" pitchFamily="18" charset="0"/>
              </a:rPr>
              <a:t>5</a:t>
            </a:r>
            <a:r>
              <a:rPr lang="en-US" altLang="en-US" sz="2400" dirty="0">
                <a:solidFill>
                  <a:srgbClr val="050507"/>
                </a:solidFill>
                <a:latin typeface="Times New Roman" panose="02020603050405020304" pitchFamily="18" charset="0"/>
              </a:rPr>
              <a:t>			     K</a:t>
            </a:r>
            <a:r>
              <a:rPr lang="en-US" altLang="en-US" sz="2400" baseline="-25000" dirty="0">
                <a:solidFill>
                  <a:srgbClr val="050507"/>
                </a:solidFill>
                <a:latin typeface="Times New Roman" panose="02020603050405020304" pitchFamily="18" charset="0"/>
              </a:rPr>
              <a:t>3,3</a:t>
            </a:r>
            <a:endParaRPr lang="en-US" altLang="en-US" sz="2400" dirty="0">
              <a:solidFill>
                <a:srgbClr val="050507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07525" name="Picture 4">
            <a:extLst>
              <a:ext uri="{FF2B5EF4-FFF2-40B4-BE49-F238E27FC236}">
                <a16:creationId xmlns:a16="http://schemas.microsoft.com/office/drawing/2014/main" id="{3F1E25C4-6125-4A06-8821-640DD9F966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3609" y="3700145"/>
            <a:ext cx="8980151" cy="2105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8" name="Slide Number Placeholder 5">
            <a:extLst>
              <a:ext uri="{FF2B5EF4-FFF2-40B4-BE49-F238E27FC236}">
                <a16:creationId xmlns:a16="http://schemas.microsoft.com/office/drawing/2014/main" id="{64AD45CD-D7B5-44B5-9FAF-BAE1DFD32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91E0D404-E576-4F74-AB0F-2CA832CB5238}" type="slidenum">
              <a:rPr lang="en-GB" altLang="en-US" sz="1400"/>
              <a:pPr eaLnBrk="1" hangingPunct="1"/>
              <a:t>45</a:t>
            </a:fld>
            <a:endParaRPr lang="en-GB" altLang="en-US" sz="1400"/>
          </a:p>
        </p:txBody>
      </p:sp>
      <p:graphicFrame>
        <p:nvGraphicFramePr>
          <p:cNvPr id="52226" name="Object 4">
            <a:extLst>
              <a:ext uri="{FF2B5EF4-FFF2-40B4-BE49-F238E27FC236}">
                <a16:creationId xmlns:a16="http://schemas.microsoft.com/office/drawing/2014/main" id="{73796D55-1A1B-4F26-9AE7-1B8647388F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3620665"/>
              </p:ext>
            </p:extLst>
          </p:nvPr>
        </p:nvGraphicFramePr>
        <p:xfrm>
          <a:off x="1266825" y="539750"/>
          <a:ext cx="10234613" cy="574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6691820" imgH="3766312" progId="Word.Document.8">
                  <p:embed/>
                </p:oleObj>
              </mc:Choice>
              <mc:Fallback>
                <p:oleObj name="Document" r:id="rId2" imgW="6691820" imgH="3766312" progId="Word.Document.8">
                  <p:embed/>
                  <p:pic>
                    <p:nvPicPr>
                      <p:cNvPr id="52226" name="Object 4">
                        <a:extLst>
                          <a:ext uri="{FF2B5EF4-FFF2-40B4-BE49-F238E27FC236}">
                            <a16:creationId xmlns:a16="http://schemas.microsoft.com/office/drawing/2014/main" id="{73796D55-1A1B-4F26-9AE7-1B8647388F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6825" y="539750"/>
                        <a:ext cx="10234613" cy="574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4AFE00-EDED-4DFC-B2C6-7D5B3E81B170}"/>
              </a:ext>
            </a:extLst>
          </p:cNvPr>
          <p:cNvSpPr/>
          <p:nvPr/>
        </p:nvSpPr>
        <p:spPr>
          <a:xfrm>
            <a:off x="883920" y="647571"/>
            <a:ext cx="1042416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400" b="1" dirty="0">
                <a:ea typeface="Times New Roman" panose="02020603050405020304" pitchFamily="18" charset="0"/>
              </a:rPr>
              <a:t>Contoh </a:t>
            </a:r>
            <a:r>
              <a:rPr lang="pt-BR" sz="2400" dirty="0">
                <a:ea typeface="Times New Roman" panose="02020603050405020304" pitchFamily="18" charset="0"/>
              </a:rPr>
              <a:t>Graf </a:t>
            </a:r>
            <a:r>
              <a:rPr lang="pt-BR" sz="2400" i="1" dirty="0">
                <a:ea typeface="Times New Roman" panose="02020603050405020304" pitchFamily="18" charset="0"/>
              </a:rPr>
              <a:t>K</a:t>
            </a:r>
            <a:r>
              <a:rPr lang="pt-BR" sz="2400" baseline="-25000" dirty="0">
                <a:ea typeface="Times New Roman" panose="02020603050405020304" pitchFamily="18" charset="0"/>
              </a:rPr>
              <a:t>3,3</a:t>
            </a:r>
            <a:r>
              <a:rPr lang="pt-BR" sz="2400" dirty="0">
                <a:ea typeface="Times New Roman" panose="02020603050405020304" pitchFamily="18" charset="0"/>
              </a:rPr>
              <a:t> pada Gambar di bawah memenuhi ketidaksamaan </a:t>
            </a:r>
            <a:r>
              <a:rPr lang="pt-BR" sz="2400" i="1" dirty="0">
                <a:ea typeface="Times New Roman" panose="02020603050405020304" pitchFamily="18" charset="0"/>
              </a:rPr>
              <a:t>e</a:t>
            </a:r>
            <a:r>
              <a:rPr lang="pt-BR" sz="2400" dirty="0">
                <a:ea typeface="Times New Roman" panose="02020603050405020304" pitchFamily="18" charset="0"/>
              </a:rPr>
              <a:t> </a:t>
            </a:r>
            <a:r>
              <a:rPr lang="en-US" sz="2400" dirty="0">
                <a:ea typeface="Times New Roman" panose="02020603050405020304" pitchFamily="18" charset="0"/>
                <a:cs typeface="Calibri" panose="020F0502020204030204" pitchFamily="34" charset="0"/>
                <a:sym typeface="Symbol" panose="05050102010706020507" pitchFamily="18" charset="2"/>
              </a:rPr>
              <a:t></a:t>
            </a:r>
            <a:r>
              <a:rPr lang="pt-BR" sz="2400" dirty="0">
                <a:ea typeface="Times New Roman" panose="02020603050405020304" pitchFamily="18" charset="0"/>
              </a:rPr>
              <a:t> 2</a:t>
            </a:r>
            <a:r>
              <a:rPr lang="pt-BR" sz="2400" i="1" dirty="0">
                <a:ea typeface="Times New Roman" panose="02020603050405020304" pitchFamily="18" charset="0"/>
              </a:rPr>
              <a:t>n</a:t>
            </a:r>
            <a:r>
              <a:rPr lang="pt-BR" sz="2400" dirty="0">
                <a:ea typeface="Times New Roman" panose="02020603050405020304" pitchFamily="18" charset="0"/>
              </a:rPr>
              <a:t> – 4, karena</a:t>
            </a:r>
            <a:endParaRPr lang="en-US" sz="2400" dirty="0">
              <a:effectLst/>
              <a:ea typeface="Times New Roman" panose="02020603050405020304" pitchFamily="18" charset="0"/>
            </a:endParaRPr>
          </a:p>
          <a:p>
            <a:pPr algn="just"/>
            <a:r>
              <a:rPr lang="pt-BR" sz="2400" dirty="0">
                <a:ea typeface="Times New Roman" panose="02020603050405020304" pitchFamily="18" charset="0"/>
              </a:rPr>
              <a:t>		</a:t>
            </a:r>
            <a:r>
              <a:rPr lang="pt-BR" sz="2400" i="1" dirty="0">
                <a:ea typeface="Times New Roman" panose="02020603050405020304" pitchFamily="18" charset="0"/>
              </a:rPr>
              <a:t>e </a:t>
            </a:r>
            <a:r>
              <a:rPr lang="pt-BR" sz="2400" dirty="0">
                <a:ea typeface="Times New Roman" panose="02020603050405020304" pitchFamily="18" charset="0"/>
              </a:rPr>
              <a:t>= 9, </a:t>
            </a:r>
            <a:r>
              <a:rPr lang="pt-BR" sz="2400" i="1" dirty="0">
                <a:ea typeface="Times New Roman" panose="02020603050405020304" pitchFamily="18" charset="0"/>
              </a:rPr>
              <a:t>n</a:t>
            </a:r>
            <a:r>
              <a:rPr lang="pt-BR" sz="2400" dirty="0">
                <a:ea typeface="Times New Roman" panose="02020603050405020304" pitchFamily="18" charset="0"/>
              </a:rPr>
              <a:t> = 6</a:t>
            </a:r>
            <a:endParaRPr lang="en-US" sz="2400" dirty="0">
              <a:effectLst/>
              <a:ea typeface="Times New Roman" panose="02020603050405020304" pitchFamily="18" charset="0"/>
            </a:endParaRPr>
          </a:p>
          <a:p>
            <a:pPr algn="just"/>
            <a:r>
              <a:rPr lang="pt-BR" sz="2400" dirty="0">
                <a:ea typeface="Times New Roman" panose="02020603050405020304" pitchFamily="18" charset="0"/>
              </a:rPr>
              <a:t>		</a:t>
            </a:r>
            <a:r>
              <a:rPr lang="en-US" sz="2400" dirty="0">
                <a:ea typeface="Times New Roman" panose="02020603050405020304" pitchFamily="18" charset="0"/>
              </a:rPr>
              <a:t>9 </a:t>
            </a:r>
            <a:r>
              <a:rPr lang="en-US" sz="2400" dirty="0">
                <a:ea typeface="Times New Roman" panose="02020603050405020304" pitchFamily="18" charset="0"/>
                <a:cs typeface="Calibri" panose="020F0502020204030204" pitchFamily="34" charset="0"/>
                <a:sym typeface="Symbol" panose="05050102010706020507" pitchFamily="18" charset="2"/>
              </a:rPr>
              <a:t></a:t>
            </a:r>
            <a:r>
              <a:rPr lang="en-US" sz="2400" dirty="0">
                <a:ea typeface="Times New Roman" panose="02020603050405020304" pitchFamily="18" charset="0"/>
              </a:rPr>
              <a:t> (2)(6) – 4 = 8		(salah)</a:t>
            </a:r>
            <a:endParaRPr lang="en-US" sz="2400" dirty="0">
              <a:effectLst/>
              <a:ea typeface="Times New Roman" panose="02020603050405020304" pitchFamily="18" charset="0"/>
            </a:endParaRPr>
          </a:p>
          <a:p>
            <a:pPr algn="just"/>
            <a:endParaRPr lang="en-US" sz="2400" dirty="0">
              <a:ea typeface="Times New Roman" panose="02020603050405020304" pitchFamily="18" charset="0"/>
            </a:endParaRPr>
          </a:p>
          <a:p>
            <a:pPr algn="just"/>
            <a:r>
              <a:rPr lang="en-US" sz="2400" dirty="0">
                <a:ea typeface="Times New Roman" panose="02020603050405020304" pitchFamily="18" charset="0"/>
              </a:rPr>
              <a:t>yang </a:t>
            </a:r>
            <a:r>
              <a:rPr lang="en-US" sz="2400" dirty="0" err="1">
                <a:ea typeface="Times New Roman" panose="02020603050405020304" pitchFamily="18" charset="0"/>
              </a:rPr>
              <a:t>berarti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i="1" dirty="0">
                <a:ea typeface="Times New Roman" panose="02020603050405020304" pitchFamily="18" charset="0"/>
              </a:rPr>
              <a:t>K</a:t>
            </a:r>
            <a:r>
              <a:rPr lang="en-US" sz="2400" baseline="-25000" dirty="0">
                <a:ea typeface="Times New Roman" panose="02020603050405020304" pitchFamily="18" charset="0"/>
              </a:rPr>
              <a:t>3,3 </a:t>
            </a:r>
            <a:r>
              <a:rPr lang="en-US" sz="2400" dirty="0" err="1">
                <a:ea typeface="Times New Roman" panose="02020603050405020304" pitchFamily="18" charset="0"/>
              </a:rPr>
              <a:t>bukan</a:t>
            </a:r>
            <a:r>
              <a:rPr lang="en-US" sz="2400" dirty="0"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ea typeface="Times New Roman" panose="02020603050405020304" pitchFamily="18" charset="0"/>
              </a:rPr>
              <a:t>graf</a:t>
            </a:r>
            <a:r>
              <a:rPr lang="en-US" sz="2400" dirty="0">
                <a:ea typeface="Times New Roman" panose="02020603050405020304" pitchFamily="18" charset="0"/>
              </a:rPr>
              <a:t> planar.</a:t>
            </a:r>
            <a:endParaRPr lang="en-US" sz="2400" dirty="0">
              <a:effectLst/>
              <a:ea typeface="Times New Roman" panose="02020603050405020304" pitchFamily="18" charset="0"/>
            </a:endParaRPr>
          </a:p>
          <a:p>
            <a:pPr algn="just"/>
            <a:r>
              <a:rPr lang="en-US" sz="2400" dirty="0">
                <a:ea typeface="Times New Roman" panose="02020603050405020304" pitchFamily="18" charset="0"/>
              </a:rPr>
              <a:t> </a:t>
            </a:r>
            <a:endParaRPr lang="en-US" sz="2400" dirty="0">
              <a:effectLst/>
              <a:ea typeface="Times New Roman" panose="02020603050405020304" pitchFamily="18" charset="0"/>
            </a:endParaRPr>
          </a:p>
        </p:txBody>
      </p:sp>
      <p:graphicFrame>
        <p:nvGraphicFramePr>
          <p:cNvPr id="3" name="Object 5">
            <a:extLst>
              <a:ext uri="{FF2B5EF4-FFF2-40B4-BE49-F238E27FC236}">
                <a16:creationId xmlns:a16="http://schemas.microsoft.com/office/drawing/2014/main" id="{E8831F18-4496-4C9E-945D-2CAC19657C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1327497"/>
              </p:ext>
            </p:extLst>
          </p:nvPr>
        </p:nvGraphicFramePr>
        <p:xfrm>
          <a:off x="1370648" y="3217813"/>
          <a:ext cx="9137822" cy="2878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5822640" imgH="1809720" progId="Visio.Drawing.5">
                  <p:embed/>
                </p:oleObj>
              </mc:Choice>
              <mc:Fallback>
                <p:oleObj name="VISIO" r:id="rId2" imgW="5822640" imgH="1809720" progId="Visio.Drawing.5">
                  <p:embed/>
                  <p:pic>
                    <p:nvPicPr>
                      <p:cNvPr id="53251" name="Object 5">
                        <a:extLst>
                          <a:ext uri="{FF2B5EF4-FFF2-40B4-BE49-F238E27FC236}">
                            <a16:creationId xmlns:a16="http://schemas.microsoft.com/office/drawing/2014/main" id="{B9A485D1-CEF2-4816-B3E7-EF864E9C9A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0648" y="3217813"/>
                        <a:ext cx="9137822" cy="2878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FD15BF-893B-6808-1594-969FCC8BE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8184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A8485-0EA6-4C7F-BDE0-9D05D454E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Graf Dual (</a:t>
            </a:r>
            <a:r>
              <a:rPr lang="en-US" b="1" i="1" dirty="0"/>
              <a:t>Dual graph</a:t>
            </a:r>
            <a:r>
              <a:rPr lang="en-US" b="1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17B88-BB11-4FFA-8200-C20D181BB5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graf</a:t>
            </a:r>
            <a:r>
              <a:rPr lang="en-US" dirty="0"/>
              <a:t> </a:t>
            </a:r>
            <a:r>
              <a:rPr lang="en-US" dirty="0" err="1"/>
              <a:t>bidang</a:t>
            </a:r>
            <a:r>
              <a:rPr lang="en-US" dirty="0"/>
              <a:t> G,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graf</a:t>
            </a:r>
            <a:r>
              <a:rPr lang="en-US" dirty="0"/>
              <a:t> dual G*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:</a:t>
            </a:r>
          </a:p>
          <a:p>
            <a:pPr marL="514350" indent="-514350">
              <a:buAutoNum type="arabicPeriod"/>
            </a:pPr>
            <a:r>
              <a:rPr lang="en-US" dirty="0" err="1"/>
              <a:t>Setiap</a:t>
            </a:r>
            <a:r>
              <a:rPr lang="en-US" dirty="0"/>
              <a:t> wilayah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muka</a:t>
            </a:r>
            <a:r>
              <a:rPr lang="en-US" dirty="0"/>
              <a:t> f </a:t>
            </a:r>
            <a:r>
              <a:rPr lang="en-US" dirty="0" err="1"/>
              <a:t>dinyatakan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simpul</a:t>
            </a:r>
            <a:r>
              <a:rPr lang="en-US" dirty="0"/>
              <a:t> v*, </a:t>
            </a:r>
            <a:r>
              <a:rPr lang="en-US" dirty="0" err="1"/>
              <a:t>termasuk</a:t>
            </a:r>
            <a:r>
              <a:rPr lang="en-US" dirty="0"/>
              <a:t> wilayah </a:t>
            </a:r>
            <a:r>
              <a:rPr lang="en-US" dirty="0" err="1"/>
              <a:t>luar</a:t>
            </a:r>
            <a:r>
              <a:rPr lang="en-US" dirty="0"/>
              <a:t>.</a:t>
            </a:r>
          </a:p>
          <a:p>
            <a:pPr marL="514350" indent="-514350">
              <a:buAutoNum type="arabicPeriod"/>
            </a:pPr>
            <a:r>
              <a:rPr lang="en-US" dirty="0" err="1"/>
              <a:t>Tariklah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sisi</a:t>
            </a:r>
            <a:r>
              <a:rPr lang="en-US" dirty="0"/>
              <a:t> e*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simpul</a:t>
            </a:r>
            <a:r>
              <a:rPr lang="en-US" dirty="0"/>
              <a:t> v1*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simpul</a:t>
            </a:r>
            <a:r>
              <a:rPr lang="en-US" dirty="0"/>
              <a:t> v2*  </a:t>
            </a:r>
            <a:r>
              <a:rPr lang="en-US" dirty="0" err="1"/>
              <a:t>melewati</a:t>
            </a:r>
            <a:r>
              <a:rPr lang="en-US" dirty="0"/>
              <a:t> </a:t>
            </a:r>
            <a:r>
              <a:rPr lang="en-US" dirty="0" err="1"/>
              <a:t>sisi</a:t>
            </a:r>
            <a:r>
              <a:rPr lang="en-US" dirty="0"/>
              <a:t> e pada </a:t>
            </a:r>
            <a:r>
              <a:rPr lang="en-US" dirty="0" err="1"/>
              <a:t>graf</a:t>
            </a:r>
            <a:r>
              <a:rPr lang="en-US" dirty="0"/>
              <a:t> </a:t>
            </a:r>
            <a:r>
              <a:rPr lang="en-US" dirty="0" err="1"/>
              <a:t>asal</a:t>
            </a:r>
            <a:r>
              <a:rPr lang="en-US" dirty="0"/>
              <a:t>.</a:t>
            </a:r>
          </a:p>
          <a:p>
            <a:pPr marL="514350" indent="-514350">
              <a:buAutoNum type="arabicPeriod"/>
            </a:pP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sisi</a:t>
            </a:r>
            <a:r>
              <a:rPr lang="en-US" dirty="0"/>
              <a:t> e pada salah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simpulnya</a:t>
            </a:r>
            <a:r>
              <a:rPr lang="en-US" dirty="0"/>
              <a:t> </a:t>
            </a:r>
            <a:r>
              <a:rPr lang="en-US" dirty="0" err="1"/>
              <a:t>berderajat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sisi</a:t>
            </a:r>
            <a:r>
              <a:rPr lang="en-US" dirty="0"/>
              <a:t> e*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berupa</a:t>
            </a:r>
            <a:r>
              <a:rPr lang="en-US" dirty="0"/>
              <a:t> </a:t>
            </a:r>
            <a:r>
              <a:rPr lang="en-US" dirty="0" err="1"/>
              <a:t>sisi</a:t>
            </a:r>
            <a:r>
              <a:rPr lang="en-US" dirty="0"/>
              <a:t> </a:t>
            </a:r>
            <a:r>
              <a:rPr lang="en-US" dirty="0" err="1"/>
              <a:t>gelang</a:t>
            </a:r>
            <a:endParaRPr lang="en-US" dirty="0"/>
          </a:p>
          <a:p>
            <a:pPr marL="514350" indent="-514350">
              <a:buAutoNum type="arabicPeriod"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33C3E4-2338-3AF7-0323-69D733DDD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2401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necklace, hanging&#10;&#10;Description automatically generated">
            <a:extLst>
              <a:ext uri="{FF2B5EF4-FFF2-40B4-BE49-F238E27FC236}">
                <a16:creationId xmlns:a16="http://schemas.microsoft.com/office/drawing/2014/main" id="{95AC46FB-9F71-4AB7-B990-5DA1BBF872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4391" y="985520"/>
            <a:ext cx="4040164" cy="45923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7811EFA-F773-446B-B494-CE4EBD1CF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884" y="1717960"/>
            <a:ext cx="5668475" cy="342207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AABB1B8-71E5-4942-B214-F169A2986481}"/>
              </a:ext>
            </a:extLst>
          </p:cNvPr>
          <p:cNvSpPr txBox="1"/>
          <p:nvPr/>
        </p:nvSpPr>
        <p:spPr>
          <a:xfrm>
            <a:off x="5466080" y="1960880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G*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93FDBC-0049-46C7-ACFF-5F61BC37DAEB}"/>
              </a:ext>
            </a:extLst>
          </p:cNvPr>
          <p:cNvSpPr txBox="1"/>
          <p:nvPr/>
        </p:nvSpPr>
        <p:spPr>
          <a:xfrm>
            <a:off x="10292080" y="1080105"/>
            <a:ext cx="4748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G*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900847-84E6-4A01-8773-CC9298D35C31}"/>
              </a:ext>
            </a:extLst>
          </p:cNvPr>
          <p:cNvSpPr txBox="1"/>
          <p:nvPr/>
        </p:nvSpPr>
        <p:spPr>
          <a:xfrm>
            <a:off x="8412480" y="1960880"/>
            <a:ext cx="3465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2060"/>
                </a:solidFill>
              </a:rPr>
              <a:t>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5552384-69DD-1BAB-36EB-84EB425FF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1894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36E84-3D91-0783-3D47-1F08B1273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 err="1"/>
              <a:t>Bersambung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Bagian 3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054EEE-3348-FB1D-3214-378C753742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3E42AD-3197-E6C3-51FB-67FC6EC27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BCF9-A795-414B-A279-9A96D3DBC64D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344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1286</TotalTime>
  <Words>1377</Words>
  <Application>Microsoft Office PowerPoint</Application>
  <PresentationFormat>Widescreen</PresentationFormat>
  <Paragraphs>201</Paragraphs>
  <Slides>49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49</vt:i4>
      </vt:variant>
    </vt:vector>
  </HeadingPairs>
  <TitlesOfParts>
    <vt:vector size="60" baseType="lpstr">
      <vt:lpstr>Aptos</vt:lpstr>
      <vt:lpstr>Arial</vt:lpstr>
      <vt:lpstr>Calibri</vt:lpstr>
      <vt:lpstr>Calibri Light</vt:lpstr>
      <vt:lpstr>Cambria Math</vt:lpstr>
      <vt:lpstr>Symbol</vt:lpstr>
      <vt:lpstr>Times New Roman</vt:lpstr>
      <vt:lpstr>Wingdings</vt:lpstr>
      <vt:lpstr>Office Theme</vt:lpstr>
      <vt:lpstr>Document</vt:lpstr>
      <vt:lpstr>VISIO</vt:lpstr>
      <vt:lpstr>Graf  (Bag. 2) </vt:lpstr>
      <vt:lpstr>Representasi Graf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Graf Isomorfik</vt:lpstr>
      <vt:lpstr>PowerPoint Presentation</vt:lpstr>
      <vt:lpstr>Graf Isomorfik</vt:lpstr>
      <vt:lpstr>PowerPoint Presentation</vt:lpstr>
      <vt:lpstr>PowerPoint Presentation</vt:lpstr>
      <vt:lpstr>PowerPoint Presentation</vt:lpstr>
      <vt:lpstr>PowerPoint Presentation</vt:lpstr>
      <vt:lpstr>Latihan</vt:lpstr>
      <vt:lpstr>Latihan</vt:lpstr>
      <vt:lpstr>Latihan</vt:lpstr>
      <vt:lpstr>PowerPoint Presentation</vt:lpstr>
      <vt:lpstr>Latihan</vt:lpstr>
      <vt:lpstr>PowerPoint Presentation</vt:lpstr>
      <vt:lpstr>Latihan</vt:lpstr>
      <vt:lpstr>PowerPoint Presentation</vt:lpstr>
      <vt:lpstr>Graf Planar (Planar Graph) dan Graf Bidang (Plane Graph)</vt:lpstr>
      <vt:lpstr>PowerPoint Presentation</vt:lpstr>
      <vt:lpstr>PowerPoint Presentation</vt:lpstr>
      <vt:lpstr>Aplikasi Graf Planar</vt:lpstr>
      <vt:lpstr>Aplikasi Graf Planar</vt:lpstr>
      <vt:lpstr>Latihan</vt:lpstr>
      <vt:lpstr>PowerPoint Presentation</vt:lpstr>
      <vt:lpstr>PowerPoint Presentation</vt:lpstr>
      <vt:lpstr>Latihan</vt:lpstr>
      <vt:lpstr>Jawaban:</vt:lpstr>
      <vt:lpstr>PowerPoint Presentation</vt:lpstr>
      <vt:lpstr>PowerPoint Presentation</vt:lpstr>
      <vt:lpstr>PowerPoint Presentation</vt:lpstr>
      <vt:lpstr>PowerPoint Presentation</vt:lpstr>
      <vt:lpstr>Graf Dual (Dual graph)</vt:lpstr>
      <vt:lpstr>PowerPoint Presentation</vt:lpstr>
      <vt:lpstr>Bersambung ke Bagian 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21-Graf-Bagian2-2024</dc:title>
  <dc:creator>Rinaldi Munir</dc:creator>
  <cp:lastModifiedBy>Binti Kholifah</cp:lastModifiedBy>
  <cp:revision>42</cp:revision>
  <dcterms:created xsi:type="dcterms:W3CDTF">2020-08-02T06:42:50Z</dcterms:created>
  <dcterms:modified xsi:type="dcterms:W3CDTF">2026-04-08T01:25:55Z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8b525e5-f3da-4501-8f1e-526b6769fc56_Enabled">
    <vt:lpwstr>true</vt:lpwstr>
  </property>
  <property fmtid="{D5CDD505-2E9C-101B-9397-08002B2CF9AE}" pid="3" name="MSIP_Label_38b525e5-f3da-4501-8f1e-526b6769fc56_SetDate">
    <vt:lpwstr>2024-11-17T06:44:16Z</vt:lpwstr>
  </property>
  <property fmtid="{D5CDD505-2E9C-101B-9397-08002B2CF9AE}" pid="4" name="MSIP_Label_38b525e5-f3da-4501-8f1e-526b6769fc56_Method">
    <vt:lpwstr>Standard</vt:lpwstr>
  </property>
  <property fmtid="{D5CDD505-2E9C-101B-9397-08002B2CF9AE}" pid="5" name="MSIP_Label_38b525e5-f3da-4501-8f1e-526b6769fc56_Name">
    <vt:lpwstr>defa4170-0d19-0005-0004-bc88714345d2</vt:lpwstr>
  </property>
  <property fmtid="{D5CDD505-2E9C-101B-9397-08002B2CF9AE}" pid="6" name="MSIP_Label_38b525e5-f3da-4501-8f1e-526b6769fc56_SiteId">
    <vt:lpwstr>db6e1183-4c65-405c-82ce-7cd53fa6e9dc</vt:lpwstr>
  </property>
  <property fmtid="{D5CDD505-2E9C-101B-9397-08002B2CF9AE}" pid="7" name="MSIP_Label_38b525e5-f3da-4501-8f1e-526b6769fc56_ActionId">
    <vt:lpwstr>68007dc5-e9b3-4f4a-b137-994859f4ff74</vt:lpwstr>
  </property>
  <property fmtid="{D5CDD505-2E9C-101B-9397-08002B2CF9AE}" pid="8" name="MSIP_Label_38b525e5-f3da-4501-8f1e-526b6769fc56_ContentBits">
    <vt:lpwstr>0</vt:lpwstr>
  </property>
</Properties>
</file>