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42" r:id="rId2"/>
    <p:sldId id="276" r:id="rId3"/>
    <p:sldId id="348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340" r:id="rId12"/>
    <p:sldId id="284" r:id="rId13"/>
    <p:sldId id="349" r:id="rId14"/>
    <p:sldId id="359" r:id="rId15"/>
    <p:sldId id="357" r:id="rId16"/>
    <p:sldId id="360" r:id="rId17"/>
    <p:sldId id="350" r:id="rId18"/>
    <p:sldId id="361" r:id="rId19"/>
    <p:sldId id="286" r:id="rId20"/>
    <p:sldId id="287" r:id="rId21"/>
    <p:sldId id="358" r:id="rId22"/>
    <p:sldId id="288" r:id="rId23"/>
    <p:sldId id="362" r:id="rId24"/>
    <p:sldId id="363" r:id="rId25"/>
    <p:sldId id="364" r:id="rId26"/>
    <p:sldId id="290" r:id="rId27"/>
    <p:sldId id="291" r:id="rId28"/>
    <p:sldId id="292" r:id="rId29"/>
    <p:sldId id="341" r:id="rId30"/>
    <p:sldId id="293" r:id="rId31"/>
    <p:sldId id="294" r:id="rId32"/>
    <p:sldId id="295" r:id="rId33"/>
    <p:sldId id="315" r:id="rId34"/>
    <p:sldId id="344" r:id="rId35"/>
    <p:sldId id="343" r:id="rId36"/>
    <p:sldId id="345" r:id="rId37"/>
    <p:sldId id="316" r:id="rId38"/>
    <p:sldId id="319" r:id="rId39"/>
    <p:sldId id="333" r:id="rId40"/>
    <p:sldId id="334" r:id="rId41"/>
    <p:sldId id="335" r:id="rId42"/>
    <p:sldId id="346" r:id="rId43"/>
    <p:sldId id="36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99149-8100-4925-A314-A32460A2D53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FB808-85CD-4FD1-90FC-027714D77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4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64043D80-66EE-4C7C-B663-12CBE37F54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B6BE793-64BA-4AF5-AC95-A836170C2285}" type="slidenum">
              <a:rPr lang="en-GB" altLang="en-US" sz="1200"/>
              <a:pPr eaLnBrk="1" hangingPunct="1"/>
              <a:t>1</a:t>
            </a:fld>
            <a:endParaRPr lang="en-GB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D8E4347-CB74-40F4-ADAA-C83721FE0A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42495624-CD11-4E63-9433-29F8899A1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F934CFA0-5DE9-44EE-9C27-B9A69477E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E55CD60-4D41-49F3-B820-D545CE429614}" type="slidenum">
              <a:rPr lang="en-GB" altLang="en-US" sz="1200"/>
              <a:pPr eaLnBrk="1" hangingPunct="1"/>
              <a:t>2</a:t>
            </a:fld>
            <a:endParaRPr lang="en-GB" altLang="en-US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348D0B2-064F-440E-9BBB-C1529C7EB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F58D1C41-74A0-44B1-88F6-E6D2AF297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E4C2A5EF-DA07-450D-A79F-7F5998FCD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B5F61A3-391F-489C-8A94-72DF17D00AEC}" type="slidenum">
              <a:rPr lang="en-GB" altLang="en-US" sz="1200"/>
              <a:pPr eaLnBrk="1" hangingPunct="1"/>
              <a:t>4</a:t>
            </a:fld>
            <a:endParaRPr lang="en-GB" altLang="en-US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457FF450-E33F-4B83-A642-1988ECA18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21924E47-C6A0-4DC4-A1D3-A42336EC7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ED5EE444-F942-4EE1-AD69-16B07A2CF6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053A662-C383-4458-930B-7486C2D98359}" type="slidenum">
              <a:rPr lang="en-GB" altLang="en-US" sz="1200"/>
              <a:pPr eaLnBrk="1" hangingPunct="1"/>
              <a:t>5</a:t>
            </a:fld>
            <a:endParaRPr lang="en-GB" altLang="en-US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CEC63611-6175-4C85-AE8D-3CFD7498E9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8C6C956C-9197-4B1E-926D-F0E5E895A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E271E820-1142-4B4F-92A1-E687043F89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6037BFA-C600-46A0-9744-0EA7463621DC}" type="slidenum">
              <a:rPr lang="en-GB" altLang="en-US" sz="1200"/>
              <a:pPr eaLnBrk="1" hangingPunct="1"/>
              <a:t>6</a:t>
            </a:fld>
            <a:endParaRPr lang="en-GB" altLang="en-US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52CF915-ACBB-4673-B6D9-CEEE5DB59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23C6E4FB-BE43-4096-8981-593957A0C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449A3FF-53FB-4805-9F17-4D6332CDE8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2CDED0C-B8EC-4325-AF4F-3927469B8456}" type="slidenum">
              <a:rPr lang="en-GB" altLang="en-US" sz="1200"/>
              <a:pPr eaLnBrk="1" hangingPunct="1"/>
              <a:t>7</a:t>
            </a:fld>
            <a:endParaRPr lang="en-GB" altLang="en-US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A39076CB-F68F-4227-B1A9-D7660A7F9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2B770BFC-BC96-40DA-9BEC-0F83B8FA9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EEEAA11E-9EE7-4197-8A4C-FF76B64C79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AF6B37B-6C1A-4BF6-8ACA-AD2D141F06D8}" type="slidenum">
              <a:rPr lang="en-GB" altLang="en-US" sz="1200"/>
              <a:pPr eaLnBrk="1" hangingPunct="1"/>
              <a:t>8</a:t>
            </a:fld>
            <a:endParaRPr lang="en-GB" altLang="en-US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044DA65E-CFAB-4EC1-8035-D1501E100F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840F3B66-A7CD-468E-9785-F34D206DE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A6C62DE-EC19-483E-965A-B5CAD008B9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E03C531-97A2-4A54-9334-4F6E3E6E65CD}" type="slidenum">
              <a:rPr lang="en-GB" altLang="en-US" sz="1200"/>
              <a:pPr eaLnBrk="1" hangingPunct="1"/>
              <a:t>9</a:t>
            </a:fld>
            <a:endParaRPr lang="en-GB" altLang="en-US" sz="12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F9ACF65-63B9-4835-A23C-656A736F3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ADE7904-DABA-4DE5-96AC-5D4B96C7B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8C0574B1-CFA8-4AB9-9179-88DD3CB9EF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DA4B701-73CB-4032-A640-AAA1B5933CBE}" type="slidenum">
              <a:rPr lang="en-GB" altLang="en-US" sz="1200"/>
              <a:pPr eaLnBrk="1" hangingPunct="1"/>
              <a:t>10</a:t>
            </a:fld>
            <a:endParaRPr lang="en-GB" altLang="en-US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791DC961-7998-4188-B1A5-BE7829A8DD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E6578ECC-DB44-4F57-995D-E67E89F1E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1273E78B-3693-439F-8C2A-1A89411778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78295F3-0C11-46FC-BC6C-AEBACCB31E26}" type="slidenum">
              <a:rPr lang="en-GB" altLang="en-US" sz="1200"/>
              <a:pPr eaLnBrk="1" hangingPunct="1"/>
              <a:t>12</a:t>
            </a:fld>
            <a:endParaRPr lang="en-GB" altLang="en-US" sz="12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D5D3F3E7-FDB6-4536-8C14-F1B7957DA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9948E59C-8983-430B-8A70-2B190A936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A4C82EA4-39AB-4358-9C9F-D135492D5D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3BD2F98-AB02-45ED-AC3A-AE08D66BDA6E}" type="slidenum">
              <a:rPr lang="en-GB" altLang="en-US" sz="1200"/>
              <a:pPr eaLnBrk="1" hangingPunct="1"/>
              <a:t>13</a:t>
            </a:fld>
            <a:endParaRPr lang="en-GB" altLang="en-US" sz="12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1F187DE-4543-4A80-A7BB-86CE526667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AE4C98E9-0BB4-492E-A055-BA071302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F5A7AFA1-EE79-4915-B627-0137D1704D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751DAB7-2BEF-4A2E-9BB1-81D1E105DE03}" type="slidenum">
              <a:rPr lang="en-GB" altLang="en-US" sz="1200"/>
              <a:pPr eaLnBrk="1" hangingPunct="1"/>
              <a:t>19</a:t>
            </a:fld>
            <a:endParaRPr lang="en-GB" altLang="en-US" sz="12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D0650907-DD31-4DA8-86B4-02FE9B6D8D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61B1307D-0798-4337-A2D2-D7D9CB93F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5BFCD611-CFA3-48C9-9A89-42743561C9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4A6343C-23B4-4E17-9226-0BC71B865223}" type="slidenum">
              <a:rPr lang="en-GB" altLang="en-US" sz="1200"/>
              <a:pPr eaLnBrk="1" hangingPunct="1"/>
              <a:t>20</a:t>
            </a:fld>
            <a:endParaRPr lang="en-GB" altLang="en-US" sz="12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61F3A44A-348F-4036-B747-B93475F9D2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CEBE8B41-750F-4DC5-800A-C190A047B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EFE312F2-DDA6-4DCF-96DD-B76A1821E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75408D3-809E-4CB9-9A11-83D9AAE8C000}" type="slidenum">
              <a:rPr lang="en-GB" altLang="en-US" sz="1200"/>
              <a:pPr eaLnBrk="1" hangingPunct="1"/>
              <a:t>22</a:t>
            </a:fld>
            <a:endParaRPr lang="en-GB" altLang="en-US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332BFAB5-FB1C-409B-A070-2E5C4701B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E97E27E7-728B-4C7D-B382-81178975A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09D2035-B56E-437C-8B37-7E0050DD4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358327A-8DA9-4C3A-BBB2-FA9B9DCD365B}" type="slidenum">
              <a:rPr lang="en-GB" altLang="en-US" sz="1200"/>
              <a:pPr eaLnBrk="1" hangingPunct="1"/>
              <a:t>26</a:t>
            </a:fld>
            <a:endParaRPr lang="en-GB" altLang="en-US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2AD035D-20FA-4409-AE37-26DB4335E7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DFF7431-C5CF-4E3F-AEAF-575B304E5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DCC20C8-60EB-469F-B6BA-719AD9D049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034C61A-1DF5-4CB7-B84F-8373E79F8514}" type="slidenum">
              <a:rPr lang="en-GB" altLang="en-US" sz="1200"/>
              <a:pPr eaLnBrk="1" hangingPunct="1"/>
              <a:t>27</a:t>
            </a:fld>
            <a:endParaRPr lang="en-GB" altLang="en-US" sz="12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9280CA50-1596-41A7-BA1B-08AF07FEF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415070BA-174F-45CF-B55D-01F74ECF4C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9C8CF7C8-E15F-48B8-A8AE-8ECDF448B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FFE087D-0B3E-4E7D-BB3C-92D0057E7C8A}" type="slidenum">
              <a:rPr lang="en-GB" altLang="en-US" sz="1200"/>
              <a:pPr eaLnBrk="1" hangingPunct="1"/>
              <a:t>28</a:t>
            </a:fld>
            <a:endParaRPr lang="en-GB" altLang="en-US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C486D193-C737-4F74-9F64-894FDF2FCF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A9680277-6B55-4B0B-AC97-EE117C9C4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E37F20C5-8C40-44F8-83E3-94DEA06FD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8FF2CC6-6651-4F6D-8984-2D72470C9946}" type="slidenum">
              <a:rPr lang="en-GB" altLang="en-US" sz="1200"/>
              <a:pPr eaLnBrk="1" hangingPunct="1"/>
              <a:t>30</a:t>
            </a:fld>
            <a:endParaRPr lang="en-GB" altLang="en-US" sz="12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9EA4A33-2678-4157-88B7-D5DDDC27C6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89EC5771-93EF-4A63-9800-3EE867053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429262FF-550F-49AD-B7E2-11F5DA8930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DBC45F3-5357-4627-98EF-2961D6CC3ADD}" type="slidenum">
              <a:rPr lang="en-GB" altLang="en-US" sz="1200"/>
              <a:pPr eaLnBrk="1" hangingPunct="1"/>
              <a:t>31</a:t>
            </a:fld>
            <a:endParaRPr lang="en-GB" altLang="en-US" sz="12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FB2DD0BA-6AA7-46EE-990D-C9A828568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AA2ED09A-D9E8-4457-B592-111DFF0B0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9CBAFBC-2A8E-403F-AE75-9B71AC962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78EC282-71D1-4A01-AA1D-2D03C94A4EB2}" type="slidenum">
              <a:rPr lang="en-GB" altLang="en-US" sz="1200"/>
              <a:pPr eaLnBrk="1" hangingPunct="1"/>
              <a:t>32</a:t>
            </a:fld>
            <a:endParaRPr lang="en-GB" altLang="en-US" sz="12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6413662D-60D9-4BFA-BE1C-ADCC8FEFB9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3E5953F3-34C7-4ED5-8C47-B12F2F7C7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2130-3A3F-4F5E-ABDD-D569E8B0D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79FA1-03A9-45C3-BFD3-E8A908332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629C4-54A3-4B44-AE04-9F650B6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F7C3-3C3B-4A52-8F69-B73F1098827D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30E8A-510B-4646-B187-6CEC3341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28011-A90C-4944-A27C-BB31E857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1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2E27-3CBA-47C4-8719-045E0CC1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73B3E-22CC-44EF-8F3E-E6379C1D2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BEABD-99A8-4AFB-9959-DE8470A3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FF931-C6CF-4774-82B6-D93C6B18E38C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683CF-EA49-41D5-9122-95DE3175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6A3DA-2B9A-476C-8469-C894908B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9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DC66-D51E-41A9-845C-EBDB6DC2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4F715-44B9-47E0-8C80-992BA5FCA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DD03-467B-4284-B615-703A9881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E028A-05B9-4535-9064-DA4D5D66860D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4ED35-62DF-411E-B2CA-7E94D105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CA41F-FAD3-4DD9-A92E-8EB2481F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B86B-5321-4203-9ABB-D792A91A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23FF2-67AD-4405-96FC-DB934AA53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6817D-B6C1-4DD9-9237-1313076D0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7282A-9E41-4063-B067-859393E7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E4BA-BBC9-4FAF-8862-AF421161036D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DF3C7-0515-495B-A85B-218F079B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C0561-D314-4F63-9E6D-9A19CFD1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1ACB-E619-41A2-8BE3-353C9963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195FC-04E7-4741-B750-46CE6F9BE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F7607-9F4A-4F48-AC3B-D950BE7B1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3D574-A217-4242-88D3-0DD675DDC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DEEB5-A200-453D-AD18-4BD11B4D3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89468-EC33-4DDA-A134-B388A890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99F3E-BE88-4173-8BFF-ED63B177E6B5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36485-EBE4-4AEA-B367-8ADD50F9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8BEB6-4D43-4ED1-A4DC-62301CC81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1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FA56-13F3-4279-851E-A55D4EA7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4E5F6-6694-436F-BE86-9CABE30C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BD8D-AAB8-4FAE-A66A-48F460997B99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8311C-1C8F-49F4-826E-F148A38B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69EAB-42CB-4A9E-9AC3-EB47001A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0C3506-DE47-450A-9780-2EB23C3C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0523C-01BC-4C7D-B7C4-B3981EE474B9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CCC283-9071-41C9-BFB7-0CEB64DB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F3790-ADDA-4AD9-AF5D-FAEAE9F5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3BD9-A5DD-46F3-8D23-DA339B08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407F6-FA04-4699-94E5-C1E9A7AC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4D448-A5E4-4439-9827-52B290884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0600C-4246-4DC9-893E-8028D53D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0957-BB7D-46DF-A082-A18D826E6206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57E3D-B24B-40AE-9F2D-A9F64467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743BD-8797-4295-85C6-488BA90B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8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E41E-C543-4198-AA4D-59E06A2F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DCD57-FAE2-4862-AE98-A502A9BC1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9209A-A301-46BA-834B-DD0B09932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ACD16-6B54-44C2-8B01-4A37AE59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96C9-B1C6-4592-9156-2F30C36610F8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1E81C-190D-49CC-98EF-D2B5F9F3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3AA4A-8326-43EE-BC41-025C7911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6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2FFC-FD99-4DFA-B3E2-FC18B49A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8E5CC-9E08-4D87-955D-5AA07BE81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ED093-4602-4A77-8C6C-8D55D51E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5628-2729-4EB3-9AC9-02F999CE1BAC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C5DFA-E42F-445B-86FC-9B7B938C2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78222-D3EE-4060-B67E-D47C40DB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9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5F280B-B17E-4200-8EB4-12FECE392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4B5B0-6392-449E-B0D2-20EDCF61F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5B8F9-DBA8-41F5-AF2D-DEAA7A95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EF8D-05C0-4581-A96A-EE3C88D5A96C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68A3-90E5-4C48-95B2-E667A661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1E432-2303-4C77-8535-9C6564EF0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99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28600"/>
            <a:ext cx="10972800" cy="586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59C5E75D-B5D8-408B-9C20-BE95CFF2F8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CCC23-E3BD-4F39-96B1-8BBE495839D7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9F2917BD-9FB5-42E0-8C93-B84F866A7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Rinaldi Munir/IF1220 Matematika Diskrit</a:t>
            </a: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457AF16B-35D1-4C17-9C87-A4B3A61D4E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8726E3-1648-4C45-A25D-01CFC6DCD3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83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64542-7BAE-4F81-B99C-9FDF5E9D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814BE-101F-48DC-98B2-440F88DCA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6D408-7EAB-4B60-A013-64C9BD41C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BCDE8-4415-44A0-960F-005DCAEB195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6D47C-241C-43E9-A2A9-F604AC8E0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Rinaldi Munir/IF1220 Matematika Diskrit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5FDBA-F4A8-4B18-AA6D-A4F8DC453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F8781-7876-49E4-83F6-0FC8603B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.doc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9">
            <a:extLst>
              <a:ext uri="{FF2B5EF4-FFF2-40B4-BE49-F238E27FC236}">
                <a16:creationId xmlns:a16="http://schemas.microsoft.com/office/drawing/2014/main" id="{056C1DB8-0F18-476C-A51D-34D017208C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06319E7-DDAE-4D98-9BE3-23CC56F49950}" type="slidenum">
              <a:rPr lang="en-GB" altLang="en-US" sz="1400">
                <a:solidFill>
                  <a:schemeClr val="tx2"/>
                </a:solidFill>
              </a:rPr>
              <a:pPr eaLnBrk="1" hangingPunct="1"/>
              <a:t>1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6E80C3CF-6DDB-4D15-B13C-73CB76AF871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700" y="118270"/>
            <a:ext cx="7867651" cy="1957268"/>
          </a:xfrm>
        </p:spPr>
        <p:txBody>
          <a:bodyPr/>
          <a:lstStyle/>
          <a:p>
            <a:pPr eaLnBrk="1" hangingPunct="1"/>
            <a:r>
              <a:rPr lang="en-US" altLang="en-US" b="1" dirty="0" err="1">
                <a:cs typeface="Times New Roman" panose="02020603050405020304" pitchFamily="18" charset="0"/>
              </a:rPr>
              <a:t>Pohon</a:t>
            </a:r>
            <a:r>
              <a:rPr lang="en-US" altLang="en-US" b="1" dirty="0">
                <a:cs typeface="Times New Roman" panose="02020603050405020304" pitchFamily="18" charset="0"/>
              </a:rPr>
              <a:t> (Bag. 2)</a:t>
            </a:r>
            <a:endParaRPr lang="en-GB" altLang="en-US" b="1" dirty="0">
              <a:cs typeface="Times New Roman" panose="02020603050405020304" pitchFamily="18" charset="0"/>
            </a:endParaRPr>
          </a:p>
        </p:txBody>
      </p:sp>
      <p:sp>
        <p:nvSpPr>
          <p:cNvPr id="49159" name="AutoShape 8" descr="data:image/jpeg;base64,/9j/4AAQSkZJRgABAQAAAQABAAD/2wCEAAkGBhQSERUUExQWFRUWFhkYGBcYGBgYFxYXFxgVFxcXFRccHCYeFxojGhgVHy8gIycpLCwsFx4xNTAqNScrLCkBCQoKDgwOGg8PGiwlHCQsKSwpLCwsKSwsKSkpLCwpKSwsLCwsKSwsLCwsLCwsLCwsLCwsLCkpKSwsLCwsLCwsLP/AABEIALcBEwMBIgACEQEDEQH/xAAcAAACAgMBAQAAAAAAAAAAAAADBQIEAAEGBwj/xABBEAACAQMCBAQEAwYEBAYDAAABAhEAAyESMQQFQVETImFxBjKBkUKhsQcUI1LB8BVi0eFygqLxFjNDkrLiFyQ0/8QAGgEAAwEBAQEAAAAAAAAAAAAAAAECAwQFBv/EAC4RAAICAQMDAgQFBQAAAAAAAAABAhEDEiExBBNBIlEFFGGhFTJx0eFCgZGxwf/aAAwDAQACEQMRAD8A4hLdHRK2iUZUr10dBFbfpRltVNLdGVKoYNbVTFr0oqpRBbplUAFkdh9qItodqKLdTFumh0CFsdqkLXpRglTFuqHQAWR2qQtego6pUhboGAFr0rfhUcW6kLdAqAC3WC1RwtbMD0oAB4dZ4VWdFYEoArG3UTbq0VqJSgAASom36VY0VvwqAKpSo6KtG3UTbpBRUNuoG36VcKVA26BNFM2x2FRNv0q2y0IrQySq1qhtaHarhShMtICi1odqC9qrzrVe4tSQUbluq9y3V26tVLgqWIrFK3UjWVFCHVtKsIlYiUdFrRG1GlSiqlbUURVpjo0EqYWpBamFplEQtTC1IJRFSgKIBKIEqYSiKlOx0CC1LTRQlRukDEwTt6kUWOiGigvxGkwRnOO8ZEd8dKo8eY3aIO4mBmGHcCZ+2PVTxXxCugAfPhSD5oKgiRuJk/8ATUuaRDY3v3g+oTB0mYyI8xn8vzFJn4tydOptQJGTkE4HqRn7etAPO1J8ksWXSwMyekKR98z07Ur43j9dzUMgiCNoInAnGw/vphPKkZtjo86cMvUCCQJGw06T6aomjP8AELqQMSARnbVIH6VydrmRZ5brgn0679evualxXG6m+0DHcmTgT/2rPv7CtnZf+IyGYESPw+siRGdvX1otv4mtEjMTvjEwMfdgPofeuM4TjAWUHZT12M7TAnGenaptbjy9Q5M/ywANhjcj/aqWZ0PUzvv8QXVEyP8A4kYAPvn7UezfDCeh29o/71wB4ligE7DOxySYA9JP610PLeZEMEMMY1Ftwi9GPQEZgAVrHLZSkdGbc1o26ml9SJDA+v5Z9anFbGlAGWhlKtlKhooFRUNqgsnpV42qibdAqKGn0qBT0q6yUMrQJooPZHagPYFMnt0C5boIFlzhxVa5w9NHt1WuW6lokWnh6yrhStVNIQwQUZVqKCigUG5JRRAKitEQUFE1FEUVpVoqinY6NAVvxADEjr+VVrnFIx06ojB23I6HcGJrn+M5gfGCNONJUjYhfx6vb8wO1S5UJujojza2NztMjqIIGfvQ0+I7esrnBAnOZIG3Q7+2O9c3xPFgXLimWGRr6tB69CJ6ntSzir+dYOCfNnIPeN87dv1rOWWiHNnW3eflidLQMCR0BJIbbsRI+xpNxXPLgZwzagpA/QhljEzIjrJpba43SDJEgSGyDjOkMO+F/pUeM47UkQuBPYyTt2yI98HeoeW0S5Nlo828bxJYqT5hkQxkYPSI/MUsv2IZcxP82BMZM5xtHvVYHzYaMR2B9D6YolpNQgmIJjY+8Gff0xWDnq5Isy1djKtBiemSD75MdepNaRA++6qT6YM5EdpFQFjQwLiVG8TGZIhvUAsD+u1WbdguGII8izJMEjoAO+nH3qE7AqNawDEyJGNyZB+xAj+xReLjBXI0gz6QN/UMYPqDU7ZW2zawIYE5gkE4BA2O/wBjPQVNrOkMYEMYxiGhTgdpJA7YOMSgK/DWQQDBOcjvuQo69DnYVY4a8Cc6hAM5GcPvjuV+59q1bBAQmAgLBSD8wUyQc+oz7/QN4mdWmA4aBHSd1/SewNO6AtcCxPnY4jEx08sKM5ON9sHrTFW8Mr4ZysmYMeVfmJ3Jz6gR90tm5oLDJO2DsRv9NxneaccFxHnGsa4AAEgBRn3zP4jt22jSDGhjwvGlRpTUW3loy2I3/COtO7XHE566SYGRM4JOAOu+4+gCPiyouKQwABlwJ9AAMzJ80Z6EzTngM5IG0rOIMmBnOPQdOldUW+DSPsN7FsmCxEx09Ykmjaanw1sxJMk+mMYgem9bdwNz/Y3rY1oAbdRKUUXgYjqJH5/39qwiiwKzWqE6VbahslMlooOhoD2mpk9uhG3QQ0K2tGg3LVNLtqqtxaRAuNqsqya1SFQRBRgKrawKj++RtWdmxfUUZRSf96ecVYt8a3ajUUNUFB5hc0rkwIPSR/zDqP760BeZgfNiuf5pzdtRBOoMBEbjqR3yNx6UpTSQOVIJzAyN1lQCVzvkYJ3XIwdvvSTib7EyJlYAPbGncYGx/Og3L7liNjGmO42GfYxmoC8cgggjGMEQfxd8xvt3Fcsp2YN2Q/fD8p3x9CJH9+w2qd26WBIwPxDoDnK9e/3NafQ2owBIwJODIiDuOu4OD9QOSoyFcHUMemJ743/71lbEbd8/LEQSJO/cfrVzhxhhMHdpB6fhPbIjbrv23cKyrrDHJMQZUgyYOxUziI2wKZWbTXLwtDdgCrEEHzaQ2Glmzp7/ACn3FR5HQnt8MzMdO6wxHc6omM9x/pU7XBsGmPlJMQCJ80iMxIDEe31prx3K1CkMpW6D5bgkLEKbcn1B65k9ZyutOPDYGRdDAid2ABBkR2G/eZpNUDRDieWsbZcCdJAKzJWZMxMjMmNsHeaYclvm3L27WsC2TcVhKhQANSid4LMZx5hG4JHxTvZXQVjUO0kAlQw7hldYg7GgWreoW31ANEZAKhVVlUvODJECew3Jp8O0HBrirQe2pE6lX5TnUuAB6YJyceU0C5xQW2FknUVZiRssqYXM6wQRI3WNjIq7wNwG2VZSrAXNBmA3lkie4Gesz2iqj8NFhLgkhQyMwOFfWYIxBBUiY3n7S/cQ0tW7efF/8vQfDTVjSyuwYERqKAREjzZ91TXgLMsG1lhpfPltQxCqQdKyZOmPUeoxaJtMbmr+F5RkeUGIDKcwcDG2O1H45y9tjLLbUg216MgYJq2HlUYmNyo60NjNtCIoHzMFDEkAbaug8okiTMnrvAkOCdFU6DLTEj5iOqruwAJ375jrf5aUGu+yrAXyo0eUEkyMCWAXfJlh1oFviyq+afEYqSWGpiRMCTGlBJ69v+W0goJwPCgKxus4JIBA0hi3m8sz5flIiMT02ro+V8wRG0hAgUkEvB1ECYnqR7xXG32aSWkEGRJBPWAI6kyZrdvjmA0iIESYAmCCI+ufqZq4z0gnR6LxnMoI82QYGmCZMRgHJMxppRwfMCQ2oyRAAJy0jcHt5QfzrlOF42Xz8hYnJMbx0MxnoZ9qYct5mvm1GTkW1Mgydm9ADkjtI2JB07tl6rH3C8S0alMkqDiSwXQSBHRRj0zvTbltxmhbhhjncExAgHt/t3pTy+8CdKjWoA1DTuQZICCSZxkzkb7V1XC6YlVCzvAA+8da2gy4qzRs0B7VXmWhsgrSy2iiy0JhVxrVAe3RZBTuCq1y3V+4lAcUWS0UDZrKs1qlZNC393NYLMVcitisTWiqqCiqlGCitmwDQOihxpBXdY9ev9zXK8z4gEnQDE53ImD36/nTjmXC+aFI36tEnMEEjB996VXLQD+XOcT5QMThgdxjqNqxyMykUFcsDt023noT1jPTqfarPDqWYgkB+gxmYEDpuTVzh5Ch9IE7GcncEA/iH+Ug7TQWtm4UKhQ+rQSpjW0SpK9CZiZjOax4Jorcby7RcI+WAsCQ0k6cA+87+vah8bbZfmjzeaYOZkRtmI7n7zTHiuDfStz+GOoKqJ+UAagRsQs4mCehNT5ZbS9di75FtrkeVTmZ3KzHqW6bzUtBp3FxtFULb2zKz2JUH2wWWQBODt0e8v4pLbB//TQorOpklCQRIP4pOrUPQEAnC1uRG4hu2H1S76kMIVAZipYk6YK6TmN/SoWOK0s0AlILN5SNJ+UzGoKdsnEquRQvSxrY6PnfGK2VIYOhKaYDa1AVQVIllbV0AMnByRSa3xRuuXUAeGvhgIMOoLF+owVYiBmIjap2uSv4rIo1SCElgIhUuHTqjzAQQNjGJANK7jm3caQAW8xUgggyZUSMGZgidwZxVSlbsG2W0fx73hgs6BtUgDUROosxJiBJ7bgmImmHA8JqXwdAW4CVu3bhZQNSALaOJGkK2MAhBG4pdwlm0BdS8Vtv4etHERrMPpwYGCFiMAt1im3wxxOp2xLGHYsdK2nJbUQo38oQACCY3EE0R53BLcr/ABHwpUIQxdSkkhAoOiSpEkz5VILDaIExSLiLym6wtfI7gqCcfNI1DaQCV+9dv8Qny3Ud2u23MDQQn8UJNsBfN5RJgajMN0yeD4u8C6tLa93Jj55zAnbbfczsKWTZhNUw120dtQNwzIEsXJaPMSIBgs09vXad4Ky21UEGJcky3kBEN/KMGBjEEjY1cDIl124cu+hTLSJIAHiXC0aVUk6QACSCR1BNbk2trkKnieJcC+HqjWzatCzk7mc9OvUQSXeFvg23QFVN1gojzNpaJAMGQATqM9COtF4u0FuE24dm9CCBkA+5AyN85im/KuBWwQbqA3CpOosCdKidNm2sqq7+Z8elD5nxdvheHtQlp7roHkZRdeCoz52GnJB3JxjGv6l6dtxJteD3BLZJEAksS0Ej5ZEKdyACPmrON5cba2yxXzKW0fMwMgnUN42G/wCE5GaK3H33cXmLsz6QVW2PLoAA06xGoLsQMSdhNR/cbrs7mNI1amkMPKNtRPmnyiB9BFSTRRa4zwgkzhViAZgGJz80/mTV7hbGgj5gzahKaiT3gjJiRgHP6x4Dl7vdLkhR5oMDOkj5VwAuD6YIq6vFCwfMQTOREsACTEnCDpAGJ/DVR92JIv8AKbvEAwqXFt9oVFkHJYMM9BA75rpeV8VcYaSQNJI0g5JmcADCggj61ytr4ktFv/L1QckxlRHsoExtXU/DHNgyRphsSqgQvbP97bV0Qa9zaHNWdAq9/wAtqg60fSaG1utrN6K7CgMKttbobW6dkNFK4tVriUwdKC60WS4i02/Wt1aPtWUrIoVhK2FrFNSxWNm9GCoveAUtuB29N6Xc54zQkCCex6j/AFrmjxTux3nc5z1Mfepc6IlKtjpOJ4gNg9ZiIncffpnv60mbl6gBwSCZIgDcHqIOYIxj61DheP0gZ804B8sbrHqCPpg1f4CyjjIJzAAYyDickgfSazbsjaQmRmDsQ0HJxAwd9hG3SOoppy/lQcEkkhnOV8ob5RKkHuD06YqvzfglAZlZwY2IgkGAZ77bifyonJSrKx8YWiuAupYJwSVB/Dgfc1K53ElvTC2OHNt2QfxHGNBLTEGGB3U7d1MiAJml3Oy7INVgqV/GNozqEDyiTT3ld6Az3FuyzEtc0grp+VSY8ygKMwO/QzVvjNBWAAdYkIBqZl3EIMaTjLGB+VOk0XotCvlwslEZbgF5Y8zklSpMDymRCycRgEmo8x4kWb3jiGDqyOoYAa10yHIJnWgwyx+E+hq8Ryu5bVmsarRZc2wxJYAEt5sQ2R5R0O5pY9lnt2yQpSdAIKyonCsFHkMiZiTO+azba2IeyqhzyziAP4TEnwxPDmNFxTcIl1M50uI0yRDPROd8N46OVtrrtIhIBZiyiSWGoyJl9QzsPel9u3F7wbzHY+DcUrIdtJRmf8QwBPrR+LvXrRBa26+WGKCRct51kz8hIEjB6mad7bh43JcruG5YYnQdCXm0MYLhlbW1swZdToOkz+E+oDyTnvg2vCCBtR1s6yGkrGhmIOFycRuc0rsoP3dpdlOoMqFX0MPl1KwwG+YZ3AIpn8PcJ41pkVlFy3/EQtiGnSVnYhgVHmGCTtmZTZKvahvyy8LbOfIHJPn1sWQRGm3bZSUE6RrYTCziRHJc54bRfurONRIJzM539+td/wDD1tX4dS942wC2oNpVQ4JDo7MCQ/yt2IbAEGuR+M7QF5SLtu7K/NbZTEYAbSBDb/SO1OfFlTj6bIi6xVERdNu8VBhSurSEFwA5kAgHv5gesC18M3ntqLgJCq76CAB5mUDXrO0DHQiTBk4UXeZMdAVdJS14Z3nqWf8AysVx7CrnMdFq0io+pwAGIIhSRqaOvUj075NSn5IXuNuI+ILNwraVNAkantgF7hBELLnzFm3ZpAmY6UHieSt53N221weSAzXGHfSY2X5Z6nC9Kr/D3KHYq8CAfIpJ1ljAwqujajgDzCJ+tdLf+GioY3FJuKA/hW00WQhY5uMzEEkgjJOxwatW92Wk5bsW8FwJusPCa4yJhzJ1ExoYKIImNe5IAIneKl8SXzbUIi6ZZramdZUDAAcMxEAzhiCemMv+Y858Hh1VFYpbTS5WVtmCAWJA0hS+PLMyQO9chx169xLG9ci2AQFTIW0r/iO5EiAB8xxHSqbpUuRySiqXJbXhTcNq3atECJ1sV1QqmNCkkW7flBBOW8xnYVDmfwutl9BYXL7DUQJIXUGmRjY9SAMjbo24K0qQbl19zKKqXGdmBSYCsqHTiGJnoF2MuH4zh/MitcRZOo6/K7EeZ7irsAMBVGOsYAErDSvJyqW1tsV8PzBd2nEqJwDBnaPU4Nd98Lc0veVCgCH0CAA9QN+5z9KS8TzC0NIsyBpgGQqknaAdI75j7dA8Vw19Bqc6VBBBZgN4jSMMwIgkx1P1uLoUfS9j06Qdtqga5X4d+JMC2cqMTgneBgHue5MAetdPg/3tWykdSalwRYigvUnTtUAPSjUDQE5qDKaskelDIp2S0VCBW6MVHpWUaidJynhGpC0/SaJa5khOnEz9hEgmrQUHY1z6jRRsR8TwzXD5lcHbCT/SCKS3eH8Jshh/mEKw74BPSa7pF9aHxGm2C0AM2JicwSJ7VL3JeG9zjrnBaCHlLiEkwSBBjt7A5A7VOwzW21KgEjKaj16jyiG9ux2py1k3mBNsH1EjURto27E/N9ap815IxgnWo2HmLiPUKdQOB3GN9qngjQ1uiSc1TSdLEjEqRouDHTBkYGZ9qT8wa07DSMNMaV1HrjaG+856Vl7g2HlP8Uz8hRg2MRqwYyO9A4DiDbuA3VdVExpAkHads/71LkRK3sxlY5txLW1S0++0hSVWMfxN8dPLMRnNWeXcSyWWRbUFDpfzMGlRgsdEQRkZ6CO1a4ezYIVkuXFYsVXSVbznMHWMSc/Nid96qcdy28jF5DrA1FXNtWCwAADGQZIMme1F0VTW5dXjmB0+QSoOpgwEE4JYsD3gkb9hNJLV8Wbl2wCty3c0iSfxDIIKzDAk5HYUzv8AxBwxA8K3ocQSbmnoIgMAzv196V8YGuWzFpgyPhhEKDJ0xg9o9jSciZP2HHLrC3rb8Pf1eMuUPYBYVgY6bEH096Pb+IC/BXkuybttWRjGTI0qzY7mCfT1pHw/G+M6EMtp1EqTqbU4CjRJOA2TAEZih86Ypgq1q6QVujOi4JkMD1zGPQdqNQaqVo6T4e4wrbsgoSvhhWBC6SrMSMFhPue8VyXE8NoNy4h0BbxQKSNQB1Msd4Az9N5rr/gXjvEtsrAtACbEwsQGYDssj6D1Nc38WcAbN1vOHS4zODENIxDDpv8AWm+AmvQpDJuBuW0Ti7nyXdJuAHVcgiRc1HIOQSqxIABOTFT4y5sLzqipbRLXlUIB5tQVtQgfIcQPvmu9bhls8FZN5lEWlVg2mCGSCM7mCBHtXlHFoFvFUJdVchDGWUMdOO5HSlLYeWOhV7lnnKFLpk6yyA6iTqk9W7MIjt96NyW3aa6GuNpRW1ABCxuNMwZPy98n85qjzHUWDPEmdgMQYjGMUcWybYf1yc/YdyMdeq1Pkw8nZ8y+MSXtm0gw4HmKprgPOsjIGdjG1WeG464yPduIA7AFCIgZAthSflUEzjJLMdq4e5eYgMx0gMkARAyckbzucDrntUuJ5oxOPNI0qWOrJjIzpBAMRss98i9Zt3H5Or5/zq1/DsKhuWbAD31QABioAtqzDcaiSxyZxvSO+z3LrGbSklW0FiAIgKGGTcYxMKxggzQblqSvD2xCqA1yThng5ZokCOn0FWbNhkJhjj+QEKQxAhegxMTvA2ouxNuTHduzxF5NIcsurX5xoQZInLanXJMx02oXM+SpbYC9d1BohEGhD/liCd43InrWHmqcOuchhC2/mYiDmemcZ9KW3eaYGPFdvlUBpUCDOrynpn27YqrSKlVfUYXeP4e3bWEAfVOcggEZMQIjAEbdetUl5mty5OjWTjSVUCdhhVkCeg3pXxSNcYF1YNPWe8QCzT33P2q5wPAQSVlREHbUZM9CAMAdetGpsi2zr/hz4Wt24L3JaAdIgARGSR6/pXUm0Bsa5nlHLIUEkgQNK/yjG/Y4p2CO/wB60To64KlwWGeKwXKr6s7zR1vkdKeoqggu96C0Gsa5NR0TRqCjXgetZUdJ71ujUKjk+C5A2DHv6nqT3OO1Mjy0jpTexwAuAHW4MdCP0iiXOQuFJW67H+Uxn2JxXLrOhYkkJV4Q+tV+IVwY0yI7Hf2ApytriVgm3I+k/UVdsXlPzoRSeSjWODUthA5IGp4GI9BO/wBao2eaCD4ahmmGJEHpE9pxjfH1pvxN0XXZQE8OY8x0se5M4X6x+lGs/DqXHi20kjoZVQIyTOo5IhcAxvG53DOUKYgTjQNRMycFiIiJjG8R0pfxxQwAxGkzrMQO+kKRg4ECO9dTz/4ZVUICRAnUrEMIH4vzk1yvC8g1yoR7jaZEmUWTKzqEhTBJODBgeq1mc4Pgo8YVBBsKxcA+cKFVlnOsQdYDRkzONsGo8NdvyzPaa4Rg3AJZesIrYXykbAkRiMmnyWnsBmuJ5nXymN0WTgQe0/5QPQkgug6AQ2kgSQMsSSGbYkSSYlo2xU6iOz9RBxdq2yiChxAVWOqczIbKn7ZpdfZ7ZXSxABLKNUkbZDL37YpxZ4ZLhcsCrB/nHzTnqOskHO+n7UePtureHBYQTBGkwZMssxq64iaeo5543Vii55WMgiJwZkH8jIP6U+4Zrl21kl1ZDq16WLFdypMlCI+b271X4TS6MpE4yzfMCBtMeXIGYnb1lZYco8SBnM5X6gTI9qLMq07+GXeV8x8C8RnwycqRvg6dS9xPr3o3MLh4viQiwABpB/CFUSzR99t8VV5vfLFdVpbbAQSsw20bk7e/WicjkeIwK/LEGQWHzEKRsYXtTvYFd6PB1PJrn7xadr7tc4i0xtoWIIthdMG0BA1HMk5OmuM4y8fHdpzrZpIJzJIkGmXJy2gnVpV2OokMR6gx7zSzmceJIIOBldpinY8m8EyHGcUbjFzAnoBAH0qxwNwBckYJYgmBAiPL+IliMelF5wgVbSiMLBjvCyTUbShLQgA3buAIkhPTGNXpnJpEaWpbhOKVtALqEDMpBJbUBB6TAEEnacjasHFKGZxbCuyhbaaZCyI1GevUGoklLmtySyjUSYOSYAAzp6+tDa6XYu4Mn5cn7j8TGf03pjZe4TggvSTpJLOWURtsDvPUnERQWTSZDRneX0zJzqME9T5R9ZqP7q5Hmbr+IyckCYGFP1olvh2RgxAczuYkjrAYiCKY9P0LvCeHp8gLvOXOwO+S23XYH2phZ41LeGh2O7wDIjYTsB2+vWuf4niySCBC/Yk4mQNtjWhrAkKQD1jf6nNUpFKVHZ279oqPKkH0H1oiW4IgwB0/3rjeG4k4AWSDOcxjoJp5wXEvHmH6SffNUpGsZX4OjtcSQN6sW+JpLbv1Zt8R607NUOEu1aW8e1Jl4wDrRBx3rS1FDiZqDH1paOOqJ46lqGMfErVL/wB7NZRqEX+DvoYKn7H+lM7XFf5j+deecMjdGA+umnNg399Wof8AHq/rXC5nqQhfg7W3xU70UEHpXIpzl1+ZQPuDV/h+ahiBkf33qe4a9h+Bpb5QoMhnAmdMgD8hJ+pptYuAYAilNtidiD7Gi+Kw6U1ko55YbLvE2teoEiCpE/iEzMf60PheBs2lIVViZYT8x/zDrvFKOYc4KAACWJgb/U47elKrXM2DFZGtoYNIiDuCfsPvR3SOwb5rwZvuzgvpiAmwURGCYUASMGfbOJcx5a4/h27RJ2nDEqBgXTgMAZg5ORt1tcHzUmAQSVaGAyFzkt9RA9VPamP+JONkBBMDpvG+Jjc0taB4nyjkLPKA4ZHDW7i+c6yTbKKqjUx0Qesz3mTvVEWbKJrVrk6Tq+cwBjzEJg4kt1HvXdcbftroLWlu3ZPhgquov8xIJ+UA5J2GOsVK3wmshr/8V51AEnw7Z7W02x/MZb1G1DkvczUJJ8HB3uTWr1sNa4e8GAxdVVthv5dfiFVcdzpJ2zS+9+zzj7yAm3b8g8o8qOymIBIAUmO5Feo8TaDPrjPpgzO89entVleMI6j7fkKcZ0Tk6fUfP/OrfEIy2eIDK1oQFYZCnbP4hgQc4EdKcfs9spdvvYeP4iSoIkFk80d/l1HBG1ep/E3J7PG2ilwDVB0PGUY7EHeJ3GxrxHgOLfheIS4MPaeY9VMFT6HI+taqSkqRwzxywTU5cDbmFv8AcOI4iww1ADVbMDDHSyEzmIMH1UUr5DyZ+Lvi0kSZYkzAAEkmPWB9aZ/HfMRxF9L6gRctLkGZ0kgz2IwpHp61b/ZqjePcZWVSqAeZSwIZhggERtvI6U9VRslQ15lj8X/Iq+Lrn8fw9Ok2hoYSGGuSWYNiQcdAekYqPB3bVm1qLarriYABCAHALbqTEmOkVT4jXf4hur3LjHGBLMSfYV0Q5Zw1sDw/FuXAY8QiEkGDA7DMZMmMxNDkktwhGWSbkhRw3CniLrs/kAgwA3bAEAnb9Zro+C5TbAkHckatDgyJBBLmRBxHtTzgeXxaZVuFAdyVHmmNWpiZBPuaUXuUW9Rh3uk5kQew2WCDgCZn2rPunfHpZQ3atlbjOCtiRqLtgEKfLP8AT61PheVErlsycdhJgAD1zV+zwSBV/wD17Y2Mln9yGBTHTeui4VLQUYQf8Py/nT7ptDptTtr/AGcdxfLyB8uR+KPsZ/pWCwyrsPp09x/pXW3mtfzCqjXbQ6/lVLKEumSOcXhRvEfSPyonhGnL37X9g1We9Z7n7GrWQyeGhdpNSWatm9a/m/I1Evb/AJhVazN4wAaiLdNTCr3rTKKNYtDM8c9614vrUfCBqD2qWsWlh/G9ayqen0Nbo1E6WDWy46Ua1dYH5af/AOHVocuI6D7V5ffTPol0tcSFyc1PWR9f9qs2uYDGGP8A7astwQ6qPtFQ/wANXsalzgzdY8i8oPb4gRMx7kCrvB8aNtRAPYzS5eXjoTRl4M9GqdSKlG9mN04BTJDST2GfoRmlj8EFlVLwcFWby+vSfWQQZ6ip2rbrkMR7GKucPxtxTLAXPRs09ZyvAlb5+xVbX4itb029KaAogqYMwwgSNhiCOhyavW7xczdJA6JbYqv/ADNhmP2Hod6Y2eers3DJ/wAuP6VX4gLcaUtsnpkj/ajW/c5lFXUoV9bT/wCh+F4K0p1KmkkRMdJmJ9/vV21ZDbZ+9T5fwV2MKjD/ADFgasPwjydFvT6y1Gs4Z5EnSf3QA8tNBblpqw/HX0WDo+tI7gdiZYD22o1I1wrJK7kqGR5Yex+1eU/tN+FjZu+Oqnw7p82Pluf/AGAn3DV6PY4S4P8A1IHo0f1rOM5T4yFLgLqwyGaQf+rHvTjm0OxZsXcWlyR8/MabfDnORw/jEgkvZZVgAw8jSTPTer3xj8IPwT/zW2PlbqP8r+v6/cDmor0k45I7cHi+vBkvyjoPgjgFvcWquoZdLmGEgwvUdd69HT4YtjZFHqoCn6kb1wH7O/8A+wE9Ef8AQCvWbHGAdQewJrh6mdTo9roLWG0r3Ev+AKPwg5qb8AOqj6U5PEaj0HtH9alf0Edj6ER+tc+s9FZnF00IGtRtVZuGpw3L2Py5+xqre4UjeKNbOuM4S2FL8FQW4A96aMnrUGSqWWRp2oPwKH5caC/LjTo26gbPrVLPIh9LjfgRnl5oZ4UjpTt+HobWe1aLqGYy6KPgUiz71gPp+ZphdtHpFVrtpu1Wsxzz6RIE189qC3FGo8Qjf3NUzaJ3rVSs4p46dUWzxBrKqfux7/39q1T1IjQ/Y9FVTRLvGi2ssMfr7VxSftCtx8lz/p/1qhzL4wtu0hHmO4E+hEkRXnLp8l7o759Zgr86+51Vz4mTUfKIkZkjB+87GnPAXrN1ZVvcHcV5Jd5sjH5WAkHcbD6D1+9OeS/EHD221EuOm2I9d5rSfTNK1Zhj66E3p1Jf3/c9RXgUOxog5evcVyQ+KuGClvFEDsc/RdzS67+0u2o8i3GM4B0gR3nJ+kVgsOSXCNcuWEOciO//AHBfStjgBXn/AAn7URjxLRHcqQY26GPWjN+1O2Di25HeVyO8VXYy+xz/ADUK/Oju/wB09axImAwntOa805r+1C4xAsKFXM6xqJ7QAcfnVNfjshlfTDQNRGIPUgde8fSq+WyVwSurxO05HsCOw60UcW/c/evOh+1S0IGi4fXyj8po3/5Ts/y3Nuy5Pb5qjsZfYlzxP+pHfPf1YbI9SaCQn8sexiuKX9qViMi57aQY/wCqj2f2j8M27Ff+JT/SRSeLIvBUZY+FJf5Ow/eNPywPcTVa9fdvxL/7QKRN8b8MFLeIhAMYyZ9BuftSfmH7T7KkC1bNzuSdAHoAQSaUceR8Ipyx495NfZjL4/uTwNwPogaYIGS2oR/X868cNdH8WfFx4sqApS2v4ZmWz5jgdMVzc16vTY5Rh6jx+syxyT9PCHPwnzEWeKRm+Uyp9AwifoYNerhx/KfvXh4auv5B8b6Alu8JUYDjcLEAMPxAYzv71l1OFy9UTt+G9XDGu3kdLwd+zn+UCoMfb8/6VQsc7s3MW7gY9gQfy3oXGfEFm0YdlU9jk/YVwaZXVH0WqCjqtV72MxxZGwP6f1qYFx8i2zDvk/0pAvxhYPy3FHuGH9KecJz1P3Rna6dPjATbcKZ0zGr+lXHE299jGeeCVwpv9SDJ3WKGyelB4rmVhEsnUWbiGYBjckKPEC6juCQDVjjr/DqQp1Wz4y2gSt0htRgyzIFB6iDFX2JvgX4hhi6kwWiTEf7/AErV6wy/MpX3BH2mjcXxVm1ctQCrfvCIMXSGBbqWUAN1wYrn/wDxLYueIUt3D4alyuuS3mVceTygaixOcCn8vMPxPCnz+40NQZvaqljnNkW3YqV18OLmlm+X+MqbxkHDA4wfrW+L4iyvjKJBsiS5bDeZVGIxq1SsH70fLyRS+JYZcM3evgAmf60qtc2loPePamHDsui+zWXuPaNseDLK3nk6mAGqIjYUH4e5FYv2rty47Iyu4jXHggao1THfM/y9JNbQ6dtbnn9T8Uipel8Eblyciap3mJ7/AN/WmfJBZa3wodWdr9y5b1aysBDAaBMnbEx71R5retfuy3balSLz2jLltWkSGPQH0GKpYZImXX45lMv71lKm5sO5rKrtsy+ax+4l1VmqsrK7D54zVW9VZWUAZrrNdZWUAZrrNdZWUCM11musrKB2b11musrKQWZrrfiVqsp0OzfiVovWqyihWzWqs1VlZQBmqt6q1WUATS+QZBIPcYNaa7O9ZWUqHqdGtdT/AHg6dMnTMxJidpjafWsrKBWae+SACSQJgEkgTkwOlEv8wuOAHd2C7BmJA9pOKyspiN3uZXH0lrjsV+UlmJX/AIZOOm1CtcQysGVirDYgkEexGaysoA3c4tmJLMxLfMSSS225O+w+wqVzjnZQhdyq7KWJUewmBWVlMCScyuK5cXHDnBYMwYjsTMnYUE3jkyczOTmd571lZQBJeKYaYZhpJKwxGkncr2PtWjfJEEmJmJMSesd/WtVlAENVbrKykB//2Q==">
            <a:extLst>
              <a:ext uri="{FF2B5EF4-FFF2-40B4-BE49-F238E27FC236}">
                <a16:creationId xmlns:a16="http://schemas.microsoft.com/office/drawing/2014/main" id="{A964038B-3368-454A-87B6-56AF471F83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276" y="-830263"/>
            <a:ext cx="2619375" cy="174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49160" name="Picture 10" descr="http://www.freefoto.com/images/15/19/15_19_1---Tree--Sunrise--Northumberland_web.jpg">
            <a:extLst>
              <a:ext uri="{FF2B5EF4-FFF2-40B4-BE49-F238E27FC236}">
                <a16:creationId xmlns:a16="http://schemas.microsoft.com/office/drawing/2014/main" id="{8B6B014A-EEAC-49C2-8FF7-E15AC431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718" y="41275"/>
            <a:ext cx="4800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C9F6A57-0F8D-FA04-B6C5-17EF04BB67B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3851565"/>
            <a:ext cx="9144000" cy="95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Bahan Kuliah </a:t>
            </a:r>
          </a:p>
          <a:p>
            <a:r>
              <a:rPr lang="en-US" altLang="en-US"/>
              <a:t>Matematika Diskrit</a:t>
            </a:r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75515-D0E4-1FD6-4737-CDB3E8E0E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13492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7F501906-9342-4210-B078-430CCACC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56540A6-F7ED-4727-9979-58C15F710625}" type="slidenum">
              <a:rPr lang="en-GB" altLang="en-US">
                <a:solidFill>
                  <a:schemeClr val="tx2"/>
                </a:solidFill>
              </a:rPr>
              <a:pPr eaLnBrk="1" hangingPunct="1"/>
              <a:t>2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50FE278E-37D3-4EFB-B252-7BC83DF33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6640" y="641984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b="1" dirty="0" err="1">
                <a:latin typeface="+mn-lt"/>
              </a:rPr>
              <a:t>Pohon</a:t>
            </a:r>
            <a:r>
              <a:rPr lang="en-US" altLang="en-US" b="1" dirty="0">
                <a:latin typeface="+mn-lt"/>
              </a:rPr>
              <a:t> </a:t>
            </a:r>
            <a:r>
              <a:rPr lang="en-US" altLang="en-US" b="1" dirty="0" err="1">
                <a:latin typeface="+mn-lt"/>
              </a:rPr>
              <a:t>berakar</a:t>
            </a:r>
            <a:r>
              <a:rPr lang="en-US" altLang="en-US" b="1" dirty="0">
                <a:latin typeface="+mn-lt"/>
              </a:rPr>
              <a:t> (</a:t>
            </a:r>
            <a:r>
              <a:rPr lang="en-US" altLang="en-US" b="1" i="1" dirty="0">
                <a:latin typeface="+mn-lt"/>
              </a:rPr>
              <a:t>rooted tree</a:t>
            </a:r>
            <a:r>
              <a:rPr lang="en-US" altLang="en-US" b="1" dirty="0">
                <a:latin typeface="+mn-lt"/>
              </a:rPr>
              <a:t>)</a:t>
            </a:r>
            <a:endParaRPr lang="en-GB" altLang="en-US" b="1" dirty="0">
              <a:latin typeface="+mn-lt"/>
            </a:endParaRPr>
          </a:p>
        </p:txBody>
      </p:sp>
      <p:graphicFrame>
        <p:nvGraphicFramePr>
          <p:cNvPr id="19458" name="Object 4">
            <a:extLst>
              <a:ext uri="{FF2B5EF4-FFF2-40B4-BE49-F238E27FC236}">
                <a16:creationId xmlns:a16="http://schemas.microsoft.com/office/drawing/2014/main" id="{BF1BF4C8-DF46-4616-A26A-F8873D094B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72660"/>
              </p:ext>
            </p:extLst>
          </p:nvPr>
        </p:nvGraphicFramePr>
        <p:xfrm>
          <a:off x="1330959" y="1711961"/>
          <a:ext cx="8489363" cy="464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3001518" progId="Word.Document.8">
                  <p:embed/>
                </p:oleObj>
              </mc:Choice>
              <mc:Fallback>
                <p:oleObj name="Document" r:id="rId3" imgW="5486400" imgH="3001518" progId="Word.Document.8">
                  <p:embed/>
                  <p:pic>
                    <p:nvPicPr>
                      <p:cNvPr id="19458" name="Object 4">
                        <a:extLst>
                          <a:ext uri="{FF2B5EF4-FFF2-40B4-BE49-F238E27FC236}">
                            <a16:creationId xmlns:a16="http://schemas.microsoft.com/office/drawing/2014/main" id="{BF1BF4C8-DF46-4616-A26A-F8873D094B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959" y="1711961"/>
                        <a:ext cx="8489363" cy="4644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8A8BB-8737-F540-6773-858856B4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8F763-710B-16D1-9A49-E1B01458F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09" y="994887"/>
            <a:ext cx="6474073" cy="4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87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Slide Number Placeholder 5">
            <a:extLst>
              <a:ext uri="{FF2B5EF4-FFF2-40B4-BE49-F238E27FC236}">
                <a16:creationId xmlns:a16="http://schemas.microsoft.com/office/drawing/2014/main" id="{988E99E1-EA01-4131-AE2A-79F437CD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FBCEFF9-553D-4C65-8B30-FDB5121A6298}" type="slidenum">
              <a:rPr lang="en-GB" altLang="en-US">
                <a:solidFill>
                  <a:schemeClr val="tx2"/>
                </a:solidFill>
              </a:rPr>
              <a:pPr eaLnBrk="1" hangingPunct="1"/>
              <a:t>4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20482" name="Object 4">
            <a:extLst>
              <a:ext uri="{FF2B5EF4-FFF2-40B4-BE49-F238E27FC236}">
                <a16:creationId xmlns:a16="http://schemas.microsoft.com/office/drawing/2014/main" id="{D06A0B37-C32B-4FB6-AFE7-77E5C2939D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815678"/>
              </p:ext>
            </p:extLst>
          </p:nvPr>
        </p:nvGraphicFramePr>
        <p:xfrm>
          <a:off x="1060057" y="1041400"/>
          <a:ext cx="10071885" cy="441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2405634" progId="Word.Document.8">
                  <p:embed/>
                </p:oleObj>
              </mc:Choice>
              <mc:Fallback>
                <p:oleObj name="Document" r:id="rId3" imgW="5486400" imgH="2405634" progId="Word.Document.8">
                  <p:embed/>
                  <p:pic>
                    <p:nvPicPr>
                      <p:cNvPr id="20482" name="Object 4">
                        <a:extLst>
                          <a:ext uri="{FF2B5EF4-FFF2-40B4-BE49-F238E27FC236}">
                            <a16:creationId xmlns:a16="http://schemas.microsoft.com/office/drawing/2014/main" id="{D06A0B37-C32B-4FB6-AFE7-77E5C2939D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057" y="1041400"/>
                        <a:ext cx="10071885" cy="4414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Slide Number Placeholder 5">
            <a:extLst>
              <a:ext uri="{FF2B5EF4-FFF2-40B4-BE49-F238E27FC236}">
                <a16:creationId xmlns:a16="http://schemas.microsoft.com/office/drawing/2014/main" id="{534246A1-810D-4757-93CD-6B504024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EADFA86-C1B1-4638-B9DD-66F9E15C4497}" type="slidenum">
              <a:rPr lang="en-GB" altLang="en-US">
                <a:solidFill>
                  <a:schemeClr val="tx2"/>
                </a:solidFill>
              </a:rPr>
              <a:pPr eaLnBrk="1" hangingPunct="1"/>
              <a:t>5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C959A8AD-E27C-492B-B886-22F368CA5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08025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3200" b="1" dirty="0" err="1">
                <a:latin typeface="+mn-lt"/>
                <a:cs typeface="Times New Roman" panose="02020603050405020304" pitchFamily="18" charset="0"/>
              </a:rPr>
              <a:t>Terminologi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  pada </a:t>
            </a:r>
            <a:r>
              <a:rPr lang="en-US" altLang="en-US" sz="3200" b="1" dirty="0" err="1">
                <a:latin typeface="+mn-lt"/>
                <a:cs typeface="Times New Roman" panose="02020603050405020304" pitchFamily="18" charset="0"/>
              </a:rPr>
              <a:t>Pohon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+mn-lt"/>
                <a:cs typeface="Times New Roman" panose="02020603050405020304" pitchFamily="18" charset="0"/>
              </a:rPr>
              <a:t>Berakar</a:t>
            </a:r>
            <a:endParaRPr lang="en-GB" altLang="en-US" sz="3200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21506" name="Object 4">
            <a:extLst>
              <a:ext uri="{FF2B5EF4-FFF2-40B4-BE49-F238E27FC236}">
                <a16:creationId xmlns:a16="http://schemas.microsoft.com/office/drawing/2014/main" id="{CCD3470B-8367-405A-B064-E44333766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801750"/>
              </p:ext>
            </p:extLst>
          </p:nvPr>
        </p:nvGraphicFramePr>
        <p:xfrm>
          <a:off x="1233055" y="1675606"/>
          <a:ext cx="82296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777240" progId="Word.Document.8">
                  <p:embed/>
                </p:oleObj>
              </mc:Choice>
              <mc:Fallback>
                <p:oleObj name="Document" r:id="rId3" imgW="5486400" imgH="777240" progId="Word.Document.8">
                  <p:embed/>
                  <p:pic>
                    <p:nvPicPr>
                      <p:cNvPr id="21506" name="Object 4">
                        <a:extLst>
                          <a:ext uri="{FF2B5EF4-FFF2-40B4-BE49-F238E27FC236}">
                            <a16:creationId xmlns:a16="http://schemas.microsoft.com/office/drawing/2014/main" id="{CCD3470B-8367-405A-B064-E443337664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055" y="1675606"/>
                        <a:ext cx="82296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5">
            <a:extLst>
              <a:ext uri="{FF2B5EF4-FFF2-40B4-BE49-F238E27FC236}">
                <a16:creationId xmlns:a16="http://schemas.microsoft.com/office/drawing/2014/main" id="{D4470439-5CFB-40DB-8052-F012EEB65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029005"/>
              </p:ext>
            </p:extLst>
          </p:nvPr>
        </p:nvGraphicFramePr>
        <p:xfrm>
          <a:off x="2609850" y="3079750"/>
          <a:ext cx="24003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02308" imgH="2319528" progId="Visio.Drawing.5">
                  <p:embed/>
                </p:oleObj>
              </mc:Choice>
              <mc:Fallback>
                <p:oleObj name="VISIO" r:id="rId5" imgW="1702308" imgH="2319528" progId="Visio.Drawing.5">
                  <p:embed/>
                  <p:pic>
                    <p:nvPicPr>
                      <p:cNvPr id="21507" name="Object 5">
                        <a:extLst>
                          <a:ext uri="{FF2B5EF4-FFF2-40B4-BE49-F238E27FC236}">
                            <a16:creationId xmlns:a16="http://schemas.microsoft.com/office/drawing/2014/main" id="{D4470439-5CFB-40DB-8052-F012EEB65C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3079750"/>
                        <a:ext cx="2400300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Slide Number Placeholder 5">
            <a:extLst>
              <a:ext uri="{FF2B5EF4-FFF2-40B4-BE49-F238E27FC236}">
                <a16:creationId xmlns:a16="http://schemas.microsoft.com/office/drawing/2014/main" id="{FE3BE214-34FB-480D-8A12-30FD60FE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1082414-17EA-49EA-8C08-3A56E8D19501}" type="slidenum">
              <a:rPr lang="en-GB" altLang="en-US">
                <a:solidFill>
                  <a:schemeClr val="tx2"/>
                </a:solidFill>
              </a:rPr>
              <a:pPr eaLnBrk="1" hangingPunct="1"/>
              <a:t>6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22530" name="Object 4">
            <a:extLst>
              <a:ext uri="{FF2B5EF4-FFF2-40B4-BE49-F238E27FC236}">
                <a16:creationId xmlns:a16="http://schemas.microsoft.com/office/drawing/2014/main" id="{D87DF3F3-D24B-4154-BE47-C6198B0AB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229116"/>
              </p:ext>
            </p:extLst>
          </p:nvPr>
        </p:nvGraphicFramePr>
        <p:xfrm>
          <a:off x="863296" y="1295400"/>
          <a:ext cx="9118904" cy="357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68874" imgH="2250186" progId="Word.Document.8">
                  <p:embed/>
                </p:oleObj>
              </mc:Choice>
              <mc:Fallback>
                <p:oleObj name="Document" r:id="rId3" imgW="5468874" imgH="2250186" progId="Word.Document.8">
                  <p:embed/>
                  <p:pic>
                    <p:nvPicPr>
                      <p:cNvPr id="22530" name="Object 4">
                        <a:extLst>
                          <a:ext uri="{FF2B5EF4-FFF2-40B4-BE49-F238E27FC236}">
                            <a16:creationId xmlns:a16="http://schemas.microsoft.com/office/drawing/2014/main" id="{D87DF3F3-D24B-4154-BE47-C6198B0AB3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296" y="1295400"/>
                        <a:ext cx="9118904" cy="3576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5">
            <a:extLst>
              <a:ext uri="{FF2B5EF4-FFF2-40B4-BE49-F238E27FC236}">
                <a16:creationId xmlns:a16="http://schemas.microsoft.com/office/drawing/2014/main" id="{F7EE2611-390D-4976-B426-BDEF6BFFA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436629"/>
              </p:ext>
            </p:extLst>
          </p:nvPr>
        </p:nvGraphicFramePr>
        <p:xfrm>
          <a:off x="7462520" y="825590"/>
          <a:ext cx="3510280" cy="4788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02308" imgH="2319528" progId="Visio.Drawing.5">
                  <p:embed/>
                </p:oleObj>
              </mc:Choice>
              <mc:Fallback>
                <p:oleObj name="VISIO" r:id="rId5" imgW="1702308" imgH="2319528" progId="Visio.Drawing.5">
                  <p:embed/>
                  <p:pic>
                    <p:nvPicPr>
                      <p:cNvPr id="22531" name="Object 5">
                        <a:extLst>
                          <a:ext uri="{FF2B5EF4-FFF2-40B4-BE49-F238E27FC236}">
                            <a16:creationId xmlns:a16="http://schemas.microsoft.com/office/drawing/2014/main" id="{F7EE2611-390D-4976-B426-BDEF6BFFA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520" y="825590"/>
                        <a:ext cx="3510280" cy="4788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EEC0846F-173A-42E9-B68F-A8B621D0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E402D7A-91B5-491D-9807-97C086CB5656}" type="slidenum">
              <a:rPr lang="en-GB" altLang="en-US">
                <a:solidFill>
                  <a:schemeClr val="tx2"/>
                </a:solidFill>
              </a:rPr>
              <a:pPr eaLnBrk="1" hangingPunct="1"/>
              <a:t>7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23554" name="Object 4">
            <a:extLst>
              <a:ext uri="{FF2B5EF4-FFF2-40B4-BE49-F238E27FC236}">
                <a16:creationId xmlns:a16="http://schemas.microsoft.com/office/drawing/2014/main" id="{AAEE86FB-6376-4AC9-BCEB-476173AC76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760147"/>
              </p:ext>
            </p:extLst>
          </p:nvPr>
        </p:nvGraphicFramePr>
        <p:xfrm>
          <a:off x="791867" y="950596"/>
          <a:ext cx="10407100" cy="512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2702052" progId="Word.Document.8">
                  <p:embed/>
                </p:oleObj>
              </mc:Choice>
              <mc:Fallback>
                <p:oleObj name="Document" r:id="rId3" imgW="5486400" imgH="2702052" progId="Word.Document.8">
                  <p:embed/>
                  <p:pic>
                    <p:nvPicPr>
                      <p:cNvPr id="23554" name="Object 4">
                        <a:extLst>
                          <a:ext uri="{FF2B5EF4-FFF2-40B4-BE49-F238E27FC236}">
                            <a16:creationId xmlns:a16="http://schemas.microsoft.com/office/drawing/2014/main" id="{AAEE86FB-6376-4AC9-BCEB-476173AC76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67" y="950596"/>
                        <a:ext cx="10407100" cy="5125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7A11BEAE-E60F-4F3B-AC87-C00AE871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E2BBB65-D496-4E51-BEA3-0B805D0DC663}" type="slidenum">
              <a:rPr lang="en-GB" altLang="en-US">
                <a:solidFill>
                  <a:schemeClr val="tx2"/>
                </a:solidFill>
              </a:rPr>
              <a:pPr eaLnBrk="1" hangingPunct="1"/>
              <a:t>8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24578" name="Object 4">
            <a:extLst>
              <a:ext uri="{FF2B5EF4-FFF2-40B4-BE49-F238E27FC236}">
                <a16:creationId xmlns:a16="http://schemas.microsoft.com/office/drawing/2014/main" id="{80F85FAA-73CE-40F7-A2A9-564C357C9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907602"/>
              </p:ext>
            </p:extLst>
          </p:nvPr>
        </p:nvGraphicFramePr>
        <p:xfrm>
          <a:off x="1118553" y="136525"/>
          <a:ext cx="10410825" cy="678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562398" imgH="5605542" progId="Word.Document.8">
                  <p:embed/>
                </p:oleObj>
              </mc:Choice>
              <mc:Fallback>
                <p:oleObj name="Document" r:id="rId3" imgW="8562398" imgH="5605542" progId="Word.Document.8">
                  <p:embed/>
                  <p:pic>
                    <p:nvPicPr>
                      <p:cNvPr id="24578" name="Object 4">
                        <a:extLst>
                          <a:ext uri="{FF2B5EF4-FFF2-40B4-BE49-F238E27FC236}">
                            <a16:creationId xmlns:a16="http://schemas.microsoft.com/office/drawing/2014/main" id="{80F85FAA-73CE-40F7-A2A9-564C357C90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553" y="136525"/>
                        <a:ext cx="10410825" cy="678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Slide Number Placeholder 5">
            <a:extLst>
              <a:ext uri="{FF2B5EF4-FFF2-40B4-BE49-F238E27FC236}">
                <a16:creationId xmlns:a16="http://schemas.microsoft.com/office/drawing/2014/main" id="{4E71F8B1-A992-4557-A09A-EF154A0A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0846E3-C813-4104-95D0-7A6B3452BA13}" type="slidenum">
              <a:rPr lang="en-GB" altLang="en-US">
                <a:solidFill>
                  <a:schemeClr val="tx2"/>
                </a:solidFill>
              </a:rPr>
              <a:pPr eaLnBrk="1" hangingPunct="1"/>
              <a:t>9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25602" name="Object 4">
            <a:extLst>
              <a:ext uri="{FF2B5EF4-FFF2-40B4-BE49-F238E27FC236}">
                <a16:creationId xmlns:a16="http://schemas.microsoft.com/office/drawing/2014/main" id="{6074972F-F15D-49BA-98C2-5DAB86C98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055791"/>
              </p:ext>
            </p:extLst>
          </p:nvPr>
        </p:nvGraphicFramePr>
        <p:xfrm>
          <a:off x="1397000" y="525463"/>
          <a:ext cx="8305800" cy="293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1940052" progId="Word.Document.8">
                  <p:embed/>
                </p:oleObj>
              </mc:Choice>
              <mc:Fallback>
                <p:oleObj name="Document" r:id="rId3" imgW="5486400" imgH="1940052" progId="Word.Document.8">
                  <p:embed/>
                  <p:pic>
                    <p:nvPicPr>
                      <p:cNvPr id="25602" name="Object 4">
                        <a:extLst>
                          <a:ext uri="{FF2B5EF4-FFF2-40B4-BE49-F238E27FC236}">
                            <a16:creationId xmlns:a16="http://schemas.microsoft.com/office/drawing/2014/main" id="{6074972F-F15D-49BA-98C2-5DAB86C983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525463"/>
                        <a:ext cx="8305800" cy="293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5">
            <a:extLst>
              <a:ext uri="{FF2B5EF4-FFF2-40B4-BE49-F238E27FC236}">
                <a16:creationId xmlns:a16="http://schemas.microsoft.com/office/drawing/2014/main" id="{D7B1878A-7D28-479A-8571-F6DCB490F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7985"/>
              </p:ext>
            </p:extLst>
          </p:nvPr>
        </p:nvGraphicFramePr>
        <p:xfrm>
          <a:off x="7826374" y="3017520"/>
          <a:ext cx="2638425" cy="359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02308" imgH="2319528" progId="Visio.Drawing.5">
                  <p:embed/>
                </p:oleObj>
              </mc:Choice>
              <mc:Fallback>
                <p:oleObj name="VISIO" r:id="rId5" imgW="1702308" imgH="2319528" progId="Visio.Drawing.5">
                  <p:embed/>
                  <p:pic>
                    <p:nvPicPr>
                      <p:cNvPr id="25603" name="Object 5">
                        <a:extLst>
                          <a:ext uri="{FF2B5EF4-FFF2-40B4-BE49-F238E27FC236}">
                            <a16:creationId xmlns:a16="http://schemas.microsoft.com/office/drawing/2014/main" id="{D7B1878A-7D28-479A-8571-F6DCB490F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74" y="3017520"/>
                        <a:ext cx="2638425" cy="359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Slide Number Placeholder 5">
            <a:extLst>
              <a:ext uri="{FF2B5EF4-FFF2-40B4-BE49-F238E27FC236}">
                <a16:creationId xmlns:a16="http://schemas.microsoft.com/office/drawing/2014/main" id="{4E16A5D6-9E4C-412E-A86C-00D05E6C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988F4C-C85A-487D-93A0-4C68FD42E5EF}" type="slidenum">
              <a:rPr lang="en-GB" altLang="en-US">
                <a:solidFill>
                  <a:schemeClr val="tx2"/>
                </a:solidFill>
              </a:rPr>
              <a:pPr eaLnBrk="1" hangingPunct="1"/>
              <a:t>10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26626" name="Object 4">
            <a:extLst>
              <a:ext uri="{FF2B5EF4-FFF2-40B4-BE49-F238E27FC236}">
                <a16:creationId xmlns:a16="http://schemas.microsoft.com/office/drawing/2014/main" id="{BF6AF6AF-B38E-42A9-961B-3F99BC8B06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279763"/>
              </p:ext>
            </p:extLst>
          </p:nvPr>
        </p:nvGraphicFramePr>
        <p:xfrm>
          <a:off x="1757679" y="647700"/>
          <a:ext cx="9018043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3384804" progId="Word.Document.8">
                  <p:embed/>
                </p:oleObj>
              </mc:Choice>
              <mc:Fallback>
                <p:oleObj name="Document" r:id="rId3" imgW="5486400" imgH="3384804" progId="Word.Document.8">
                  <p:embed/>
                  <p:pic>
                    <p:nvPicPr>
                      <p:cNvPr id="26626" name="Object 4">
                        <a:extLst>
                          <a:ext uri="{FF2B5EF4-FFF2-40B4-BE49-F238E27FC236}">
                            <a16:creationId xmlns:a16="http://schemas.microsoft.com/office/drawing/2014/main" id="{BF6AF6AF-B38E-42A9-961B-3F99BC8B06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679" y="647700"/>
                        <a:ext cx="9018043" cy="556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9ABE00-F916-4B88-8837-CEB5C332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picture containing ground, outdoor, nature, dirt&#10;&#10;Description automatically generated">
            <a:extLst>
              <a:ext uri="{FF2B5EF4-FFF2-40B4-BE49-F238E27FC236}">
                <a16:creationId xmlns:a16="http://schemas.microsoft.com/office/drawing/2014/main" id="{B1F1B9AA-D7B0-45A2-9866-7D44F5D3B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58" y="277328"/>
            <a:ext cx="4841340" cy="60790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6B2FA7-06C5-4AD4-B82E-0E68C062559E}"/>
              </a:ext>
            </a:extLst>
          </p:cNvPr>
          <p:cNvSpPr txBox="1"/>
          <p:nvPr/>
        </p:nvSpPr>
        <p:spPr>
          <a:xfrm>
            <a:off x="478947" y="247489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Ketemu</a:t>
            </a:r>
            <a:r>
              <a:rPr lang="en-US" sz="2800" dirty="0"/>
              <a:t> juga </a:t>
            </a:r>
            <a:r>
              <a:rPr lang="en-US" sz="2800" dirty="0" err="1"/>
              <a:t>pohon</a:t>
            </a:r>
            <a:r>
              <a:rPr lang="en-US" sz="2800" dirty="0"/>
              <a:t> (</a:t>
            </a:r>
            <a:r>
              <a:rPr lang="en-US" sz="2800" i="1" dirty="0"/>
              <a:t>tree</a:t>
            </a:r>
            <a:r>
              <a:rPr lang="en-US" sz="2800" dirty="0"/>
              <a:t>) yang </a:t>
            </a:r>
          </a:p>
          <a:p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teori</a:t>
            </a:r>
            <a:r>
              <a:rPr lang="en-US" sz="2800" dirty="0"/>
              <a:t> </a:t>
            </a:r>
            <a:r>
              <a:rPr lang="en-US" sz="2800" dirty="0" err="1"/>
              <a:t>graf</a:t>
            </a:r>
            <a:r>
              <a:rPr lang="en-US" sz="2800" dirty="0"/>
              <a:t>.  </a:t>
            </a:r>
            <a:r>
              <a:rPr lang="en-US" sz="2800" baseline="30000" dirty="0"/>
              <a:t>*)  </a:t>
            </a:r>
            <a:r>
              <a:rPr lang="en-US" sz="2800" dirty="0"/>
              <a:t>  </a:t>
            </a:r>
            <a:r>
              <a:rPr lang="en-US" sz="2800" dirty="0">
                <a:sym typeface="Wingdings" panose="05000000000000000000" pitchFamily="2" charset="2"/>
              </a:rPr>
              <a:t> 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A06DBC-40A2-4D2E-8D52-5ADBAF0065EF}"/>
              </a:ext>
            </a:extLst>
          </p:cNvPr>
          <p:cNvSpPr txBox="1"/>
          <p:nvPr/>
        </p:nvSpPr>
        <p:spPr>
          <a:xfrm>
            <a:off x="478947" y="5987018"/>
            <a:ext cx="1839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*) </a:t>
            </a:r>
            <a:r>
              <a:rPr lang="en-US" dirty="0" err="1"/>
              <a:t>Akarnya</a:t>
            </a:r>
            <a:r>
              <a:rPr lang="en-US" dirty="0"/>
              <a:t> di </a:t>
            </a:r>
            <a:r>
              <a:rPr lang="en-US" dirty="0" err="1"/>
              <a:t>atas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63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9023D4DD-9221-4AD1-904C-9853C1C9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973AEFD-B39E-412A-810E-9CC9ED043956}" type="slidenum">
              <a:rPr lang="en-GB" altLang="en-US">
                <a:solidFill>
                  <a:schemeClr val="tx2"/>
                </a:solidFill>
              </a:rPr>
              <a:pPr eaLnBrk="1" hangingPunct="1"/>
              <a:t>12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DCF31B5B-0A3F-46CF-83FE-9368AEBF3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645160"/>
            <a:ext cx="7772400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Pohon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Terurut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altLang="en-US" b="1" i="1" dirty="0">
                <a:latin typeface="+mn-lt"/>
                <a:cs typeface="Times New Roman" panose="02020603050405020304" pitchFamily="18" charset="0"/>
              </a:rPr>
              <a:t>ordered tree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)</a:t>
            </a:r>
            <a:endParaRPr lang="en-GB" altLang="en-US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27650" name="Object 5">
            <a:extLst>
              <a:ext uri="{FF2B5EF4-FFF2-40B4-BE49-F238E27FC236}">
                <a16:creationId xmlns:a16="http://schemas.microsoft.com/office/drawing/2014/main" id="{60DD1B98-8992-4D83-88A3-9C0BB321E5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832182"/>
              </p:ext>
            </p:extLst>
          </p:nvPr>
        </p:nvGraphicFramePr>
        <p:xfrm>
          <a:off x="1468120" y="1615441"/>
          <a:ext cx="8348654" cy="4338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715000" imgH="2970276" progId="Word.Document.8">
                  <p:embed/>
                </p:oleObj>
              </mc:Choice>
              <mc:Fallback>
                <p:oleObj name="Document" r:id="rId3" imgW="5715000" imgH="2970276" progId="Word.Document.8">
                  <p:embed/>
                  <p:pic>
                    <p:nvPicPr>
                      <p:cNvPr id="27650" name="Object 5">
                        <a:extLst>
                          <a:ext uri="{FF2B5EF4-FFF2-40B4-BE49-F238E27FC236}">
                            <a16:creationId xmlns:a16="http://schemas.microsoft.com/office/drawing/2014/main" id="{60DD1B98-8992-4D83-88A3-9C0BB321E5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120" y="1615441"/>
                        <a:ext cx="8348654" cy="4338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3BA74938-9A07-409B-AC61-E64E817E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36ECFA9-2029-4C29-9E15-8E9056C338C2}" type="slidenum">
              <a:rPr lang="en-GB" altLang="en-US">
                <a:solidFill>
                  <a:schemeClr val="tx2"/>
                </a:solidFill>
              </a:rPr>
              <a:pPr eaLnBrk="1" hangingPunct="1"/>
              <a:t>13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8EA99265-FEEC-4264-99F7-73E2E9645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440" y="426720"/>
            <a:ext cx="77724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Pohon</a:t>
            </a:r>
            <a:r>
              <a:rPr lang="en-US" altLang="en-US" b="1" i="1" dirty="0">
                <a:latin typeface="+mn-lt"/>
                <a:cs typeface="Times New Roman" panose="02020603050405020304" pitchFamily="18" charset="0"/>
              </a:rPr>
              <a:t> n-</a:t>
            </a:r>
            <a:r>
              <a:rPr lang="en-US" altLang="en-US" b="1" i="1" dirty="0" err="1">
                <a:latin typeface="+mn-lt"/>
                <a:cs typeface="Times New Roman" panose="02020603050405020304" pitchFamily="18" charset="0"/>
              </a:rPr>
              <a:t>ary</a:t>
            </a:r>
            <a:endParaRPr lang="en-GB" altLang="en-US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C0387-F5E3-E2CE-15A4-B16462D72EFC}"/>
              </a:ext>
            </a:extLst>
          </p:cNvPr>
          <p:cNvSpPr txBox="1"/>
          <p:nvPr/>
        </p:nvSpPr>
        <p:spPr>
          <a:xfrm>
            <a:off x="599439" y="1415914"/>
            <a:ext cx="1063461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171450" algn="l"/>
                <a:tab pos="8401050" algn="l"/>
              </a:tabLst>
            </a:pPr>
            <a:r>
              <a:rPr lang="en-US" sz="2400" dirty="0" err="1">
                <a:effectLst/>
                <a:ea typeface="Times New Roman" panose="02020603050405020304" pitchFamily="18" charset="0"/>
              </a:rPr>
              <a:t>Pohon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berakar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setiap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simpul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cabangnya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mempunyai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u="sng" dirty="0">
                <a:effectLst/>
                <a:ea typeface="Times New Roman" panose="02020603050405020304" pitchFamily="18" charset="0"/>
              </a:rPr>
              <a:t>paling </a:t>
            </a:r>
            <a:r>
              <a:rPr lang="en-US" sz="2400" u="sng" dirty="0" err="1">
                <a:effectLst/>
                <a:ea typeface="Times New Roman" panose="02020603050405020304" pitchFamily="18" charset="0"/>
              </a:rPr>
              <a:t>banyak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buah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anak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disebut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ea typeface="Times New Roman" panose="02020603050405020304" pitchFamily="18" charset="0"/>
              </a:rPr>
              <a:t>pohon</a:t>
            </a:r>
            <a:r>
              <a:rPr lang="en-US" sz="2400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b="1" i="1" dirty="0">
                <a:effectLst/>
                <a:ea typeface="Times New Roman" panose="02020603050405020304" pitchFamily="18" charset="0"/>
              </a:rPr>
              <a:t>n-</a:t>
            </a:r>
            <a:r>
              <a:rPr lang="en-US" sz="2400" b="1" i="1" dirty="0" err="1">
                <a:effectLst/>
                <a:ea typeface="Times New Roman" panose="02020603050405020304" pitchFamily="18" charset="0"/>
              </a:rPr>
              <a:t>ary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					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 </a:t>
            </a:r>
          </a:p>
        </p:txBody>
      </p:sp>
      <p:pic>
        <p:nvPicPr>
          <p:cNvPr id="7" name="Picture 6" descr="A diagram of a tree&#10;&#10;Description automatically generated">
            <a:extLst>
              <a:ext uri="{FF2B5EF4-FFF2-40B4-BE49-F238E27FC236}">
                <a16:creationId xmlns:a16="http://schemas.microsoft.com/office/drawing/2014/main" id="{CCA31AA7-6578-9982-8004-E0382236E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456" y="2513047"/>
            <a:ext cx="5572481" cy="4025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6E632C-A529-D087-1BDD-CC8549A2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 descr="A black and white image of a structure&#10;&#10;Description automatically generated">
            <a:extLst>
              <a:ext uri="{FF2B5EF4-FFF2-40B4-BE49-F238E27FC236}">
                <a16:creationId xmlns:a16="http://schemas.microsoft.com/office/drawing/2014/main" id="{0C9F1C27-3CBD-C57F-49BF-DCC934309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72" y="2020919"/>
            <a:ext cx="6948564" cy="2569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E46E6C-A472-E207-A966-D24F13D02DB4}"/>
              </a:ext>
            </a:extLst>
          </p:cNvPr>
          <p:cNvSpPr txBox="1"/>
          <p:nvPr/>
        </p:nvSpPr>
        <p:spPr>
          <a:xfrm>
            <a:off x="2803873" y="5293638"/>
            <a:ext cx="1768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Pohon</a:t>
            </a:r>
            <a:r>
              <a:rPr lang="en-US" sz="2400" dirty="0"/>
              <a:t> 3-ary </a:t>
            </a:r>
          </a:p>
        </p:txBody>
      </p:sp>
      <p:pic>
        <p:nvPicPr>
          <p:cNvPr id="5" name="Picture 4" descr="A diagram of a tree&#10;&#10;Description automatically generated">
            <a:extLst>
              <a:ext uri="{FF2B5EF4-FFF2-40B4-BE49-F238E27FC236}">
                <a16:creationId xmlns:a16="http://schemas.microsoft.com/office/drawing/2014/main" id="{DFED4CD5-02B9-D468-41F0-3D5B5E7531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033" y="1504495"/>
            <a:ext cx="4185095" cy="32918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0DE5ED-42E6-C461-6CA5-29068C992707}"/>
              </a:ext>
            </a:extLst>
          </p:cNvPr>
          <p:cNvSpPr txBox="1"/>
          <p:nvPr/>
        </p:nvSpPr>
        <p:spPr>
          <a:xfrm>
            <a:off x="9097919" y="5062805"/>
            <a:ext cx="1768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Pohon</a:t>
            </a:r>
            <a:r>
              <a:rPr lang="en-US" sz="2400" dirty="0"/>
              <a:t> 3-ary </a:t>
            </a:r>
          </a:p>
        </p:txBody>
      </p:sp>
    </p:spTree>
    <p:extLst>
      <p:ext uri="{BB962C8B-B14F-4D97-AF65-F5344CB8AC3E}">
        <p14:creationId xmlns:p14="http://schemas.microsoft.com/office/powerpoint/2010/main" val="2421617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6E632C-A529-D087-1BDD-CC8549A2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323D27-51EE-D7BA-50F2-8C1FA76FFB7F}"/>
              </a:ext>
            </a:extLst>
          </p:cNvPr>
          <p:cNvSpPr txBox="1"/>
          <p:nvPr/>
        </p:nvSpPr>
        <p:spPr>
          <a:xfrm>
            <a:off x="667657" y="310963"/>
            <a:ext cx="106861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ea typeface="Times New Roman" panose="02020603050405020304" pitchFamily="18" charset="0"/>
              </a:rPr>
              <a:t>Pohon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n-</a:t>
            </a:r>
            <a:r>
              <a:rPr lang="en-US" sz="2400" i="1" dirty="0" err="1">
                <a:effectLst/>
                <a:ea typeface="Times New Roman" panose="02020603050405020304" pitchFamily="18" charset="0"/>
              </a:rPr>
              <a:t>ary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dikatakan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ea typeface="Times New Roman" panose="02020603050405020304" pitchFamily="18" charset="0"/>
              </a:rPr>
              <a:t>teratur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atau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ea typeface="Times New Roman" panose="02020603050405020304" pitchFamily="18" charset="0"/>
              </a:rPr>
              <a:t>penuh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(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full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)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jika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setiap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a typeface="Times New Roman" panose="02020603050405020304" pitchFamily="18" charset="0"/>
              </a:rPr>
              <a:t>kecuali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pada </a:t>
            </a:r>
            <a:r>
              <a:rPr lang="en-US" sz="2400" dirty="0" err="1">
                <a:ea typeface="Times New Roman" panose="02020603050405020304" pitchFamily="18" charset="0"/>
              </a:rPr>
              <a:t>aras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daun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mem</a:t>
            </a:r>
            <a:r>
              <a:rPr lang="en-US" sz="2400" dirty="0" err="1">
                <a:ea typeface="Times New Roman" panose="02020603050405020304" pitchFamily="18" charset="0"/>
              </a:rPr>
              <a:t>iliki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u="sng" dirty="0" err="1">
                <a:effectLst/>
                <a:ea typeface="Times New Roman" panose="02020603050405020304" pitchFamily="18" charset="0"/>
              </a:rPr>
              <a:t>tepat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anak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.</a:t>
            </a:r>
          </a:p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ea typeface="Times New Roman" panose="02020603050405020304" pitchFamily="18" charset="0"/>
            </a:endParaRPr>
          </a:p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Times New Roman" panose="02020603050405020304" pitchFamily="18" charset="0"/>
              </a:rPr>
              <a:t>Di </a:t>
            </a:r>
            <a:r>
              <a:rPr lang="en-US" sz="2400" dirty="0" err="1">
                <a:ea typeface="Times New Roman" panose="02020603050405020304" pitchFamily="18" charset="0"/>
              </a:rPr>
              <a:t>bawah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ini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pohon</a:t>
            </a:r>
            <a:r>
              <a:rPr lang="en-US" sz="2400" dirty="0">
                <a:ea typeface="Times New Roman" panose="02020603050405020304" pitchFamily="18" charset="0"/>
              </a:rPr>
              <a:t> 3-ary </a:t>
            </a:r>
            <a:r>
              <a:rPr lang="en-US" sz="2400" dirty="0" err="1">
                <a:ea typeface="Times New Roman" panose="02020603050405020304" pitchFamily="18" charset="0"/>
              </a:rPr>
              <a:t>penuh</a:t>
            </a:r>
            <a:r>
              <a:rPr lang="en-US" sz="2400" dirty="0"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7D4C7A-4E92-9022-111D-33E7D26B4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056753"/>
            <a:ext cx="5559879" cy="4194013"/>
          </a:xfrm>
          <a:prstGeom prst="rect">
            <a:avLst/>
          </a:prstGeom>
        </p:spPr>
      </p:pic>
      <p:pic>
        <p:nvPicPr>
          <p:cNvPr id="10" name="Picture 9" descr="A diagram of a network&#10;&#10;Description automatically generated">
            <a:extLst>
              <a:ext uri="{FF2B5EF4-FFF2-40B4-BE49-F238E27FC236}">
                <a16:creationId xmlns:a16="http://schemas.microsoft.com/office/drawing/2014/main" id="{89250062-F5DD-3D5E-E92B-1A18A0135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72" y="2183709"/>
            <a:ext cx="5333404" cy="381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01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822A13-AD6F-9395-5BB8-FCB5942A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EE15A-E134-935D-C488-F4F7BA02C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15" y="452210"/>
            <a:ext cx="7475921" cy="545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74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5047E-C65E-490A-08F2-C0CC272D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AB222-A3EC-CF55-31DF-CF2A940A9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778" y="1226230"/>
            <a:ext cx="9251734" cy="4695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D9BBE6-ABB8-D954-4D90-D847FB6A81B7}"/>
              </a:ext>
            </a:extLst>
          </p:cNvPr>
          <p:cNvSpPr txBox="1"/>
          <p:nvPr/>
        </p:nvSpPr>
        <p:spPr>
          <a:xfrm>
            <a:off x="2438401" y="316358"/>
            <a:ext cx="6559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Salah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kegunaan</a:t>
            </a:r>
            <a:r>
              <a:rPr lang="en-US" sz="2400" dirty="0"/>
              <a:t> </a:t>
            </a:r>
            <a:r>
              <a:rPr lang="en-US" sz="2400" dirty="0" err="1"/>
              <a:t>pohon</a:t>
            </a:r>
            <a:r>
              <a:rPr lang="en-US" sz="2400" dirty="0"/>
              <a:t> n-</a:t>
            </a:r>
            <a:r>
              <a:rPr lang="en-US" sz="2400" dirty="0" err="1"/>
              <a:t>ary</a:t>
            </a:r>
            <a:r>
              <a:rPr lang="en-US" sz="2400" dirty="0"/>
              <a:t>: </a:t>
            </a:r>
            <a:r>
              <a:rPr lang="en-US" sz="2400" i="1" dirty="0"/>
              <a:t>parsing</a:t>
            </a:r>
            <a:r>
              <a:rPr lang="en-US" sz="2400" dirty="0"/>
              <a:t> </a:t>
            </a:r>
            <a:r>
              <a:rPr lang="en-US" sz="2400" dirty="0" err="1"/>
              <a:t>kalimat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9478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A80D31-151B-E028-B07A-37A2AF5C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A diagram of a tree&#10;&#10;Description automatically generated">
            <a:extLst>
              <a:ext uri="{FF2B5EF4-FFF2-40B4-BE49-F238E27FC236}">
                <a16:creationId xmlns:a16="http://schemas.microsoft.com/office/drawing/2014/main" id="{63891B27-7CF6-F62F-A318-1D9836315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14" y="1056953"/>
            <a:ext cx="4249057" cy="4744093"/>
          </a:xfrm>
          <a:prstGeom prst="rect">
            <a:avLst/>
          </a:prstGeom>
        </p:spPr>
      </p:pic>
      <p:pic>
        <p:nvPicPr>
          <p:cNvPr id="7" name="Picture 6" descr="A diagram of a tree&#10;&#10;Description automatically generated">
            <a:extLst>
              <a:ext uri="{FF2B5EF4-FFF2-40B4-BE49-F238E27FC236}">
                <a16:creationId xmlns:a16="http://schemas.microsoft.com/office/drawing/2014/main" id="{D162A1AF-0852-CB9F-494B-3B986DE90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202" y="1538286"/>
            <a:ext cx="6229141" cy="348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141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Slide Number Placeholder 5">
            <a:extLst>
              <a:ext uri="{FF2B5EF4-FFF2-40B4-BE49-F238E27FC236}">
                <a16:creationId xmlns:a16="http://schemas.microsoft.com/office/drawing/2014/main" id="{AE77B41A-B180-4B13-95A7-F3CB05DE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FA9DBDD-7147-45C2-883F-AD8DF7767A2D}" type="slidenum">
              <a:rPr lang="en-GB" altLang="en-US">
                <a:solidFill>
                  <a:schemeClr val="tx2"/>
                </a:solidFill>
              </a:rPr>
              <a:pPr eaLnBrk="1" hangingPunct="1"/>
              <a:t>19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E5F71F30-96AA-446E-984C-09519F499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Pohon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Biner</a:t>
            </a:r>
            <a:r>
              <a:rPr lang="en-GB" altLang="en-US" b="1" dirty="0">
                <a:latin typeface="+mn-lt"/>
              </a:rPr>
              <a:t> </a:t>
            </a:r>
            <a:r>
              <a:rPr lang="en-US" altLang="en-US" b="1" dirty="0">
                <a:latin typeface="+mn-lt"/>
              </a:rPr>
              <a:t> (</a:t>
            </a:r>
            <a:r>
              <a:rPr lang="en-US" altLang="en-US" b="1" i="1" dirty="0">
                <a:latin typeface="+mn-lt"/>
              </a:rPr>
              <a:t>binary tree</a:t>
            </a:r>
            <a:r>
              <a:rPr lang="en-US" altLang="en-US" b="1" dirty="0">
                <a:latin typeface="+mn-lt"/>
              </a:rPr>
              <a:t>)</a:t>
            </a:r>
            <a:endParaRPr lang="en-GB" altLang="en-US" b="1" dirty="0">
              <a:latin typeface="+mn-lt"/>
            </a:endParaRP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0B389CAE-7EA2-47F9-ABDB-FD53B57B5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B0A09"/>
                </a:solidFill>
              </a:rPr>
              <a:t>Adalah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pohon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i="1" dirty="0">
                <a:solidFill>
                  <a:srgbClr val="0B0A09"/>
                </a:solidFill>
              </a:rPr>
              <a:t>n-</a:t>
            </a:r>
            <a:r>
              <a:rPr lang="en-US" altLang="en-US" i="1" dirty="0" err="1">
                <a:solidFill>
                  <a:srgbClr val="0B0A09"/>
                </a:solidFill>
              </a:rPr>
              <a:t>ary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dengan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i="1" dirty="0">
                <a:solidFill>
                  <a:srgbClr val="0B0A09"/>
                </a:solidFill>
              </a:rPr>
              <a:t>n</a:t>
            </a:r>
            <a:r>
              <a:rPr lang="en-US" altLang="en-US" dirty="0">
                <a:solidFill>
                  <a:srgbClr val="0B0A09"/>
                </a:solidFill>
              </a:rPr>
              <a:t> = 2.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B0A09"/>
                </a:solidFill>
              </a:rPr>
              <a:t>Pohon</a:t>
            </a:r>
            <a:r>
              <a:rPr lang="en-US" altLang="en-US" dirty="0">
                <a:solidFill>
                  <a:srgbClr val="0B0A09"/>
                </a:solidFill>
              </a:rPr>
              <a:t> yang paling </a:t>
            </a:r>
            <a:r>
              <a:rPr lang="en-US" altLang="en-US" dirty="0" err="1">
                <a:solidFill>
                  <a:srgbClr val="0B0A09"/>
                </a:solidFill>
              </a:rPr>
              <a:t>penting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karena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banyak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aplikasinya</a:t>
            </a:r>
            <a:r>
              <a:rPr lang="en-US" altLang="en-US" dirty="0">
                <a:solidFill>
                  <a:srgbClr val="0B0A09"/>
                </a:solidFill>
              </a:rPr>
              <a:t>.</a:t>
            </a:r>
            <a:endParaRPr lang="en-GB" altLang="en-US" dirty="0">
              <a:solidFill>
                <a:srgbClr val="0B0A09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B0A09"/>
                </a:solidFill>
              </a:rPr>
              <a:t>Setiap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simpul</a:t>
            </a:r>
            <a:r>
              <a:rPr lang="en-US" altLang="en-US" dirty="0">
                <a:solidFill>
                  <a:srgbClr val="0B0A09"/>
                </a:solidFill>
              </a:rPr>
              <a:t> di </a:t>
            </a:r>
            <a:r>
              <a:rPr lang="en-US" altLang="en-US" dirty="0" err="1">
                <a:solidFill>
                  <a:srgbClr val="0B0A09"/>
                </a:solidFill>
              </a:rPr>
              <a:t>adlam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pohon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biner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mempunyai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u="sng" dirty="0">
                <a:solidFill>
                  <a:srgbClr val="0B0A09"/>
                </a:solidFill>
              </a:rPr>
              <a:t>paling </a:t>
            </a:r>
            <a:r>
              <a:rPr lang="en-US" altLang="en-US" u="sng" dirty="0" err="1">
                <a:solidFill>
                  <a:srgbClr val="0B0A09"/>
                </a:solidFill>
              </a:rPr>
              <a:t>banyak</a:t>
            </a:r>
            <a:r>
              <a:rPr lang="en-US" altLang="en-US" dirty="0">
                <a:solidFill>
                  <a:srgbClr val="0B0A09"/>
                </a:solidFill>
              </a:rPr>
              <a:t> 2 </a:t>
            </a:r>
            <a:r>
              <a:rPr lang="en-US" altLang="en-US" dirty="0" err="1">
                <a:solidFill>
                  <a:srgbClr val="0B0A09"/>
                </a:solidFill>
              </a:rPr>
              <a:t>buah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anak</a:t>
            </a:r>
            <a:r>
              <a:rPr lang="en-US" altLang="en-US" dirty="0">
                <a:solidFill>
                  <a:srgbClr val="0B0A09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B0A09"/>
                </a:solidFill>
              </a:rPr>
              <a:t>Dibedakan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antara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anak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kiri</a:t>
            </a:r>
            <a:r>
              <a:rPr lang="en-US" altLang="en-US" dirty="0">
                <a:solidFill>
                  <a:srgbClr val="0B0A09"/>
                </a:solidFill>
              </a:rPr>
              <a:t> (</a:t>
            </a:r>
            <a:r>
              <a:rPr lang="en-US" altLang="en-US" i="1" dirty="0">
                <a:solidFill>
                  <a:srgbClr val="0B0A09"/>
                </a:solidFill>
              </a:rPr>
              <a:t>left child</a:t>
            </a:r>
            <a:r>
              <a:rPr lang="en-US" altLang="en-US" dirty="0">
                <a:solidFill>
                  <a:srgbClr val="0B0A09"/>
                </a:solidFill>
              </a:rPr>
              <a:t>) dan </a:t>
            </a:r>
            <a:r>
              <a:rPr lang="en-US" altLang="en-US" dirty="0" err="1">
                <a:solidFill>
                  <a:srgbClr val="0B0A09"/>
                </a:solidFill>
              </a:rPr>
              <a:t>anak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kanan</a:t>
            </a:r>
            <a:r>
              <a:rPr lang="en-US" altLang="en-US" dirty="0">
                <a:solidFill>
                  <a:srgbClr val="0B0A09"/>
                </a:solidFill>
              </a:rPr>
              <a:t> (</a:t>
            </a:r>
            <a:r>
              <a:rPr lang="en-US" altLang="en-US" i="1" dirty="0">
                <a:solidFill>
                  <a:srgbClr val="0B0A09"/>
                </a:solidFill>
              </a:rPr>
              <a:t>right child</a:t>
            </a:r>
            <a:r>
              <a:rPr lang="en-US" altLang="en-US" dirty="0">
                <a:solidFill>
                  <a:srgbClr val="0B0A09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B0A09"/>
                </a:solidFill>
              </a:rPr>
              <a:t>Karena </a:t>
            </a:r>
            <a:r>
              <a:rPr lang="en-US" altLang="en-US" dirty="0" err="1">
                <a:solidFill>
                  <a:srgbClr val="0B0A09"/>
                </a:solidFill>
              </a:rPr>
              <a:t>ada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perbedaan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urutan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anak</a:t>
            </a:r>
            <a:r>
              <a:rPr lang="en-US" altLang="en-US" dirty="0">
                <a:solidFill>
                  <a:srgbClr val="0B0A09"/>
                </a:solidFill>
              </a:rPr>
              <a:t>, </a:t>
            </a:r>
            <a:r>
              <a:rPr lang="en-US" altLang="en-US" dirty="0" err="1">
                <a:solidFill>
                  <a:srgbClr val="0B0A09"/>
                </a:solidFill>
              </a:rPr>
              <a:t>maka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pohon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biner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adalah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pohon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terurut</a:t>
            </a:r>
            <a:r>
              <a:rPr lang="en-US" altLang="en-US" dirty="0">
                <a:solidFill>
                  <a:srgbClr val="0B0A09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390113E3-D4BF-4007-9DE2-8E736310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9492AD2-FC34-43D9-955C-A7980CBF2FEA}" type="slidenum">
              <a:rPr lang="en-GB" altLang="en-US">
                <a:solidFill>
                  <a:schemeClr val="tx2"/>
                </a:solidFill>
              </a:rPr>
              <a:pPr eaLnBrk="1" hangingPunct="1"/>
              <a:t>20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29698" name="Object 7">
            <a:extLst>
              <a:ext uri="{FF2B5EF4-FFF2-40B4-BE49-F238E27FC236}">
                <a16:creationId xmlns:a16="http://schemas.microsoft.com/office/drawing/2014/main" id="{0C97A1D7-2F2E-4344-AB80-B357948240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386783"/>
              </p:ext>
            </p:extLst>
          </p:nvPr>
        </p:nvGraphicFramePr>
        <p:xfrm>
          <a:off x="2453640" y="1371601"/>
          <a:ext cx="6761480" cy="3154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018282" imgH="1406652" progId="Visio.Drawing.5">
                  <p:embed/>
                </p:oleObj>
              </mc:Choice>
              <mc:Fallback>
                <p:oleObj name="VISIO" r:id="rId3" imgW="3018282" imgH="1406652" progId="Visio.Drawing.5">
                  <p:embed/>
                  <p:pic>
                    <p:nvPicPr>
                      <p:cNvPr id="29698" name="Object 7">
                        <a:extLst>
                          <a:ext uri="{FF2B5EF4-FFF2-40B4-BE49-F238E27FC236}">
                            <a16:creationId xmlns:a16="http://schemas.microsoft.com/office/drawing/2014/main" id="{0C97A1D7-2F2E-4344-AB80-B357948240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640" y="1371601"/>
                        <a:ext cx="6761480" cy="3154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Rectangle 8">
            <a:extLst>
              <a:ext uri="{FF2B5EF4-FFF2-40B4-BE49-F238E27FC236}">
                <a16:creationId xmlns:a16="http://schemas.microsoft.com/office/drawing/2014/main" id="{9B800EB5-1D87-4BCD-8B13-08C272B16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845049"/>
            <a:ext cx="693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dirty="0">
                <a:solidFill>
                  <a:srgbClr val="0B0A09"/>
                </a:solidFill>
                <a:cs typeface="Times New Roman" panose="02020603050405020304" pitchFamily="18" charset="0"/>
              </a:rPr>
              <a:t>Gambar </a:t>
            </a:r>
            <a:r>
              <a:rPr lang="en-US" altLang="en-US" sz="18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Dua</a:t>
            </a:r>
            <a:r>
              <a:rPr lang="en-US" altLang="en-US" sz="18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buah</a:t>
            </a:r>
            <a:r>
              <a:rPr lang="en-US" altLang="en-US" sz="18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pohon</a:t>
            </a:r>
            <a:r>
              <a:rPr lang="en-US" altLang="en-US" sz="1800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biner</a:t>
            </a:r>
            <a:r>
              <a:rPr lang="en-US" altLang="en-US" sz="1800" dirty="0">
                <a:solidFill>
                  <a:srgbClr val="0B0A09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1800" dirty="0" err="1">
                <a:solidFill>
                  <a:srgbClr val="0B0A09"/>
                </a:solidFill>
                <a:cs typeface="Times New Roman" panose="02020603050405020304" pitchFamily="18" charset="0"/>
              </a:rPr>
              <a:t>berbeda</a:t>
            </a:r>
            <a:endParaRPr lang="en-US" altLang="en-US" sz="1800" dirty="0">
              <a:solidFill>
                <a:srgbClr val="0B0A09"/>
              </a:solidFill>
              <a:cs typeface="Times New Roman" panose="02020603050405020304" pitchFamily="18" charset="0"/>
            </a:endParaRPr>
          </a:p>
          <a:p>
            <a:endParaRPr lang="en-US" altLang="en-US" sz="1800" dirty="0">
              <a:solidFill>
                <a:srgbClr val="0B0A0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1C5225-1E55-A9CE-4ABC-9D150FC4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 descr="A tree with many branches&#10;&#10;Description automatically generated">
            <a:extLst>
              <a:ext uri="{FF2B5EF4-FFF2-40B4-BE49-F238E27FC236}">
                <a16:creationId xmlns:a16="http://schemas.microsoft.com/office/drawing/2014/main" id="{9451583A-EF0C-754C-BB80-07810EBD0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338" y="638629"/>
            <a:ext cx="6941600" cy="5333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66362E-F17D-BD9C-2AC9-B98C8D34F78A}"/>
              </a:ext>
            </a:extLst>
          </p:cNvPr>
          <p:cNvSpPr txBox="1"/>
          <p:nvPr/>
        </p:nvSpPr>
        <p:spPr>
          <a:xfrm>
            <a:off x="5442858" y="6136699"/>
            <a:ext cx="183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Real binary tree</a:t>
            </a:r>
          </a:p>
        </p:txBody>
      </p:sp>
    </p:spTree>
    <p:extLst>
      <p:ext uri="{BB962C8B-B14F-4D97-AF65-F5344CB8AC3E}">
        <p14:creationId xmlns:p14="http://schemas.microsoft.com/office/powerpoint/2010/main" val="1123833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5A9C6DAA-433F-409C-8486-71B5F47F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091216C-3D40-4880-B870-7836CF75F580}" type="slidenum">
              <a:rPr lang="en-GB" altLang="en-US">
                <a:solidFill>
                  <a:schemeClr val="tx2"/>
                </a:solidFill>
              </a:rPr>
              <a:pPr eaLnBrk="1" hangingPunct="1"/>
              <a:t>22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30722" name="Object 4">
            <a:extLst>
              <a:ext uri="{FF2B5EF4-FFF2-40B4-BE49-F238E27FC236}">
                <a16:creationId xmlns:a16="http://schemas.microsoft.com/office/drawing/2014/main" id="{AF7E5D5B-48A8-4CE8-80B9-E587085D3F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186323"/>
              </p:ext>
            </p:extLst>
          </p:nvPr>
        </p:nvGraphicFramePr>
        <p:xfrm>
          <a:off x="1652212" y="914401"/>
          <a:ext cx="9192373" cy="4209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806440" imgH="2658618" progId="Word.Document.8">
                  <p:embed/>
                </p:oleObj>
              </mc:Choice>
              <mc:Fallback>
                <p:oleObj name="Document" r:id="rId3" imgW="5806440" imgH="2658618" progId="Word.Document.8">
                  <p:embed/>
                  <p:pic>
                    <p:nvPicPr>
                      <p:cNvPr id="30722" name="Object 4">
                        <a:extLst>
                          <a:ext uri="{FF2B5EF4-FFF2-40B4-BE49-F238E27FC236}">
                            <a16:creationId xmlns:a16="http://schemas.microsoft.com/office/drawing/2014/main" id="{AF7E5D5B-48A8-4CE8-80B9-E587085D3F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212" y="914401"/>
                        <a:ext cx="9192373" cy="4209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645DCD-DE6A-E86A-230C-6C420EE3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5360D73-0646-BD5F-3D4D-96822ECAB7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72196"/>
              </p:ext>
            </p:extLst>
          </p:nvPr>
        </p:nvGraphicFramePr>
        <p:xfrm>
          <a:off x="7097486" y="1663928"/>
          <a:ext cx="4114800" cy="3530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65080" imgH="1514520" progId="">
                  <p:embed/>
                </p:oleObj>
              </mc:Choice>
              <mc:Fallback>
                <p:oleObj r:id="rId2" imgW="1765080" imgH="151452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486" y="1663928"/>
                        <a:ext cx="4114800" cy="3530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74F674-8A84-863F-C270-A9BA02CF295E}"/>
              </a:ext>
            </a:extLst>
          </p:cNvPr>
          <p:cNvSpPr txBox="1"/>
          <p:nvPr/>
        </p:nvSpPr>
        <p:spPr>
          <a:xfrm>
            <a:off x="754742" y="549598"/>
            <a:ext cx="11306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Full binary tree</a:t>
            </a:r>
            <a:r>
              <a:rPr lang="en-US" sz="2400" dirty="0"/>
              <a:t>: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, </a:t>
            </a:r>
            <a:r>
              <a:rPr lang="en-US" sz="2400" dirty="0" err="1"/>
              <a:t>kecuali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pada </a:t>
            </a:r>
            <a:r>
              <a:rPr lang="en-US" sz="2400" dirty="0" err="1"/>
              <a:t>aras</a:t>
            </a:r>
            <a:r>
              <a:rPr lang="en-US" sz="2400" dirty="0"/>
              <a:t> </a:t>
            </a:r>
            <a:r>
              <a:rPr lang="en-US" sz="2400" dirty="0" err="1"/>
              <a:t>daun</a:t>
            </a:r>
            <a:r>
              <a:rPr lang="en-US" sz="2400" dirty="0"/>
              <a:t>,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tepat</a:t>
            </a:r>
            <a:r>
              <a:rPr lang="en-US" sz="2400" dirty="0"/>
              <a:t> dua </a:t>
            </a:r>
            <a:r>
              <a:rPr lang="en-US" sz="2400" dirty="0" err="1"/>
              <a:t>anak</a:t>
            </a:r>
            <a:endParaRPr lang="en-US" sz="2400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8FA25A0-874B-3397-8119-927C282A3C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455" y="1562328"/>
            <a:ext cx="3121401" cy="4201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E9C07D-CD2F-3A0F-D05F-64D0C0E98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42" y="1562328"/>
            <a:ext cx="242887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36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0FF67-4697-1CA4-B0F2-6D4E54F3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95640E-A370-E0C9-B0D4-B2C72F8174D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798513"/>
            <a:ext cx="105156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i="1" dirty="0"/>
              <a:t>Complete binary tree</a:t>
            </a:r>
            <a:r>
              <a:rPr lang="en-US" sz="2400" dirty="0"/>
              <a:t>: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aras</a:t>
            </a:r>
            <a:r>
              <a:rPr lang="en-US" sz="2400" dirty="0"/>
              <a:t>,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kecuali</a:t>
            </a:r>
            <a:r>
              <a:rPr lang="en-US" sz="2400" dirty="0"/>
              <a:t> pada </a:t>
            </a:r>
            <a:r>
              <a:rPr lang="en-US" sz="2400" dirty="0" err="1"/>
              <a:t>aras</a:t>
            </a:r>
            <a:r>
              <a:rPr lang="en-US" sz="2400" dirty="0"/>
              <a:t> </a:t>
            </a:r>
            <a:r>
              <a:rPr lang="en-US" sz="2400" dirty="0" err="1"/>
              <a:t>terakhir</a:t>
            </a:r>
            <a:r>
              <a:rPr lang="en-US" sz="2400" dirty="0"/>
              <a:t>,  </a:t>
            </a:r>
            <a:r>
              <a:rPr lang="en-US" sz="2400" dirty="0" err="1"/>
              <a:t>terisi</a:t>
            </a:r>
            <a:r>
              <a:rPr lang="en-US" sz="2400" dirty="0"/>
              <a:t> </a:t>
            </a:r>
            <a:r>
              <a:rPr lang="en-US" sz="2400" dirty="0" err="1"/>
              <a:t>lengkap</a:t>
            </a:r>
            <a:r>
              <a:rPr lang="en-US" sz="2400" dirty="0"/>
              <a:t>, dan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</a:t>
            </a:r>
            <a:r>
              <a:rPr lang="en-US" sz="2400" dirty="0" err="1"/>
              <a:t>dipadatkan</a:t>
            </a:r>
            <a:r>
              <a:rPr lang="en-US" sz="2400" dirty="0"/>
              <a:t> </a:t>
            </a:r>
            <a:r>
              <a:rPr lang="en-US" sz="2400" dirty="0" err="1"/>
              <a:t>sejauh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kiri</a:t>
            </a:r>
            <a:endParaRPr lang="en-US" sz="2400" dirty="0"/>
          </a:p>
        </p:txBody>
      </p:sp>
      <p:pic>
        <p:nvPicPr>
          <p:cNvPr id="8" name="Picture 7" descr="A diagram of a triangle with letters and numbers&#10;&#10;Description automatically generated">
            <a:extLst>
              <a:ext uri="{FF2B5EF4-FFF2-40B4-BE49-F238E27FC236}">
                <a16:creationId xmlns:a16="http://schemas.microsoft.com/office/drawing/2014/main" id="{D315C6A9-E08B-5004-3523-836DA45D7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961" y="1935607"/>
            <a:ext cx="4739277" cy="365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50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5FA2A7-7F32-CB39-2FD8-B2918DF1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 descr="A diagram of a tree&#10;&#10;Description automatically generated">
            <a:extLst>
              <a:ext uri="{FF2B5EF4-FFF2-40B4-BE49-F238E27FC236}">
                <a16:creationId xmlns:a16="http://schemas.microsoft.com/office/drawing/2014/main" id="{AF254C0D-B29E-7A17-190A-C0A7034F0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92" y="1693043"/>
            <a:ext cx="11002869" cy="402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90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>
            <a:extLst>
              <a:ext uri="{FF2B5EF4-FFF2-40B4-BE49-F238E27FC236}">
                <a16:creationId xmlns:a16="http://schemas.microsoft.com/office/drawing/2014/main" id="{1ACB1AFD-9E5B-438D-9E3C-19D22127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4567C57-8963-4BDD-BC64-06D497728913}" type="slidenum">
              <a:rPr lang="en-GB" altLang="en-US">
                <a:solidFill>
                  <a:schemeClr val="tx2"/>
                </a:solidFill>
              </a:rPr>
              <a:pPr eaLnBrk="1" hangingPunct="1"/>
              <a:t>26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32770" name="Object 4">
            <a:extLst>
              <a:ext uri="{FF2B5EF4-FFF2-40B4-BE49-F238E27FC236}">
                <a16:creationId xmlns:a16="http://schemas.microsoft.com/office/drawing/2014/main" id="{69CE0606-E4FB-40A4-A04F-661AB66652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483948"/>
              </p:ext>
            </p:extLst>
          </p:nvPr>
        </p:nvGraphicFramePr>
        <p:xfrm>
          <a:off x="1319205" y="332509"/>
          <a:ext cx="8891595" cy="5809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806440" imgH="3794760" progId="Word.Document.8">
                  <p:embed/>
                </p:oleObj>
              </mc:Choice>
              <mc:Fallback>
                <p:oleObj name="Document" r:id="rId3" imgW="5806440" imgH="3794760" progId="Word.Document.8">
                  <p:embed/>
                  <p:pic>
                    <p:nvPicPr>
                      <p:cNvPr id="32770" name="Object 4">
                        <a:extLst>
                          <a:ext uri="{FF2B5EF4-FFF2-40B4-BE49-F238E27FC236}">
                            <a16:creationId xmlns:a16="http://schemas.microsoft.com/office/drawing/2014/main" id="{69CE0606-E4FB-40A4-A04F-661AB66652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05" y="332509"/>
                        <a:ext cx="8891595" cy="5809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8D706E15-C580-4DCD-8BA3-4960F14C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E2F492-2B87-4DA3-8F59-13BA81F9C5E1}" type="slidenum">
              <a:rPr lang="en-GB" altLang="en-US">
                <a:solidFill>
                  <a:schemeClr val="tx2"/>
                </a:solidFill>
              </a:rPr>
              <a:pPr eaLnBrk="1" hangingPunct="1"/>
              <a:t>27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2A66D0F2-59B5-4EAF-92F0-DADA12A6C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55612"/>
            <a:ext cx="7772400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Terapan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Pohon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Biner</a:t>
            </a:r>
            <a:endParaRPr lang="en-GB" altLang="en-US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33794" name="Object 4">
            <a:extLst>
              <a:ext uri="{FF2B5EF4-FFF2-40B4-BE49-F238E27FC236}">
                <a16:creationId xmlns:a16="http://schemas.microsoft.com/office/drawing/2014/main" id="{A60F73FB-ED21-4CCD-B1F6-AB22907077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431993"/>
              </p:ext>
            </p:extLst>
          </p:nvPr>
        </p:nvGraphicFramePr>
        <p:xfrm>
          <a:off x="1107439" y="1414462"/>
          <a:ext cx="8959649" cy="3889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715000" imgH="2481072" progId="Word.Document.8">
                  <p:embed/>
                </p:oleObj>
              </mc:Choice>
              <mc:Fallback>
                <p:oleObj name="Document" r:id="rId3" imgW="5715000" imgH="2481072" progId="Word.Document.8">
                  <p:embed/>
                  <p:pic>
                    <p:nvPicPr>
                      <p:cNvPr id="33794" name="Object 4">
                        <a:extLst>
                          <a:ext uri="{FF2B5EF4-FFF2-40B4-BE49-F238E27FC236}">
                            <a16:creationId xmlns:a16="http://schemas.microsoft.com/office/drawing/2014/main" id="{A60F73FB-ED21-4CCD-B1F6-AB2290707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439" y="1414462"/>
                        <a:ext cx="8959649" cy="3889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Rectangle 5">
            <a:extLst>
              <a:ext uri="{FF2B5EF4-FFF2-40B4-BE49-F238E27FC236}">
                <a16:creationId xmlns:a16="http://schemas.microsoft.com/office/drawing/2014/main" id="{EBAF7409-D936-4A12-965F-848C9EA5B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920" y="5486400"/>
            <a:ext cx="3962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en-US" altLang="en-US" sz="1800" b="1" dirty="0" err="1">
                <a:solidFill>
                  <a:srgbClr val="0B0A09"/>
                </a:solidFill>
                <a:cs typeface="Times New Roman" panose="02020603050405020304" pitchFamily="18" charset="0"/>
              </a:rPr>
              <a:t>daun</a:t>
            </a:r>
            <a:r>
              <a:rPr lang="en-US" altLang="en-US" sz="1800" b="1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rgbClr val="0B0A0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1800" b="1" dirty="0">
                <a:solidFill>
                  <a:srgbClr val="0B0A0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rgbClr val="0B0A0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operand</a:t>
            </a:r>
            <a:endParaRPr lang="en-US" altLang="en-US" sz="1800" dirty="0">
              <a:solidFill>
                <a:srgbClr val="0B0A09"/>
              </a:solidFill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/>
            <a:r>
              <a:rPr lang="en-US" altLang="en-US" sz="1800" b="1" dirty="0" err="1">
                <a:solidFill>
                  <a:srgbClr val="0B0A0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simpul</a:t>
            </a:r>
            <a:r>
              <a:rPr lang="en-US" altLang="en-US" sz="1800" b="1" dirty="0">
                <a:solidFill>
                  <a:srgbClr val="0B0A0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b="1" dirty="0" err="1">
                <a:solidFill>
                  <a:srgbClr val="0B0A0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dalam</a:t>
            </a:r>
            <a:r>
              <a:rPr lang="en-US" altLang="en-US" sz="1800" b="1" dirty="0">
                <a:solidFill>
                  <a:srgbClr val="0B0A09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</a:t>
            </a:r>
            <a:r>
              <a:rPr lang="en-US" altLang="en-US" sz="1800" b="1" dirty="0">
                <a:solidFill>
                  <a:srgbClr val="0B0A09"/>
                </a:solidFill>
                <a:cs typeface="Times New Roman" panose="02020603050405020304" pitchFamily="18" charset="0"/>
              </a:rPr>
              <a:t> operator</a:t>
            </a:r>
            <a:endParaRPr lang="en-US" altLang="en-US" sz="1800" dirty="0">
              <a:solidFill>
                <a:srgbClr val="0B0A09"/>
              </a:solidFill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en-US" sz="1800" b="1" dirty="0">
              <a:solidFill>
                <a:srgbClr val="0B0A09"/>
              </a:solidFill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Slide Number Placeholder 5">
            <a:extLst>
              <a:ext uri="{FF2B5EF4-FFF2-40B4-BE49-F238E27FC236}">
                <a16:creationId xmlns:a16="http://schemas.microsoft.com/office/drawing/2014/main" id="{C0948C20-5959-411F-8BFA-FCDFDEBE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BB0C467-81FB-42C3-BED6-23A91D4E4E91}" type="slidenum">
              <a:rPr lang="en-GB" altLang="en-US">
                <a:solidFill>
                  <a:schemeClr val="tx2"/>
                </a:solidFill>
              </a:rPr>
              <a:pPr eaLnBrk="1" hangingPunct="1"/>
              <a:t>28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34818" name="Object 5">
            <a:extLst>
              <a:ext uri="{FF2B5EF4-FFF2-40B4-BE49-F238E27FC236}">
                <a16:creationId xmlns:a16="http://schemas.microsoft.com/office/drawing/2014/main" id="{CD023799-F4C7-4B56-B114-F51FFEB73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294745"/>
              </p:ext>
            </p:extLst>
          </p:nvPr>
        </p:nvGraphicFramePr>
        <p:xfrm>
          <a:off x="1391295" y="588645"/>
          <a:ext cx="9409409" cy="5124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2987040" progId="Word.Document.8">
                  <p:embed/>
                </p:oleObj>
              </mc:Choice>
              <mc:Fallback>
                <p:oleObj name="Document" r:id="rId3" imgW="5486400" imgH="2987040" progId="Word.Document.8">
                  <p:embed/>
                  <p:pic>
                    <p:nvPicPr>
                      <p:cNvPr id="34818" name="Object 5">
                        <a:extLst>
                          <a:ext uri="{FF2B5EF4-FFF2-40B4-BE49-F238E27FC236}">
                            <a16:creationId xmlns:a16="http://schemas.microsoft.com/office/drawing/2014/main" id="{CD023799-F4C7-4B56-B114-F51FFEB738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295" y="588645"/>
                        <a:ext cx="9409409" cy="5124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E5551E-2B0E-4845-B7B9-432DE5FC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877357D-7B00-4A96-BB0E-6EB39C4FF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075" y="1310163"/>
            <a:ext cx="8668126" cy="4786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767A5D-144E-447A-8AE0-10A80D3A48BA}"/>
              </a:ext>
            </a:extLst>
          </p:cNvPr>
          <p:cNvSpPr txBox="1"/>
          <p:nvPr/>
        </p:nvSpPr>
        <p:spPr>
          <a:xfrm>
            <a:off x="508000" y="451534"/>
            <a:ext cx="750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Pohon</a:t>
            </a:r>
            <a:r>
              <a:rPr lang="en-US" sz="2400" dirty="0"/>
              <a:t> </a:t>
            </a:r>
            <a:r>
              <a:rPr lang="en-US" sz="2400" dirty="0" err="1"/>
              <a:t>keputusan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i="1" dirty="0"/>
              <a:t>Machine Learning (ML)</a:t>
            </a:r>
          </a:p>
        </p:txBody>
      </p:sp>
    </p:spTree>
    <p:extLst>
      <p:ext uri="{BB962C8B-B14F-4D97-AF65-F5344CB8AC3E}">
        <p14:creationId xmlns:p14="http://schemas.microsoft.com/office/powerpoint/2010/main" val="1223157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9B8FC396-4D85-4157-A813-75819F0F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8CF20D0-0328-4BD5-AC06-60F5BA5C6CBC}" type="slidenum">
              <a:rPr lang="en-GB" altLang="en-US">
                <a:solidFill>
                  <a:schemeClr val="tx2"/>
                </a:solidFill>
              </a:rPr>
              <a:pPr eaLnBrk="1" hangingPunct="1"/>
              <a:t>30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35842" name="Object 4">
            <a:extLst>
              <a:ext uri="{FF2B5EF4-FFF2-40B4-BE49-F238E27FC236}">
                <a16:creationId xmlns:a16="http://schemas.microsoft.com/office/drawing/2014/main" id="{551A080F-CB20-4C35-A911-2318A34CD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031280"/>
              </p:ext>
            </p:extLst>
          </p:nvPr>
        </p:nvGraphicFramePr>
        <p:xfrm>
          <a:off x="975359" y="594361"/>
          <a:ext cx="9164867" cy="5298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23560" imgH="3251454" progId="Word.Document.8">
                  <p:embed/>
                </p:oleObj>
              </mc:Choice>
              <mc:Fallback>
                <p:oleObj name="Document" r:id="rId3" imgW="5623560" imgH="3251454" progId="Word.Document.8">
                  <p:embed/>
                  <p:pic>
                    <p:nvPicPr>
                      <p:cNvPr id="35842" name="Object 4">
                        <a:extLst>
                          <a:ext uri="{FF2B5EF4-FFF2-40B4-BE49-F238E27FC236}">
                            <a16:creationId xmlns:a16="http://schemas.microsoft.com/office/drawing/2014/main" id="{551A080F-CB20-4C35-A911-2318A34CD3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59" y="594361"/>
                        <a:ext cx="9164867" cy="5298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EB7C896B-5DA3-4405-8221-B65F7423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E5F35EF-E103-4FE8-A432-69043380D280}" type="slidenum">
              <a:rPr lang="en-GB" altLang="en-US">
                <a:solidFill>
                  <a:schemeClr val="tx2"/>
                </a:solidFill>
              </a:rPr>
              <a:pPr eaLnBrk="1" hangingPunct="1"/>
              <a:t>31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36866" name="Object 4">
            <a:extLst>
              <a:ext uri="{FF2B5EF4-FFF2-40B4-BE49-F238E27FC236}">
                <a16:creationId xmlns:a16="http://schemas.microsoft.com/office/drawing/2014/main" id="{36378C62-E336-40EC-BD61-2F56182CE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088237"/>
              </p:ext>
            </p:extLst>
          </p:nvPr>
        </p:nvGraphicFramePr>
        <p:xfrm>
          <a:off x="1432560" y="946943"/>
          <a:ext cx="7772400" cy="496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400" imgH="3502914" progId="Word.Document.8">
                  <p:embed/>
                </p:oleObj>
              </mc:Choice>
              <mc:Fallback>
                <p:oleObj name="Document" r:id="rId3" imgW="5486400" imgH="3502914" progId="Word.Document.8">
                  <p:embed/>
                  <p:pic>
                    <p:nvPicPr>
                      <p:cNvPr id="36866" name="Object 4">
                        <a:extLst>
                          <a:ext uri="{FF2B5EF4-FFF2-40B4-BE49-F238E27FC236}">
                            <a16:creationId xmlns:a16="http://schemas.microsoft.com/office/drawing/2014/main" id="{36378C62-E336-40EC-BD61-2F56182CE7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560" y="946943"/>
                        <a:ext cx="7772400" cy="496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3AF299D3-44C0-4027-AACD-CE4AFB05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9CCC2B0-B9CD-4D18-8132-A8289270D749}" type="slidenum">
              <a:rPr lang="en-GB" altLang="en-US">
                <a:solidFill>
                  <a:schemeClr val="tx2"/>
                </a:solidFill>
              </a:rPr>
              <a:pPr eaLnBrk="1" hangingPunct="1"/>
              <a:t>32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graphicFrame>
        <p:nvGraphicFramePr>
          <p:cNvPr id="37890" name="Object 4">
            <a:extLst>
              <a:ext uri="{FF2B5EF4-FFF2-40B4-BE49-F238E27FC236}">
                <a16:creationId xmlns:a16="http://schemas.microsoft.com/office/drawing/2014/main" id="{3BE3C565-B252-4D08-A508-7E35B75A5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247600"/>
              </p:ext>
            </p:extLst>
          </p:nvPr>
        </p:nvGraphicFramePr>
        <p:xfrm>
          <a:off x="563563" y="503238"/>
          <a:ext cx="8732837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32205" imgH="3399965" progId="Word.Document.8">
                  <p:embed/>
                </p:oleObj>
              </mc:Choice>
              <mc:Fallback>
                <p:oleObj name="Document" r:id="rId3" imgW="5632205" imgH="3399965" progId="Word.Document.8">
                  <p:embed/>
                  <p:pic>
                    <p:nvPicPr>
                      <p:cNvPr id="37890" name="Object 4">
                        <a:extLst>
                          <a:ext uri="{FF2B5EF4-FFF2-40B4-BE49-F238E27FC236}">
                            <a16:creationId xmlns:a16="http://schemas.microsoft.com/office/drawing/2014/main" id="{3BE3C565-B252-4D08-A508-7E35B75A55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503238"/>
                        <a:ext cx="8732837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A74A536-A21C-481D-8F70-2EAD2894FA88}"/>
              </a:ext>
            </a:extLst>
          </p:cNvPr>
          <p:cNvSpPr txBox="1"/>
          <p:nvPr/>
        </p:nvSpPr>
        <p:spPr>
          <a:xfrm>
            <a:off x="5151120" y="5679440"/>
            <a:ext cx="5811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Bagaimana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cara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memperoleh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kode</a:t>
            </a:r>
            <a:r>
              <a:rPr lang="en-US" sz="2400" dirty="0">
                <a:solidFill>
                  <a:srgbClr val="FF0000"/>
                </a:solidFill>
              </a:rPr>
              <a:t> Huffman?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15882904-07B9-4F15-B059-CDFD4A97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91628D0-4E0A-4F55-B089-288DDD82781B}" type="slidenum">
              <a:rPr lang="en-GB" altLang="en-US">
                <a:solidFill>
                  <a:schemeClr val="tx2"/>
                </a:solidFill>
              </a:rPr>
              <a:pPr eaLnBrk="1" hangingPunct="1"/>
              <a:t>33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D30DCB1-3522-4ED5-938C-7287A622C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7880" y="1242001"/>
            <a:ext cx="10556240" cy="52260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en-US" dirty="0" err="1">
                <a:solidFill>
                  <a:srgbClr val="0B0A09"/>
                </a:solidFill>
              </a:rPr>
              <a:t>Algoritma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pembentukan</a:t>
            </a:r>
            <a:r>
              <a:rPr lang="en-US" altLang="en-US" dirty="0">
                <a:solidFill>
                  <a:srgbClr val="0B0A09"/>
                </a:solidFill>
              </a:rPr>
              <a:t> </a:t>
            </a:r>
            <a:r>
              <a:rPr lang="en-US" altLang="en-US" dirty="0" err="1">
                <a:solidFill>
                  <a:srgbClr val="0B0A09"/>
                </a:solidFill>
              </a:rPr>
              <a:t>kode</a:t>
            </a:r>
            <a:r>
              <a:rPr lang="en-US" altLang="en-US" dirty="0">
                <a:solidFill>
                  <a:srgbClr val="0B0A09"/>
                </a:solidFill>
              </a:rPr>
              <a:t> Huffman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it-IT" altLang="en-US" sz="2400" dirty="0">
                <a:solidFill>
                  <a:srgbClr val="0B0A09"/>
                </a:solidFill>
              </a:rPr>
              <a:t>Urutkan simbol berdasarkan peluangnya (atau jumlah kemunculan) dari kecil ke besar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it-IT" altLang="en-US" sz="2400" dirty="0">
                <a:solidFill>
                  <a:srgbClr val="0B0A09"/>
                </a:solidFill>
              </a:rPr>
              <a:t>Pilih dua simbol dengan peluang paling kecil (Pada contoh di atas simbol </a:t>
            </a:r>
            <a:r>
              <a:rPr lang="it-IT" altLang="en-US" sz="2400" i="1" dirty="0">
                <a:solidFill>
                  <a:srgbClr val="0B0A09"/>
                </a:solidFill>
              </a:rPr>
              <a:t>B</a:t>
            </a:r>
            <a:r>
              <a:rPr lang="it-IT" altLang="en-US" sz="2400" dirty="0">
                <a:solidFill>
                  <a:srgbClr val="0B0A09"/>
                </a:solidFill>
              </a:rPr>
              <a:t> dan </a:t>
            </a:r>
            <a:r>
              <a:rPr lang="it-IT" altLang="en-US" sz="2400" i="1" dirty="0">
                <a:solidFill>
                  <a:srgbClr val="0B0A09"/>
                </a:solidFill>
              </a:rPr>
              <a:t>D</a:t>
            </a:r>
            <a:r>
              <a:rPr lang="it-IT" altLang="en-US" sz="2400" dirty="0">
                <a:solidFill>
                  <a:srgbClr val="0B0A09"/>
                </a:solidFill>
              </a:rPr>
              <a:t>). Kedua simbol tadi dikombinasikan sebagai simpul orangtua. Simbol orangtua adalah gabungan (</a:t>
            </a:r>
            <a:r>
              <a:rPr lang="it-IT" altLang="en-US" sz="2400" i="1" dirty="0">
                <a:solidFill>
                  <a:srgbClr val="0B0A09"/>
                </a:solidFill>
              </a:rPr>
              <a:t>concatenation</a:t>
            </a:r>
            <a:r>
              <a:rPr lang="it-IT" altLang="en-US" sz="2400" dirty="0">
                <a:solidFill>
                  <a:srgbClr val="0B0A09"/>
                </a:solidFill>
              </a:rPr>
              <a:t>) dari kedua simbol tersebut. Peluang simbol hasil penggabungan  adalah jumlah peluang dari kedua simbol (Pada contoh di atas simbol </a:t>
            </a:r>
            <a:r>
              <a:rPr lang="it-IT" altLang="en-US" sz="2400" i="1" dirty="0">
                <a:solidFill>
                  <a:srgbClr val="0B0A09"/>
                </a:solidFill>
              </a:rPr>
              <a:t>B</a:t>
            </a:r>
            <a:r>
              <a:rPr lang="it-IT" altLang="en-US" sz="2400" dirty="0">
                <a:solidFill>
                  <a:srgbClr val="0B0A09"/>
                </a:solidFill>
              </a:rPr>
              <a:t> dan </a:t>
            </a:r>
            <a:r>
              <a:rPr lang="it-IT" altLang="en-US" sz="2400" i="1" dirty="0">
                <a:solidFill>
                  <a:srgbClr val="0B0A09"/>
                </a:solidFill>
              </a:rPr>
              <a:t>D</a:t>
            </a:r>
            <a:r>
              <a:rPr lang="it-IT" altLang="en-US" sz="2400" dirty="0">
                <a:solidFill>
                  <a:srgbClr val="0B0A09"/>
                </a:solidFill>
              </a:rPr>
              <a:t> digabung menjadi simbol </a:t>
            </a:r>
            <a:r>
              <a:rPr lang="it-IT" altLang="en-US" sz="2400" i="1" dirty="0">
                <a:solidFill>
                  <a:srgbClr val="0B0A09"/>
                </a:solidFill>
              </a:rPr>
              <a:t>BD</a:t>
            </a:r>
            <a:r>
              <a:rPr lang="it-IT" altLang="en-US" sz="2400" dirty="0">
                <a:solidFill>
                  <a:srgbClr val="0B0A09"/>
                </a:solidFill>
              </a:rPr>
              <a:t> dengan peluang 1/7 + 1/7 = 2/7).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it-IT" altLang="en-US" sz="2400" dirty="0">
                <a:solidFill>
                  <a:srgbClr val="0B0A09"/>
                </a:solidFill>
              </a:rPr>
              <a:t>Selanjutnya, pilih dua simbol berikutnya, termasuk simbol baru, yang mempunyai peluang terkecil.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err="1">
                <a:solidFill>
                  <a:srgbClr val="0B0A09"/>
                </a:solidFill>
              </a:rPr>
              <a:t>Ulangi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langkah</a:t>
            </a:r>
            <a:r>
              <a:rPr lang="en-US" altLang="en-US" sz="2400" dirty="0">
                <a:solidFill>
                  <a:srgbClr val="0B0A09"/>
                </a:solidFill>
              </a:rPr>
              <a:t> 1 dan 2 </a:t>
            </a:r>
            <a:r>
              <a:rPr lang="en-US" altLang="en-US" sz="2400" dirty="0" err="1">
                <a:solidFill>
                  <a:srgbClr val="0B0A09"/>
                </a:solidFill>
              </a:rPr>
              <a:t>sampai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seluruh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simbol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habis</a:t>
            </a:r>
            <a:r>
              <a:rPr lang="en-US" altLang="en-US" sz="2400" dirty="0">
                <a:solidFill>
                  <a:srgbClr val="0B0A09"/>
                </a:solidFill>
              </a:rPr>
              <a:t>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>
                <a:solidFill>
                  <a:srgbClr val="0B0A09"/>
                </a:solidFill>
              </a:rPr>
              <a:t>Beri label </a:t>
            </a:r>
            <a:r>
              <a:rPr lang="en-US" altLang="en-US" sz="2400" dirty="0" err="1">
                <a:solidFill>
                  <a:srgbClr val="0B0A09"/>
                </a:solidFill>
              </a:rPr>
              <a:t>secara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konsisten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sisi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kiri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dengan</a:t>
            </a:r>
            <a:r>
              <a:rPr lang="en-US" altLang="en-US" sz="2400" dirty="0">
                <a:solidFill>
                  <a:srgbClr val="0B0A09"/>
                </a:solidFill>
              </a:rPr>
              <a:t> 0 dan </a:t>
            </a:r>
            <a:r>
              <a:rPr lang="en-US" altLang="en-US" sz="2400" dirty="0" err="1">
                <a:solidFill>
                  <a:srgbClr val="0B0A09"/>
                </a:solidFill>
              </a:rPr>
              <a:t>sisi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kanan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dengan</a:t>
            </a:r>
            <a:r>
              <a:rPr lang="en-US" altLang="en-US" sz="2400" dirty="0">
                <a:solidFill>
                  <a:srgbClr val="0B0A09"/>
                </a:solidFill>
              </a:rPr>
              <a:t> 1.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err="1">
                <a:solidFill>
                  <a:srgbClr val="0B0A09"/>
                </a:solidFill>
              </a:rPr>
              <a:t>Lintasan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dari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akar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ke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daun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berisi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sisi-sisi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pohon</a:t>
            </a:r>
            <a:r>
              <a:rPr lang="en-US" altLang="en-US" sz="2400" dirty="0">
                <a:solidFill>
                  <a:srgbClr val="0B0A09"/>
                </a:solidFill>
              </a:rPr>
              <a:t> yang </a:t>
            </a:r>
            <a:r>
              <a:rPr lang="en-US" altLang="en-US" sz="2400" dirty="0" err="1">
                <a:solidFill>
                  <a:srgbClr val="0B0A09"/>
                </a:solidFill>
              </a:rPr>
              <a:t>deretan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labelnya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menyatakan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kode</a:t>
            </a:r>
            <a:r>
              <a:rPr lang="en-US" altLang="en-US" sz="2400" dirty="0">
                <a:solidFill>
                  <a:srgbClr val="0B0A09"/>
                </a:solidFill>
              </a:rPr>
              <a:t> Huffman </a:t>
            </a:r>
            <a:r>
              <a:rPr lang="en-US" altLang="en-US" sz="2400" dirty="0" err="1">
                <a:solidFill>
                  <a:srgbClr val="0B0A09"/>
                </a:solidFill>
              </a:rPr>
              <a:t>untuk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simbol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daun</a:t>
            </a:r>
            <a:r>
              <a:rPr lang="en-US" altLang="en-US" sz="2400" dirty="0">
                <a:solidFill>
                  <a:srgbClr val="0B0A09"/>
                </a:solidFill>
              </a:rPr>
              <a:t> </a:t>
            </a:r>
            <a:r>
              <a:rPr lang="en-US" altLang="en-US" sz="2400" dirty="0" err="1">
                <a:solidFill>
                  <a:srgbClr val="0B0A09"/>
                </a:solidFill>
              </a:rPr>
              <a:t>tersebut</a:t>
            </a:r>
            <a:endParaRPr lang="en-US" altLang="en-US" sz="2400" dirty="0">
              <a:solidFill>
                <a:srgbClr val="0B0A09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B5A067-CA4E-303D-E3D7-6BD002EF3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880" y="389949"/>
            <a:ext cx="7772400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Algoritma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Kompresi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Huffman</a:t>
            </a:r>
            <a:endParaRPr lang="en-GB" altLang="en-US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E8D85-717F-F4E7-55A3-406C7D3F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837D7-375F-0596-119B-A90998873648}"/>
              </a:ext>
            </a:extLst>
          </p:cNvPr>
          <p:cNvSpPr/>
          <p:nvPr/>
        </p:nvSpPr>
        <p:spPr>
          <a:xfrm>
            <a:off x="1776296" y="760078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(1/7)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B68537-1730-0918-79CB-7AAA8EFFBCF3}"/>
              </a:ext>
            </a:extLst>
          </p:cNvPr>
          <p:cNvSpPr/>
          <p:nvPr/>
        </p:nvSpPr>
        <p:spPr>
          <a:xfrm>
            <a:off x="3383886" y="772033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 (1/7)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A2FED1-37C4-9F61-7E5B-325EC0961ED1}"/>
              </a:ext>
            </a:extLst>
          </p:cNvPr>
          <p:cNvSpPr/>
          <p:nvPr/>
        </p:nvSpPr>
        <p:spPr>
          <a:xfrm>
            <a:off x="1776296" y="2567074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 (2/7)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6209A1-DD34-6509-C53A-68DFA7906A21}"/>
              </a:ext>
            </a:extLst>
          </p:cNvPr>
          <p:cNvSpPr/>
          <p:nvPr/>
        </p:nvSpPr>
        <p:spPr>
          <a:xfrm>
            <a:off x="6808524" y="790301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(3/7)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2A9DE-8F26-91C4-1A19-DD5F755E8A12}"/>
              </a:ext>
            </a:extLst>
          </p:cNvPr>
          <p:cNvSpPr txBox="1"/>
          <p:nvPr/>
        </p:nvSpPr>
        <p:spPr>
          <a:xfrm>
            <a:off x="1030514" y="831272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212A0-9F66-2727-A4BA-6109101BEB09}"/>
              </a:ext>
            </a:extLst>
          </p:cNvPr>
          <p:cNvSpPr/>
          <p:nvPr/>
        </p:nvSpPr>
        <p:spPr>
          <a:xfrm>
            <a:off x="2673786" y="3613502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(1/7)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716956-AA81-EB57-52B9-94F4D56BC143}"/>
              </a:ext>
            </a:extLst>
          </p:cNvPr>
          <p:cNvSpPr/>
          <p:nvPr/>
        </p:nvSpPr>
        <p:spPr>
          <a:xfrm>
            <a:off x="4149647" y="3613502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 (1/7)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64BBC-E426-995D-85F5-D4780591013F}"/>
              </a:ext>
            </a:extLst>
          </p:cNvPr>
          <p:cNvSpPr txBox="1"/>
          <p:nvPr/>
        </p:nvSpPr>
        <p:spPr>
          <a:xfrm flipH="1">
            <a:off x="8268858" y="817168"/>
            <a:ext cx="2892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</a:t>
            </a:r>
            <a:r>
              <a:rPr lang="en-US" sz="2000" dirty="0" err="1"/>
              <a:t>terurut</a:t>
            </a:r>
            <a:r>
              <a:rPr lang="en-US" sz="2000" dirty="0"/>
              <a:t> </a:t>
            </a:r>
            <a:r>
              <a:rPr lang="en-US" sz="2000" dirty="0" err="1"/>
              <a:t>membesar</a:t>
            </a:r>
            <a:r>
              <a:rPr lang="en-US" sz="2000" dirty="0"/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3CECB-CBBE-FE90-6BB1-31B7C6746B59}"/>
              </a:ext>
            </a:extLst>
          </p:cNvPr>
          <p:cNvSpPr/>
          <p:nvPr/>
        </p:nvSpPr>
        <p:spPr>
          <a:xfrm>
            <a:off x="3296800" y="2558699"/>
            <a:ext cx="1079994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BD (2/7)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83E672-11FD-A2B0-EF7D-1B88196A1D91}"/>
              </a:ext>
            </a:extLst>
          </p:cNvPr>
          <p:cNvSpPr/>
          <p:nvPr/>
        </p:nvSpPr>
        <p:spPr>
          <a:xfrm>
            <a:off x="4991475" y="2574041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(3/7)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87382-3363-7F69-893F-E0251A0E3F2B}"/>
              </a:ext>
            </a:extLst>
          </p:cNvPr>
          <p:cNvSpPr/>
          <p:nvPr/>
        </p:nvSpPr>
        <p:spPr>
          <a:xfrm>
            <a:off x="4991476" y="784966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 (2/7)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A89DC-32CC-0BDD-2C45-AAFE4F5EC961}"/>
              </a:ext>
            </a:extLst>
          </p:cNvPr>
          <p:cNvSpPr txBox="1"/>
          <p:nvPr/>
        </p:nvSpPr>
        <p:spPr>
          <a:xfrm>
            <a:off x="1054178" y="1671128"/>
            <a:ext cx="10600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indent="-347663"/>
            <a:r>
              <a:rPr lang="en-US" sz="2000" dirty="0"/>
              <a:t>2.   </a:t>
            </a:r>
            <a:r>
              <a:rPr lang="en-US" sz="2000" dirty="0" err="1"/>
              <a:t>Gabungkan</a:t>
            </a:r>
            <a:r>
              <a:rPr lang="en-US" sz="2000" dirty="0"/>
              <a:t> B dan D </a:t>
            </a:r>
            <a:r>
              <a:rPr lang="en-US" sz="2000" dirty="0" err="1"/>
              <a:t>menjadi</a:t>
            </a:r>
            <a:r>
              <a:rPr lang="en-US" sz="2000" dirty="0"/>
              <a:t> BD, </a:t>
            </a:r>
            <a:r>
              <a:rPr lang="en-US" sz="2000" dirty="0" err="1"/>
              <a:t>peluang</a:t>
            </a:r>
            <a:r>
              <a:rPr lang="en-US" sz="2000" dirty="0"/>
              <a:t> BD = 1/7 + 1/7  = 2/7, </a:t>
            </a:r>
            <a:r>
              <a:rPr lang="en-US" sz="2000" dirty="0" err="1"/>
              <a:t>tempatkan</a:t>
            </a:r>
            <a:r>
              <a:rPr lang="en-US" sz="2000" dirty="0"/>
              <a:t> </a:t>
            </a:r>
            <a:r>
              <a:rPr lang="en-US" sz="2000" dirty="0" err="1"/>
              <a:t>simbol</a:t>
            </a:r>
            <a:r>
              <a:rPr lang="en-US" sz="2000" dirty="0"/>
              <a:t> </a:t>
            </a:r>
            <a:r>
              <a:rPr lang="en-US" sz="2000" dirty="0" err="1"/>
              <a:t>baru</a:t>
            </a:r>
            <a:r>
              <a:rPr lang="en-US" sz="2000" dirty="0"/>
              <a:t> BD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r>
              <a:rPr lang="en-US" sz="2000" dirty="0"/>
              <a:t> yang </a:t>
            </a:r>
            <a:r>
              <a:rPr lang="en-US" sz="2000" dirty="0" err="1"/>
              <a:t>terurut</a:t>
            </a:r>
            <a:endParaRPr lang="en-US" sz="20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8175C6-35E1-F8EE-A01B-3EDEB7B8FCDC}"/>
              </a:ext>
            </a:extLst>
          </p:cNvPr>
          <p:cNvCxnSpPr>
            <a:stCxn id="12" idx="2"/>
            <a:endCxn id="9" idx="0"/>
          </p:cNvCxnSpPr>
          <p:nvPr/>
        </p:nvCxnSpPr>
        <p:spPr>
          <a:xfrm flipH="1">
            <a:off x="3126698" y="3015899"/>
            <a:ext cx="710099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CF8B99-E831-92F1-0C86-48EF5B5A1CFC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3836797" y="3015899"/>
            <a:ext cx="765762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FA3ACB5-FC5E-39C4-9C67-873AD4FFECB8}"/>
              </a:ext>
            </a:extLst>
          </p:cNvPr>
          <p:cNvSpPr txBox="1"/>
          <p:nvPr/>
        </p:nvSpPr>
        <p:spPr>
          <a:xfrm>
            <a:off x="1054177" y="4324510"/>
            <a:ext cx="53511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indent="-347663"/>
            <a:r>
              <a:rPr lang="en-US" sz="2000" dirty="0"/>
              <a:t>3.   </a:t>
            </a:r>
            <a:r>
              <a:rPr lang="en-US" sz="2000" dirty="0" err="1"/>
              <a:t>Gabungkan</a:t>
            </a:r>
            <a:r>
              <a:rPr lang="en-US" sz="2000" dirty="0"/>
              <a:t> C dan BD </a:t>
            </a:r>
            <a:r>
              <a:rPr lang="en-US" sz="2000" dirty="0" err="1"/>
              <a:t>menjadi</a:t>
            </a:r>
            <a:r>
              <a:rPr lang="en-US" sz="2000" dirty="0"/>
              <a:t> CBD, </a:t>
            </a:r>
            <a:r>
              <a:rPr lang="en-US" sz="2000" dirty="0" err="1"/>
              <a:t>peluang</a:t>
            </a:r>
            <a:r>
              <a:rPr lang="en-US" sz="2000" dirty="0"/>
              <a:t>  CBD  = 2/7 + 2/7  = 4/7, </a:t>
            </a:r>
            <a:r>
              <a:rPr lang="en-US" sz="2000" dirty="0" err="1"/>
              <a:t>tempatkan</a:t>
            </a:r>
            <a:r>
              <a:rPr lang="en-US" sz="2000" dirty="0"/>
              <a:t> </a:t>
            </a:r>
            <a:r>
              <a:rPr lang="en-US" sz="2000" dirty="0" err="1"/>
              <a:t>simbol</a:t>
            </a:r>
            <a:r>
              <a:rPr lang="en-US" sz="2000" dirty="0"/>
              <a:t> </a:t>
            </a:r>
            <a:r>
              <a:rPr lang="en-US" sz="2000" dirty="0" err="1"/>
              <a:t>baru</a:t>
            </a:r>
            <a:r>
              <a:rPr lang="en-US" sz="2000" dirty="0"/>
              <a:t> CBD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r>
              <a:rPr lang="en-US" sz="2000" dirty="0"/>
              <a:t> yang </a:t>
            </a:r>
            <a:r>
              <a:rPr lang="en-US" sz="2000" dirty="0" err="1"/>
              <a:t>terurut</a:t>
            </a:r>
            <a:endParaRPr lang="en-US" sz="2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2052F1-59DA-5D6C-BDD0-B74DE4430ACC}"/>
              </a:ext>
            </a:extLst>
          </p:cNvPr>
          <p:cNvSpPr/>
          <p:nvPr/>
        </p:nvSpPr>
        <p:spPr>
          <a:xfrm>
            <a:off x="7714347" y="5291408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 (2/7)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92E6FE-196E-FBFD-7032-D58DAE31788D}"/>
              </a:ext>
            </a:extLst>
          </p:cNvPr>
          <p:cNvSpPr/>
          <p:nvPr/>
        </p:nvSpPr>
        <p:spPr>
          <a:xfrm>
            <a:off x="8611837" y="6337836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(1/7)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8FD6CC-33F3-14A1-F793-F4FBB6CA22DB}"/>
              </a:ext>
            </a:extLst>
          </p:cNvPr>
          <p:cNvSpPr/>
          <p:nvPr/>
        </p:nvSpPr>
        <p:spPr>
          <a:xfrm>
            <a:off x="10087698" y="6337836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 (1/7)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E78CEE-4765-27EA-9B7C-C0E6368FF292}"/>
              </a:ext>
            </a:extLst>
          </p:cNvPr>
          <p:cNvSpPr/>
          <p:nvPr/>
        </p:nvSpPr>
        <p:spPr>
          <a:xfrm>
            <a:off x="9234851" y="5283033"/>
            <a:ext cx="1079994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BD (2/7)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40DE88-D6E6-AE7E-B70A-B70656554D47}"/>
              </a:ext>
            </a:extLst>
          </p:cNvPr>
          <p:cNvCxnSpPr>
            <a:stCxn id="39" idx="2"/>
            <a:endCxn id="37" idx="0"/>
          </p:cNvCxnSpPr>
          <p:nvPr/>
        </p:nvCxnSpPr>
        <p:spPr>
          <a:xfrm flipH="1">
            <a:off x="9064749" y="5740233"/>
            <a:ext cx="710099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DC22073-2411-A3CF-3BEB-83BC5BAFF2D5}"/>
              </a:ext>
            </a:extLst>
          </p:cNvPr>
          <p:cNvCxnSpPr>
            <a:cxnSpLocks/>
            <a:stCxn id="39" idx="2"/>
            <a:endCxn id="38" idx="0"/>
          </p:cNvCxnSpPr>
          <p:nvPr/>
        </p:nvCxnSpPr>
        <p:spPr>
          <a:xfrm>
            <a:off x="9774848" y="5740233"/>
            <a:ext cx="765762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CDC4549-29C8-6C76-1BBB-8223C2869EF2}"/>
              </a:ext>
            </a:extLst>
          </p:cNvPr>
          <p:cNvSpPr/>
          <p:nvPr/>
        </p:nvSpPr>
        <p:spPr>
          <a:xfrm>
            <a:off x="8364209" y="4377008"/>
            <a:ext cx="1410639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CBD (4/7)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225D5EA-BAA5-F667-6A4E-461A82ACB785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8167259" y="4838109"/>
            <a:ext cx="904549" cy="4532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B57EEEB-9CFE-3FDD-FBB6-97C6D5052583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9071808" y="4880609"/>
            <a:ext cx="703040" cy="4024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0D73DEB-0AF0-3266-D6E3-BB4167906146}"/>
              </a:ext>
            </a:extLst>
          </p:cNvPr>
          <p:cNvSpPr/>
          <p:nvPr/>
        </p:nvSpPr>
        <p:spPr>
          <a:xfrm>
            <a:off x="6945296" y="4377008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(3/7)</a:t>
            </a:r>
          </a:p>
        </p:txBody>
      </p:sp>
    </p:spTree>
    <p:extLst>
      <p:ext uri="{BB962C8B-B14F-4D97-AF65-F5344CB8AC3E}">
        <p14:creationId xmlns:p14="http://schemas.microsoft.com/office/powerpoint/2010/main" val="4106604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E3306-F462-FA2A-20E5-4A89F0E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6289F-5F1D-DA0A-46CD-13E5315437EC}"/>
              </a:ext>
            </a:extLst>
          </p:cNvPr>
          <p:cNvSpPr txBox="1"/>
          <p:nvPr/>
        </p:nvSpPr>
        <p:spPr>
          <a:xfrm>
            <a:off x="820234" y="438741"/>
            <a:ext cx="9783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indent="-347663"/>
            <a:r>
              <a:rPr lang="en-US" sz="2000" dirty="0"/>
              <a:t>3.   </a:t>
            </a:r>
            <a:r>
              <a:rPr lang="en-US" sz="2000" dirty="0" err="1"/>
              <a:t>Gabungkan</a:t>
            </a:r>
            <a:r>
              <a:rPr lang="en-US" sz="2000" dirty="0"/>
              <a:t> A dan CBD </a:t>
            </a:r>
            <a:r>
              <a:rPr lang="en-US" sz="2000" dirty="0" err="1"/>
              <a:t>menjadi</a:t>
            </a:r>
            <a:r>
              <a:rPr lang="en-US" sz="2000" dirty="0"/>
              <a:t> ACBD, </a:t>
            </a:r>
            <a:r>
              <a:rPr lang="en-US" sz="2000" dirty="0" err="1"/>
              <a:t>peluang</a:t>
            </a:r>
            <a:r>
              <a:rPr lang="en-US" sz="2000" dirty="0"/>
              <a:t>  CCBD  = 3/7 + 4/7  = 7/7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FB7EAE6-04FB-8F67-D27C-E0F6599992D2}"/>
              </a:ext>
            </a:extLst>
          </p:cNvPr>
          <p:cNvSpPr txBox="1">
            <a:spLocks/>
          </p:cNvSpPr>
          <p:nvPr/>
        </p:nvSpPr>
        <p:spPr>
          <a:xfrm>
            <a:off x="5250992" y="4068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91B419-9A56-7B55-A3B5-5D97F65863C4}"/>
              </a:ext>
            </a:extLst>
          </p:cNvPr>
          <p:cNvSpPr/>
          <p:nvPr/>
        </p:nvSpPr>
        <p:spPr>
          <a:xfrm>
            <a:off x="4354739" y="3003414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 (2/7)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B908F5-8B10-7E6A-4754-0DB817C26593}"/>
              </a:ext>
            </a:extLst>
          </p:cNvPr>
          <p:cNvSpPr/>
          <p:nvPr/>
        </p:nvSpPr>
        <p:spPr>
          <a:xfrm>
            <a:off x="5252229" y="4049842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(1/7)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10D942-AC8B-0914-D002-62D71709DB01}"/>
              </a:ext>
            </a:extLst>
          </p:cNvPr>
          <p:cNvSpPr/>
          <p:nvPr/>
        </p:nvSpPr>
        <p:spPr>
          <a:xfrm>
            <a:off x="6728090" y="4049842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 (1/7)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0409E1-7B36-2F08-E10A-A170145D192C}"/>
              </a:ext>
            </a:extLst>
          </p:cNvPr>
          <p:cNvSpPr/>
          <p:nvPr/>
        </p:nvSpPr>
        <p:spPr>
          <a:xfrm>
            <a:off x="5875243" y="2995039"/>
            <a:ext cx="1079994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BD (2/7)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A9E873-7319-B038-A57B-467069FD66F0}"/>
              </a:ext>
            </a:extLst>
          </p:cNvPr>
          <p:cNvCxnSpPr>
            <a:stCxn id="11" idx="2"/>
            <a:endCxn id="9" idx="0"/>
          </p:cNvCxnSpPr>
          <p:nvPr/>
        </p:nvCxnSpPr>
        <p:spPr>
          <a:xfrm flipH="1">
            <a:off x="5705141" y="3452239"/>
            <a:ext cx="710099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81E3C0-B16B-4A4C-4871-29162967D11C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6415240" y="3452239"/>
            <a:ext cx="765762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7D6E9E3-0C17-5C85-B013-00C64107B926}"/>
              </a:ext>
            </a:extLst>
          </p:cNvPr>
          <p:cNvSpPr/>
          <p:nvPr/>
        </p:nvSpPr>
        <p:spPr>
          <a:xfrm>
            <a:off x="5004601" y="2089014"/>
            <a:ext cx="1410639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CBD (4/7)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B597030-0EF0-04F8-B7CC-E6F2CE4A6E24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807651" y="2550115"/>
            <a:ext cx="904549" cy="4532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87A34B-B956-A785-5FE7-7452249E6967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>
            <a:off x="5709921" y="2546214"/>
            <a:ext cx="705319" cy="448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382EAF1-9D10-3877-C972-E0BB1D2A6198}"/>
              </a:ext>
            </a:extLst>
          </p:cNvPr>
          <p:cNvSpPr/>
          <p:nvPr/>
        </p:nvSpPr>
        <p:spPr>
          <a:xfrm>
            <a:off x="3585688" y="2089014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(3/7)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C6232F-D66F-59CA-94A1-180A893B7CD0}"/>
              </a:ext>
            </a:extLst>
          </p:cNvPr>
          <p:cNvSpPr/>
          <p:nvPr/>
        </p:nvSpPr>
        <p:spPr>
          <a:xfrm>
            <a:off x="4132449" y="1182989"/>
            <a:ext cx="1350402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ACBD (7/7)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C93CC3-7BB8-6EE9-4576-3DB153C52B85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4038600" y="1625461"/>
            <a:ext cx="768413" cy="4635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7EE9E3-29E9-505A-0C22-EAD6A3B3586E}"/>
              </a:ext>
            </a:extLst>
          </p:cNvPr>
          <p:cNvCxnSpPr>
            <a:cxnSpLocks/>
          </p:cNvCxnSpPr>
          <p:nvPr/>
        </p:nvCxnSpPr>
        <p:spPr>
          <a:xfrm>
            <a:off x="4748056" y="1624288"/>
            <a:ext cx="705319" cy="448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4B20574-8410-EC20-527F-06131A544888}"/>
              </a:ext>
            </a:extLst>
          </p:cNvPr>
          <p:cNvSpPr txBox="1"/>
          <p:nvPr/>
        </p:nvSpPr>
        <p:spPr>
          <a:xfrm>
            <a:off x="983277" y="5175053"/>
            <a:ext cx="9783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indent="-347663"/>
            <a:r>
              <a:rPr lang="en-US" sz="2000" dirty="0"/>
              <a:t>4.   </a:t>
            </a:r>
            <a:r>
              <a:rPr lang="en-US" sz="2000" dirty="0" err="1"/>
              <a:t>Simbol</a:t>
            </a:r>
            <a:r>
              <a:rPr lang="en-US" sz="2000" dirty="0"/>
              <a:t>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habis</a:t>
            </a:r>
            <a:r>
              <a:rPr lang="en-US" sz="2000" dirty="0"/>
              <a:t>. Stop. </a:t>
            </a:r>
            <a:r>
              <a:rPr lang="en-US" sz="2000" dirty="0" err="1"/>
              <a:t>Pohon</a:t>
            </a:r>
            <a:r>
              <a:rPr lang="en-US" sz="2000" dirty="0"/>
              <a:t> Huffman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terbentuk</a:t>
            </a:r>
            <a:r>
              <a:rPr lang="en-US" sz="2000" dirty="0"/>
              <a:t>. </a:t>
            </a:r>
            <a:r>
              <a:rPr lang="en-US" sz="2000" dirty="0" err="1"/>
              <a:t>Selanjutnya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Langkah 5. </a:t>
            </a:r>
          </a:p>
        </p:txBody>
      </p:sp>
    </p:spTree>
    <p:extLst>
      <p:ext uri="{BB962C8B-B14F-4D97-AF65-F5344CB8AC3E}">
        <p14:creationId xmlns:p14="http://schemas.microsoft.com/office/powerpoint/2010/main" val="1439892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435AB-4592-60B3-C5FA-02631AA02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8C66E-680B-FF00-9E34-88F9F584BBD1}"/>
              </a:ext>
            </a:extLst>
          </p:cNvPr>
          <p:cNvSpPr txBox="1"/>
          <p:nvPr/>
        </p:nvSpPr>
        <p:spPr>
          <a:xfrm>
            <a:off x="838134" y="690139"/>
            <a:ext cx="9783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indent="-347663"/>
            <a:r>
              <a:rPr lang="en-US" sz="2000" dirty="0"/>
              <a:t>5.   Sisi-</a:t>
            </a:r>
            <a:r>
              <a:rPr lang="en-US" sz="2000" dirty="0" err="1"/>
              <a:t>sisi</a:t>
            </a:r>
            <a:r>
              <a:rPr lang="en-US" sz="2000" dirty="0"/>
              <a:t> </a:t>
            </a:r>
            <a:r>
              <a:rPr lang="en-US" sz="2000" dirty="0" err="1"/>
              <a:t>kiri</a:t>
            </a:r>
            <a:r>
              <a:rPr lang="en-US" sz="2000" dirty="0"/>
              <a:t>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pohon</a:t>
            </a:r>
            <a:r>
              <a:rPr lang="en-US" sz="2000" dirty="0"/>
              <a:t> Huffam </a:t>
            </a:r>
            <a:r>
              <a:rPr lang="en-US" sz="2000" dirty="0" err="1"/>
              <a:t>diberi</a:t>
            </a:r>
            <a:r>
              <a:rPr lang="en-US" sz="2000" dirty="0"/>
              <a:t> label 0, </a:t>
            </a:r>
            <a:r>
              <a:rPr lang="en-US" sz="2000" dirty="0" err="1"/>
              <a:t>sisi-sisi</a:t>
            </a:r>
            <a:r>
              <a:rPr lang="en-US" sz="2000" dirty="0"/>
              <a:t> </a:t>
            </a:r>
            <a:r>
              <a:rPr lang="en-US" sz="2000" dirty="0" err="1"/>
              <a:t>kanan</a:t>
            </a:r>
            <a:r>
              <a:rPr lang="en-US" sz="2000" dirty="0"/>
              <a:t> </a:t>
            </a:r>
            <a:r>
              <a:rPr lang="en-US" sz="2000" dirty="0" err="1"/>
              <a:t>diberi</a:t>
            </a:r>
            <a:r>
              <a:rPr lang="en-US" sz="2000" dirty="0"/>
              <a:t> label 1. 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A85A0E1-53C3-1365-0163-6666A6548245}"/>
              </a:ext>
            </a:extLst>
          </p:cNvPr>
          <p:cNvSpPr txBox="1">
            <a:spLocks/>
          </p:cNvSpPr>
          <p:nvPr/>
        </p:nvSpPr>
        <p:spPr>
          <a:xfrm>
            <a:off x="5157143" y="42134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966F83-81C5-FCA4-B715-54BA33664201}"/>
              </a:ext>
            </a:extLst>
          </p:cNvPr>
          <p:cNvSpPr/>
          <p:nvPr/>
        </p:nvSpPr>
        <p:spPr>
          <a:xfrm>
            <a:off x="4260890" y="3148557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 (2/7)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BA1441-DEE5-3F4B-E664-54ADFD58E3A9}"/>
              </a:ext>
            </a:extLst>
          </p:cNvPr>
          <p:cNvSpPr/>
          <p:nvPr/>
        </p:nvSpPr>
        <p:spPr>
          <a:xfrm>
            <a:off x="5158380" y="4194985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(1/7)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7C8F4-7030-43A9-3AFF-5C5580EFA23F}"/>
              </a:ext>
            </a:extLst>
          </p:cNvPr>
          <p:cNvSpPr/>
          <p:nvPr/>
        </p:nvSpPr>
        <p:spPr>
          <a:xfrm>
            <a:off x="6634241" y="4194985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 (1/7)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32695D-C56F-5BA2-ABE6-B5916E8904CA}"/>
              </a:ext>
            </a:extLst>
          </p:cNvPr>
          <p:cNvSpPr/>
          <p:nvPr/>
        </p:nvSpPr>
        <p:spPr>
          <a:xfrm>
            <a:off x="5781394" y="3140182"/>
            <a:ext cx="1079994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BD (2/7)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9A10D-AA18-63DE-5827-5728A3DF31A5}"/>
              </a:ext>
            </a:extLst>
          </p:cNvPr>
          <p:cNvCxnSpPr>
            <a:stCxn id="11" idx="2"/>
            <a:endCxn id="9" idx="0"/>
          </p:cNvCxnSpPr>
          <p:nvPr/>
        </p:nvCxnSpPr>
        <p:spPr>
          <a:xfrm flipH="1">
            <a:off x="5611292" y="3597382"/>
            <a:ext cx="710099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B5F4B6-1E0F-BC7D-C6FB-4E208CCD6300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6321391" y="3597382"/>
            <a:ext cx="765762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4F0145B-2CA8-D2EA-FBF5-0838D8806456}"/>
              </a:ext>
            </a:extLst>
          </p:cNvPr>
          <p:cNvSpPr/>
          <p:nvPr/>
        </p:nvSpPr>
        <p:spPr>
          <a:xfrm>
            <a:off x="4910752" y="2234157"/>
            <a:ext cx="1410639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CBD (4/7)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D135A6-AE10-21AD-40BA-C150B686BC61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713802" y="2695258"/>
            <a:ext cx="904549" cy="4532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71B7E6-E60C-38E5-8D7E-2FED1C753155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>
            <a:off x="5616072" y="2691357"/>
            <a:ext cx="705319" cy="448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150CB10-4A78-2BA0-B11D-FB9F2C78446A}"/>
              </a:ext>
            </a:extLst>
          </p:cNvPr>
          <p:cNvSpPr/>
          <p:nvPr/>
        </p:nvSpPr>
        <p:spPr>
          <a:xfrm>
            <a:off x="3491839" y="2234157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(3/7)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E7E042-0504-77E4-A635-360E086CEFC3}"/>
              </a:ext>
            </a:extLst>
          </p:cNvPr>
          <p:cNvSpPr/>
          <p:nvPr/>
        </p:nvSpPr>
        <p:spPr>
          <a:xfrm>
            <a:off x="4038600" y="1328132"/>
            <a:ext cx="1350402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ACBD (7/7)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86222E-6CAC-ABB4-20AC-4BF7048B7E61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3944751" y="1770604"/>
            <a:ext cx="768413" cy="4635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322AF9-F43D-8A9C-10A7-FF382A71A3DC}"/>
              </a:ext>
            </a:extLst>
          </p:cNvPr>
          <p:cNvCxnSpPr>
            <a:cxnSpLocks/>
          </p:cNvCxnSpPr>
          <p:nvPr/>
        </p:nvCxnSpPr>
        <p:spPr>
          <a:xfrm>
            <a:off x="4654207" y="1769431"/>
            <a:ext cx="705319" cy="448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20EEE68-5674-443D-4C07-DDA8A5343CA2}"/>
              </a:ext>
            </a:extLst>
          </p:cNvPr>
          <p:cNvSpPr txBox="1"/>
          <p:nvPr/>
        </p:nvSpPr>
        <p:spPr>
          <a:xfrm>
            <a:off x="3997793" y="17996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A38B45-BC26-1199-3B22-0467378E43EE}"/>
              </a:ext>
            </a:extLst>
          </p:cNvPr>
          <p:cNvSpPr txBox="1"/>
          <p:nvPr/>
        </p:nvSpPr>
        <p:spPr>
          <a:xfrm>
            <a:off x="5120934" y="18068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BDA595-8386-C8C9-AA17-D4CD3CE89667}"/>
              </a:ext>
            </a:extLst>
          </p:cNvPr>
          <p:cNvSpPr txBox="1"/>
          <p:nvPr/>
        </p:nvSpPr>
        <p:spPr>
          <a:xfrm>
            <a:off x="4863251" y="26781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4DBF31-84C6-F012-DE3C-DF9C923D0EF7}"/>
              </a:ext>
            </a:extLst>
          </p:cNvPr>
          <p:cNvSpPr txBox="1"/>
          <p:nvPr/>
        </p:nvSpPr>
        <p:spPr>
          <a:xfrm>
            <a:off x="5561988" y="37520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8A5DAE-555B-897C-AD6D-E44C13A0CD94}"/>
              </a:ext>
            </a:extLst>
          </p:cNvPr>
          <p:cNvSpPr txBox="1"/>
          <p:nvPr/>
        </p:nvSpPr>
        <p:spPr>
          <a:xfrm>
            <a:off x="6045735" y="270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252513-551A-2235-EC58-00C2BE315749}"/>
              </a:ext>
            </a:extLst>
          </p:cNvPr>
          <p:cNvSpPr txBox="1"/>
          <p:nvPr/>
        </p:nvSpPr>
        <p:spPr>
          <a:xfrm>
            <a:off x="6774303" y="37249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191764-EFEF-AA28-A29C-936D58A4A2F1}"/>
              </a:ext>
            </a:extLst>
          </p:cNvPr>
          <p:cNvSpPr txBox="1"/>
          <p:nvPr/>
        </p:nvSpPr>
        <p:spPr>
          <a:xfrm>
            <a:off x="820865" y="4938783"/>
            <a:ext cx="97839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indent="-347663"/>
            <a:r>
              <a:rPr lang="en-US" sz="2000" dirty="0"/>
              <a:t>6.   </a:t>
            </a:r>
            <a:r>
              <a:rPr lang="en-US" sz="2000" dirty="0" err="1"/>
              <a:t>Telusuri</a:t>
            </a:r>
            <a:r>
              <a:rPr lang="en-US" sz="2000" dirty="0"/>
              <a:t> </a:t>
            </a:r>
            <a:r>
              <a:rPr lang="en-US" sz="2000" dirty="0" err="1"/>
              <a:t>pohon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akar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daun</a:t>
            </a:r>
            <a:r>
              <a:rPr lang="en-US" sz="2000" dirty="0"/>
              <a:t>. </a:t>
            </a:r>
            <a:r>
              <a:rPr lang="en-US" sz="2000" dirty="0" err="1"/>
              <a:t>Lintasan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akar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daun</a:t>
            </a:r>
            <a:r>
              <a:rPr lang="en-US" sz="2000" dirty="0"/>
              <a:t>  </a:t>
            </a:r>
            <a:r>
              <a:rPr lang="en-US" sz="2000" dirty="0" err="1"/>
              <a:t>berisi</a:t>
            </a:r>
            <a:r>
              <a:rPr lang="en-US" sz="2000" dirty="0"/>
              <a:t> </a:t>
            </a:r>
            <a:r>
              <a:rPr lang="en-US" sz="2000" dirty="0" err="1"/>
              <a:t>rangakaian</a:t>
            </a:r>
            <a:r>
              <a:rPr lang="en-US" sz="2000" dirty="0"/>
              <a:t> bit yang </a:t>
            </a:r>
            <a:r>
              <a:rPr lang="en-US" sz="2000" dirty="0" err="1"/>
              <a:t>menyatakan</a:t>
            </a:r>
            <a:r>
              <a:rPr lang="en-US" sz="2000" dirty="0"/>
              <a:t> </a:t>
            </a:r>
            <a:r>
              <a:rPr lang="en-US" sz="2000" dirty="0" err="1"/>
              <a:t>kode</a:t>
            </a:r>
            <a:r>
              <a:rPr lang="en-US" sz="2000" dirty="0"/>
              <a:t> Huffman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simbol</a:t>
            </a:r>
            <a:r>
              <a:rPr lang="en-US" sz="2000" dirty="0"/>
              <a:t>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daun</a:t>
            </a:r>
            <a:r>
              <a:rPr lang="en-US" sz="2000" dirty="0"/>
              <a:t>.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4DC776A8-53ED-0672-B1AD-C9F6F2121770}"/>
              </a:ext>
            </a:extLst>
          </p:cNvPr>
          <p:cNvSpPr txBox="1">
            <a:spLocks noChangeArrowheads="1"/>
          </p:cNvSpPr>
          <p:nvPr/>
        </p:nvSpPr>
        <p:spPr>
          <a:xfrm>
            <a:off x="2450922" y="5796093"/>
            <a:ext cx="6334857" cy="654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Kode Huffman: A = 0, C = 10, B = 110, D = 111</a:t>
            </a:r>
          </a:p>
        </p:txBody>
      </p:sp>
    </p:spTree>
    <p:extLst>
      <p:ext uri="{BB962C8B-B14F-4D97-AF65-F5344CB8AC3E}">
        <p14:creationId xmlns:p14="http://schemas.microsoft.com/office/powerpoint/2010/main" val="1760256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Slide Number Placeholder 5">
            <a:extLst>
              <a:ext uri="{FF2B5EF4-FFF2-40B4-BE49-F238E27FC236}">
                <a16:creationId xmlns:a16="http://schemas.microsoft.com/office/drawing/2014/main" id="{77A70E34-A1E8-44CB-80B9-421338EA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516F31E-ACDC-43CF-8FF5-965CC88F749F}" type="slidenum">
              <a:rPr lang="en-GB" altLang="en-US">
                <a:solidFill>
                  <a:schemeClr val="tx2"/>
                </a:solidFill>
              </a:rPr>
              <a:pPr eaLnBrk="1" hangingPunct="1"/>
              <a:t>37</a:t>
            </a:fld>
            <a:endParaRPr lang="en-GB" altLang="en-US" sz="1400">
              <a:solidFill>
                <a:schemeClr val="tx2"/>
              </a:solidFill>
            </a:endParaRP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697434B7-5109-4EEA-9D71-CA0DA31F04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861" y="4915030"/>
            <a:ext cx="6334857" cy="6540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err="1"/>
              <a:t>Kode</a:t>
            </a:r>
            <a:r>
              <a:rPr lang="en-US" altLang="en-US" sz="2400" dirty="0"/>
              <a:t> Huffman: A = 0, C = 10, B = 110, D = 111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84654B-696E-4131-B34B-2759A08C104C}"/>
              </a:ext>
            </a:extLst>
          </p:cNvPr>
          <p:cNvSpPr txBox="1"/>
          <p:nvPr/>
        </p:nvSpPr>
        <p:spPr>
          <a:xfrm>
            <a:off x="5562406" y="619760"/>
            <a:ext cx="579139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Encoding: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Kodekan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simbol</a:t>
            </a:r>
            <a:r>
              <a:rPr lang="en-US" sz="2000" dirty="0"/>
              <a:t>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pesan</a:t>
            </a:r>
            <a:r>
              <a:rPr lang="en-US" sz="2000" dirty="0"/>
              <a:t> </a:t>
            </a:r>
            <a:r>
              <a:rPr lang="en-US" sz="2000" dirty="0" err="1"/>
              <a:t>tadi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kode</a:t>
            </a:r>
            <a:r>
              <a:rPr lang="en-US" sz="2000" dirty="0"/>
              <a:t> Huffman: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Contoh</a:t>
            </a:r>
            <a:r>
              <a:rPr lang="en-US" sz="2000" dirty="0"/>
              <a:t>: ABACCDA = 0110010101110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3B81B-6711-49E1-B905-DC3004B43CAD}"/>
              </a:ext>
            </a:extLst>
          </p:cNvPr>
          <p:cNvSpPr txBox="1"/>
          <p:nvPr/>
        </p:nvSpPr>
        <p:spPr>
          <a:xfrm>
            <a:off x="6035699" y="2718613"/>
            <a:ext cx="615630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Decoding: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Baca </a:t>
            </a:r>
            <a:r>
              <a:rPr lang="en-US" sz="2000" dirty="0" err="1"/>
              <a:t>simbol</a:t>
            </a:r>
            <a:r>
              <a:rPr lang="en-US" sz="2000" dirty="0"/>
              <a:t> </a:t>
            </a:r>
            <a:r>
              <a:rPr lang="en-US" sz="2000" dirty="0" err="1"/>
              <a:t>biner</a:t>
            </a:r>
            <a:r>
              <a:rPr lang="en-US" sz="2000" dirty="0"/>
              <a:t> </a:t>
            </a:r>
            <a:r>
              <a:rPr lang="en-US" sz="2000" dirty="0" err="1"/>
              <a:t>pertama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Mulai</a:t>
            </a:r>
            <a:r>
              <a:rPr lang="en-US" sz="2000" dirty="0"/>
              <a:t> traversal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akar</a:t>
            </a:r>
            <a:r>
              <a:rPr lang="en-US" sz="2000" dirty="0"/>
              <a:t> </a:t>
            </a:r>
            <a:r>
              <a:rPr lang="en-US" sz="2000" dirty="0" err="1"/>
              <a:t>mengikuti</a:t>
            </a:r>
            <a:r>
              <a:rPr lang="en-US" sz="2000" dirty="0"/>
              <a:t> </a:t>
            </a:r>
            <a:r>
              <a:rPr lang="en-US" sz="2000" dirty="0" err="1"/>
              <a:t>sisi</a:t>
            </a:r>
            <a:r>
              <a:rPr lang="en-US" sz="2000" dirty="0"/>
              <a:t> yang </a:t>
            </a:r>
            <a:r>
              <a:rPr lang="en-US" sz="2000" dirty="0" err="1"/>
              <a:t>sesuai</a:t>
            </a:r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simbol</a:t>
            </a:r>
            <a:r>
              <a:rPr lang="en-US" sz="2000" dirty="0"/>
              <a:t> </a:t>
            </a:r>
            <a:r>
              <a:rPr lang="en-US" sz="2000" dirty="0" err="1"/>
              <a:t>biner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endParaRPr lang="en-US" sz="2000" dirty="0"/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Baca </a:t>
            </a:r>
            <a:r>
              <a:rPr lang="en-US" sz="2000" dirty="0" err="1"/>
              <a:t>terus</a:t>
            </a:r>
            <a:r>
              <a:rPr lang="en-US" sz="2000" dirty="0"/>
              <a:t> </a:t>
            </a:r>
            <a:r>
              <a:rPr lang="en-US" sz="2000" dirty="0" err="1"/>
              <a:t>simbol</a:t>
            </a:r>
            <a:r>
              <a:rPr lang="en-US" sz="2000" dirty="0"/>
              <a:t> </a:t>
            </a:r>
            <a:r>
              <a:rPr lang="en-US" sz="2000" dirty="0" err="1"/>
              <a:t>biner</a:t>
            </a:r>
            <a:r>
              <a:rPr lang="en-US" sz="2000" dirty="0"/>
              <a:t> dan traversal </a:t>
            </a:r>
            <a:r>
              <a:rPr lang="en-US" sz="2000" dirty="0" err="1"/>
              <a:t>sisi</a:t>
            </a:r>
            <a:r>
              <a:rPr lang="en-US" sz="2000" dirty="0"/>
              <a:t> yang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bersesuaian</a:t>
            </a:r>
            <a:r>
              <a:rPr lang="en-US" sz="2000" dirty="0"/>
              <a:t> </a:t>
            </a:r>
            <a:r>
              <a:rPr lang="en-US" sz="2000" dirty="0" err="1"/>
              <a:t>sampai</a:t>
            </a:r>
            <a:r>
              <a:rPr lang="en-US" sz="2000" dirty="0"/>
              <a:t> </a:t>
            </a:r>
            <a:r>
              <a:rPr lang="en-US" sz="2000" dirty="0" err="1"/>
              <a:t>ketemu</a:t>
            </a:r>
            <a:r>
              <a:rPr lang="en-US" sz="2000" dirty="0"/>
              <a:t> </a:t>
            </a:r>
            <a:r>
              <a:rPr lang="en-US" sz="2000" dirty="0" err="1"/>
              <a:t>daun</a:t>
            </a:r>
            <a:r>
              <a:rPr lang="en-US" sz="2000" dirty="0"/>
              <a:t>. </a:t>
            </a:r>
            <a:r>
              <a:rPr lang="en-US" sz="2000" dirty="0" err="1"/>
              <a:t>Kodekan</a:t>
            </a:r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barisan</a:t>
            </a:r>
            <a:r>
              <a:rPr lang="en-US" sz="2000" dirty="0"/>
              <a:t> </a:t>
            </a:r>
            <a:r>
              <a:rPr lang="en-US" sz="2000" dirty="0" err="1"/>
              <a:t>biner</a:t>
            </a:r>
            <a:r>
              <a:rPr lang="en-US" sz="2000" dirty="0"/>
              <a:t> yang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dibaca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simbol</a:t>
            </a:r>
            <a:r>
              <a:rPr lang="en-US" sz="2000" dirty="0"/>
              <a:t> </a:t>
            </a:r>
            <a:r>
              <a:rPr lang="en-US" sz="2000" dirty="0" err="1"/>
              <a:t>daun</a:t>
            </a:r>
            <a:endParaRPr lang="en-US" sz="2000" dirty="0"/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Baca </a:t>
            </a:r>
            <a:r>
              <a:rPr lang="en-US" sz="2000" dirty="0" err="1"/>
              <a:t>simbol</a:t>
            </a:r>
            <a:r>
              <a:rPr lang="en-US" sz="2000" dirty="0"/>
              <a:t> </a:t>
            </a:r>
            <a:r>
              <a:rPr lang="en-US" sz="2000" dirty="0" err="1"/>
              <a:t>biner</a:t>
            </a:r>
            <a:r>
              <a:rPr lang="en-US" sz="2000" dirty="0"/>
              <a:t> </a:t>
            </a:r>
            <a:r>
              <a:rPr lang="en-US" sz="2000" dirty="0" err="1"/>
              <a:t>berikutnya</a:t>
            </a:r>
            <a:r>
              <a:rPr lang="en-US" sz="2000" dirty="0"/>
              <a:t> dan </a:t>
            </a:r>
            <a:r>
              <a:rPr lang="en-US" sz="2000" dirty="0" err="1"/>
              <a:t>ulangi</a:t>
            </a:r>
            <a:r>
              <a:rPr lang="en-US" sz="2000" dirty="0"/>
              <a:t> traversal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akar</a:t>
            </a:r>
            <a:r>
              <a:rPr lang="en-US" sz="2000" dirty="0"/>
              <a:t>. </a:t>
            </a:r>
            <a:r>
              <a:rPr lang="en-US" sz="2000" dirty="0" err="1"/>
              <a:t>Ulangi</a:t>
            </a:r>
            <a:r>
              <a:rPr lang="en-US" sz="2000" dirty="0"/>
              <a:t> </a:t>
            </a:r>
            <a:r>
              <a:rPr lang="en-US" sz="2000" dirty="0" err="1"/>
              <a:t>langkah</a:t>
            </a:r>
            <a:r>
              <a:rPr lang="en-US" sz="2000" dirty="0"/>
              <a:t> 4 </a:t>
            </a:r>
            <a:r>
              <a:rPr lang="en-US" sz="2000" dirty="0" err="1"/>
              <a:t>sampai</a:t>
            </a:r>
            <a:r>
              <a:rPr lang="en-US" sz="2000" dirty="0"/>
              <a:t>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simbol</a:t>
            </a:r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biner</a:t>
            </a:r>
            <a:r>
              <a:rPr lang="en-US" sz="2000" dirty="0"/>
              <a:t> </a:t>
            </a:r>
            <a:r>
              <a:rPr lang="en-US" sz="2000" dirty="0" err="1"/>
              <a:t>habis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712F6077-0E22-95DC-459A-BA4E0D3D880A}"/>
              </a:ext>
            </a:extLst>
          </p:cNvPr>
          <p:cNvSpPr txBox="1">
            <a:spLocks/>
          </p:cNvSpPr>
          <p:nvPr/>
        </p:nvSpPr>
        <p:spPr>
          <a:xfrm>
            <a:off x="2601039" y="39758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AD5A2A-A937-0DCA-6CBE-A4119E01D68D}"/>
              </a:ext>
            </a:extLst>
          </p:cNvPr>
          <p:cNvSpPr/>
          <p:nvPr/>
        </p:nvSpPr>
        <p:spPr>
          <a:xfrm>
            <a:off x="1704786" y="2910874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 (2/7)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F62FD6-9CEA-51D3-3BE6-9F97369F3368}"/>
              </a:ext>
            </a:extLst>
          </p:cNvPr>
          <p:cNvSpPr/>
          <p:nvPr/>
        </p:nvSpPr>
        <p:spPr>
          <a:xfrm>
            <a:off x="2602276" y="3957302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 (1/7)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2187CB-6511-EF09-D398-B1BC8E1BCE1D}"/>
              </a:ext>
            </a:extLst>
          </p:cNvPr>
          <p:cNvSpPr/>
          <p:nvPr/>
        </p:nvSpPr>
        <p:spPr>
          <a:xfrm>
            <a:off x="4078137" y="3957302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 (1/7)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4905F9-4A8C-530E-B4FA-0B0FA018DE26}"/>
              </a:ext>
            </a:extLst>
          </p:cNvPr>
          <p:cNvSpPr/>
          <p:nvPr/>
        </p:nvSpPr>
        <p:spPr>
          <a:xfrm>
            <a:off x="3225290" y="2902499"/>
            <a:ext cx="1079994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BD (2/7)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EA59BF-BBD2-F805-0746-486B8230CBF1}"/>
              </a:ext>
            </a:extLst>
          </p:cNvPr>
          <p:cNvCxnSpPr>
            <a:stCxn id="32" idx="2"/>
            <a:endCxn id="30" idx="0"/>
          </p:cNvCxnSpPr>
          <p:nvPr/>
        </p:nvCxnSpPr>
        <p:spPr>
          <a:xfrm flipH="1">
            <a:off x="3055188" y="3359699"/>
            <a:ext cx="710099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8D7195-9DD1-1965-E75D-6F41EF9EEF67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>
            <a:off x="3765287" y="3359699"/>
            <a:ext cx="765762" cy="59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08C8FA3-435B-27BF-24A9-6C62F852EF56}"/>
              </a:ext>
            </a:extLst>
          </p:cNvPr>
          <p:cNvSpPr/>
          <p:nvPr/>
        </p:nvSpPr>
        <p:spPr>
          <a:xfrm>
            <a:off x="2354648" y="1996474"/>
            <a:ext cx="1410639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CBD (4/7)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8171FF-D6E3-CF96-E08B-CDA073C286FB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2157698" y="2457575"/>
            <a:ext cx="904549" cy="4532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F8FA40C-47A3-27B2-F8A4-3E82DC73FEC2}"/>
              </a:ext>
            </a:extLst>
          </p:cNvPr>
          <p:cNvCxnSpPr>
            <a:cxnSpLocks/>
            <a:stCxn id="35" idx="2"/>
            <a:endCxn id="32" idx="0"/>
          </p:cNvCxnSpPr>
          <p:nvPr/>
        </p:nvCxnSpPr>
        <p:spPr>
          <a:xfrm>
            <a:off x="3059968" y="2453674"/>
            <a:ext cx="705319" cy="448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08391BB0-81D2-313E-0B78-CDD41E548E45}"/>
              </a:ext>
            </a:extLst>
          </p:cNvPr>
          <p:cNvSpPr/>
          <p:nvPr/>
        </p:nvSpPr>
        <p:spPr>
          <a:xfrm>
            <a:off x="935735" y="1996474"/>
            <a:ext cx="905823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(3/7)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0C74A9E-72F6-5F7B-446A-9984DC6189E9}"/>
              </a:ext>
            </a:extLst>
          </p:cNvPr>
          <p:cNvSpPr/>
          <p:nvPr/>
        </p:nvSpPr>
        <p:spPr>
          <a:xfrm>
            <a:off x="1482496" y="1090449"/>
            <a:ext cx="1350402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ACBD (7/7)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2AE0CB-C5DE-7C7F-CFB6-428658CAA85A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1388647" y="1532921"/>
            <a:ext cx="768413" cy="4635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DBDE22-11C9-32E2-CA83-F0604106BA3E}"/>
              </a:ext>
            </a:extLst>
          </p:cNvPr>
          <p:cNvCxnSpPr>
            <a:cxnSpLocks/>
          </p:cNvCxnSpPr>
          <p:nvPr/>
        </p:nvCxnSpPr>
        <p:spPr>
          <a:xfrm>
            <a:off x="2098103" y="1531748"/>
            <a:ext cx="705319" cy="448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88C440C-3C1F-0FC7-E546-DB0CF04171A6}"/>
              </a:ext>
            </a:extLst>
          </p:cNvPr>
          <p:cNvSpPr txBox="1"/>
          <p:nvPr/>
        </p:nvSpPr>
        <p:spPr>
          <a:xfrm>
            <a:off x="1441689" y="15620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DBE33-D230-C04D-8A65-3E8BF50765F9}"/>
              </a:ext>
            </a:extLst>
          </p:cNvPr>
          <p:cNvSpPr txBox="1"/>
          <p:nvPr/>
        </p:nvSpPr>
        <p:spPr>
          <a:xfrm>
            <a:off x="2564830" y="15692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757B1F-70D3-A684-154B-300FA456357C}"/>
              </a:ext>
            </a:extLst>
          </p:cNvPr>
          <p:cNvSpPr txBox="1"/>
          <p:nvPr/>
        </p:nvSpPr>
        <p:spPr>
          <a:xfrm>
            <a:off x="2307147" y="24404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F41A91-1C03-1286-A05A-05EBEC6FE018}"/>
              </a:ext>
            </a:extLst>
          </p:cNvPr>
          <p:cNvSpPr txBox="1"/>
          <p:nvPr/>
        </p:nvSpPr>
        <p:spPr>
          <a:xfrm>
            <a:off x="3005884" y="35144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771169-784B-A27C-4A0E-EE9B4A4F7262}"/>
              </a:ext>
            </a:extLst>
          </p:cNvPr>
          <p:cNvSpPr txBox="1"/>
          <p:nvPr/>
        </p:nvSpPr>
        <p:spPr>
          <a:xfrm>
            <a:off x="3489631" y="24695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857540-2060-DF7E-1425-7F54F3C04B17}"/>
              </a:ext>
            </a:extLst>
          </p:cNvPr>
          <p:cNvSpPr txBox="1"/>
          <p:nvPr/>
        </p:nvSpPr>
        <p:spPr>
          <a:xfrm>
            <a:off x="4218199" y="34872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185C-FF55-4837-9513-FA0BEE31C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2320"/>
            <a:ext cx="10515600" cy="539464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2</a:t>
            </a:r>
            <a:r>
              <a:rPr lang="en-US" dirty="0"/>
              <a:t>: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sepanjang</a:t>
            </a:r>
            <a:r>
              <a:rPr lang="en-US" dirty="0"/>
              <a:t> 100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disusun</a:t>
            </a:r>
            <a:r>
              <a:rPr lang="en-US" dirty="0"/>
              <a:t> oleh </a:t>
            </a:r>
            <a:r>
              <a:rPr lang="en-US" dirty="0" err="1"/>
              <a:t>huruf</a:t>
            </a:r>
            <a:r>
              <a:rPr lang="en-US" dirty="0"/>
              <a:t> a, b, c, d, e, dan f.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kemunculan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Huffman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89E3D-6635-4238-AF0D-E69CCA4F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38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B54BA6-4D62-4479-8DDC-679DFF02A334}"/>
              </a:ext>
            </a:extLst>
          </p:cNvPr>
          <p:cNvSpPr/>
          <p:nvPr/>
        </p:nvSpPr>
        <p:spPr>
          <a:xfrm>
            <a:off x="1016000" y="2571095"/>
            <a:ext cx="10017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	</a:t>
            </a:r>
            <a:r>
              <a:rPr lang="en-US" altLang="en-US" sz="2400" dirty="0" err="1"/>
              <a:t>Karakter</a:t>
            </a:r>
            <a:r>
              <a:rPr lang="en-US" altLang="en-US" sz="2400" dirty="0"/>
              <a:t>	   	</a:t>
            </a:r>
            <a:r>
              <a:rPr lang="en-US" altLang="en-US" sz="2400" i="1" dirty="0"/>
              <a:t>a	b	c	d	e	f</a:t>
            </a:r>
            <a:endParaRPr lang="en-US" altLang="en-US" sz="2400" dirty="0"/>
          </a:p>
          <a:p>
            <a:r>
              <a:rPr lang="en-US" altLang="en-US" sz="2400" dirty="0"/>
              <a:t>	---------------------------------------------------------------------------------</a:t>
            </a:r>
          </a:p>
          <a:p>
            <a:r>
              <a:rPr lang="en-US" altLang="en-US" sz="2400" dirty="0"/>
              <a:t>	</a:t>
            </a:r>
            <a:r>
              <a:rPr lang="en-US" altLang="en-US" sz="2400" dirty="0" err="1"/>
              <a:t>Frekuensi</a:t>
            </a:r>
            <a:r>
              <a:rPr lang="en-US" altLang="en-US" sz="2400" dirty="0"/>
              <a:t>	   	45	13	12	16	9	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4CBDC-68EC-4785-9E27-E13107C62091}"/>
              </a:ext>
            </a:extLst>
          </p:cNvPr>
          <p:cNvSpPr/>
          <p:nvPr/>
        </p:nvSpPr>
        <p:spPr>
          <a:xfrm>
            <a:off x="1960880" y="2571095"/>
            <a:ext cx="7660640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F44B67-EDCA-4833-AC37-217FCBF1AA5D}"/>
              </a:ext>
            </a:extLst>
          </p:cNvPr>
          <p:cNvSpPr/>
          <p:nvPr/>
        </p:nvSpPr>
        <p:spPr>
          <a:xfrm>
            <a:off x="1960880" y="2571095"/>
            <a:ext cx="239180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73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2183E-B7BB-4BEB-875B-9B323E82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5DC701-5545-44F8-A776-AABF125B7C87}" type="slidenum">
              <a:rPr lang="en-US" altLang="en-US" sz="1200"/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en-US" sz="1200"/>
          </a:p>
        </p:txBody>
      </p:sp>
      <p:graphicFrame>
        <p:nvGraphicFramePr>
          <p:cNvPr id="104451" name="Object 3">
            <a:extLst>
              <a:ext uri="{FF2B5EF4-FFF2-40B4-BE49-F238E27FC236}">
                <a16:creationId xmlns:a16="http://schemas.microsoft.com/office/drawing/2014/main" id="{FDE35115-AB34-4778-A570-6D70CEDD8C67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715885821"/>
              </p:ext>
            </p:extLst>
          </p:nvPr>
        </p:nvGraphicFramePr>
        <p:xfrm>
          <a:off x="1630363" y="1171575"/>
          <a:ext cx="8351837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24604" imgH="2733820" progId="Visio.Drawing.5">
                  <p:embed/>
                </p:oleObj>
              </mc:Choice>
              <mc:Fallback>
                <p:oleObj name="VISIO" r:id="rId2" imgW="5124604" imgH="2733820" progId="Visio.Drawing.5">
                  <p:embed/>
                  <p:pic>
                    <p:nvPicPr>
                      <p:cNvPr id="104451" name="Object 3">
                        <a:extLst>
                          <a:ext uri="{FF2B5EF4-FFF2-40B4-BE49-F238E27FC236}">
                            <a16:creationId xmlns:a16="http://schemas.microsoft.com/office/drawing/2014/main" id="{FDE35115-AB34-4778-A570-6D70CEDD8C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1171575"/>
                        <a:ext cx="8351837" cy="518477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E89EC8B-DB9A-43D3-AC2F-1B4B4F308802}"/>
              </a:ext>
            </a:extLst>
          </p:cNvPr>
          <p:cNvSpPr txBox="1"/>
          <p:nvPr/>
        </p:nvSpPr>
        <p:spPr>
          <a:xfrm>
            <a:off x="985520" y="379075"/>
            <a:ext cx="1890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Penyelesaian</a:t>
            </a:r>
            <a:r>
              <a:rPr lang="en-US" sz="2400" dirty="0"/>
              <a:t>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92C15C-AB44-43F4-92A3-870544E8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E2BF4D7-CF01-42A9-B24A-E54A28A66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625235"/>
              </p:ext>
            </p:extLst>
          </p:nvPr>
        </p:nvGraphicFramePr>
        <p:xfrm>
          <a:off x="1947863" y="1452782"/>
          <a:ext cx="8034337" cy="302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24604" imgH="1447824" progId="Visio.Drawing.5">
                  <p:embed/>
                </p:oleObj>
              </mc:Choice>
              <mc:Fallback>
                <p:oleObj name="VISIO" r:id="rId2" imgW="5124604" imgH="1447824" progId="Visio.Drawing.5">
                  <p:embed/>
                  <p:pic>
                    <p:nvPicPr>
                      <p:cNvPr id="105475" name="Object 3">
                        <a:extLst>
                          <a:ext uri="{FF2B5EF4-FFF2-40B4-BE49-F238E27FC236}">
                            <a16:creationId xmlns:a16="http://schemas.microsoft.com/office/drawing/2014/main" id="{419C4D61-9021-4EC4-96D9-987650940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1452782"/>
                        <a:ext cx="8034337" cy="3024187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45813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E99D38-6198-40EA-8CDE-D288C4A2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64D1AE8-2327-49A3-9568-941E10B1A6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116109"/>
              </p:ext>
            </p:extLst>
          </p:nvPr>
        </p:nvGraphicFramePr>
        <p:xfrm>
          <a:off x="1793777" y="304006"/>
          <a:ext cx="6265862" cy="624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24604" imgH="5112337" progId="Visio.Drawing.5">
                  <p:embed/>
                </p:oleObj>
              </mc:Choice>
              <mc:Fallback>
                <p:oleObj name="VISIO" r:id="rId2" imgW="5124604" imgH="5112337" progId="Visio.Drawing.5">
                  <p:embed/>
                  <p:pic>
                    <p:nvPicPr>
                      <p:cNvPr id="106499" name="Object 3">
                        <a:extLst>
                          <a:ext uri="{FF2B5EF4-FFF2-40B4-BE49-F238E27FC236}">
                            <a16:creationId xmlns:a16="http://schemas.microsoft.com/office/drawing/2014/main" id="{6DD73387-07CB-46A2-A2AD-257CFD4FF1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777" y="304006"/>
                        <a:ext cx="6265862" cy="6249987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D98001-F769-4CBA-AEBF-7C3FF3FD5FC1}"/>
              </a:ext>
            </a:extLst>
          </p:cNvPr>
          <p:cNvSpPr txBox="1"/>
          <p:nvPr/>
        </p:nvSpPr>
        <p:spPr>
          <a:xfrm>
            <a:off x="8468360" y="3428999"/>
            <a:ext cx="206280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Kode</a:t>
            </a:r>
            <a:r>
              <a:rPr lang="en-US" sz="2400" dirty="0"/>
              <a:t> Huffman:</a:t>
            </a:r>
          </a:p>
          <a:p>
            <a:r>
              <a:rPr lang="en-US" sz="2400" dirty="0"/>
              <a:t>a = 0</a:t>
            </a:r>
          </a:p>
          <a:p>
            <a:r>
              <a:rPr lang="en-US" sz="2400" dirty="0"/>
              <a:t>b = 101</a:t>
            </a:r>
          </a:p>
          <a:p>
            <a:r>
              <a:rPr lang="en-US" sz="2400" dirty="0"/>
              <a:t>c = 100</a:t>
            </a:r>
          </a:p>
          <a:p>
            <a:r>
              <a:rPr lang="en-US" sz="2400" dirty="0"/>
              <a:t>d = 111</a:t>
            </a:r>
          </a:p>
          <a:p>
            <a:r>
              <a:rPr lang="en-US" sz="2400" dirty="0"/>
              <a:t>e = 1101</a:t>
            </a:r>
          </a:p>
          <a:p>
            <a:r>
              <a:rPr lang="en-US" sz="2400" dirty="0"/>
              <a:t>f = 1100 </a:t>
            </a:r>
          </a:p>
        </p:txBody>
      </p:sp>
    </p:spTree>
    <p:extLst>
      <p:ext uri="{BB962C8B-B14F-4D97-AF65-F5344CB8AC3E}">
        <p14:creationId xmlns:p14="http://schemas.microsoft.com/office/powerpoint/2010/main" val="24927817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5D9F-3BCA-A160-BBE2-F33A5E2B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9E565-A1AF-4F85-1BCB-CBD82E1AE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30"/>
            <a:ext cx="10515600" cy="4939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Terdapat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pesan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“MATEMATIKA DISKRIT”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i="1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script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ketentuan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spasi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ikut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u="none" strike="noStrik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perhitungan</a:t>
            </a:r>
            <a:r>
              <a:rPr lang="en-US" sz="260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/>
              <a:t>Gambarkan</a:t>
            </a:r>
            <a:r>
              <a:rPr lang="en-US" sz="2400" dirty="0"/>
              <a:t> </a:t>
            </a:r>
            <a:r>
              <a:rPr lang="en-US" sz="2400" dirty="0" err="1"/>
              <a:t>pohonnya</a:t>
            </a:r>
            <a:r>
              <a:rPr lang="en-US" sz="2400" dirty="0"/>
              <a:t>, </a:t>
            </a:r>
            <a:r>
              <a:rPr lang="en-US" sz="2400" dirty="0" err="1"/>
              <a:t>lalu</a:t>
            </a:r>
            <a:r>
              <a:rPr lang="en-US" sz="2400" dirty="0"/>
              <a:t> </a:t>
            </a:r>
            <a:r>
              <a:rPr lang="en-US" sz="2400" dirty="0" err="1"/>
              <a:t>kodekan</a:t>
            </a:r>
            <a:r>
              <a:rPr lang="en-US" sz="2400" dirty="0"/>
              <a:t> </a:t>
            </a:r>
            <a:r>
              <a:rPr lang="en-US" sz="2400" dirty="0" err="1"/>
              <a:t>pesan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Hufman</a:t>
            </a:r>
            <a:endParaRPr lang="en-US" sz="26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A9034-785A-F97B-CE3D-C744764E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631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4FE0-29E3-B9EC-AAC2-10FD8AC9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TAMAT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E7622-B71D-5A1C-93DF-972B35702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E6153-7146-7FF3-6C4F-8C11D433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Munir/IF1220 Matematika Diskrit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A4F65-F2C2-CF7A-E47A-03CEAEE5C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F8781-7876-49E4-83F6-0FC8603BDEB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09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1027</Words>
  <Application>Microsoft Office PowerPoint</Application>
  <PresentationFormat>Widescreen</PresentationFormat>
  <Paragraphs>208</Paragraphs>
  <Slides>43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Document</vt:lpstr>
      <vt:lpstr>VISIO</vt:lpstr>
      <vt:lpstr>Microsoft Word 97 - 2003 Document</vt:lpstr>
      <vt:lpstr>Pohon (Bag. 2)</vt:lpstr>
      <vt:lpstr>Pohon berakar (rooted tree)</vt:lpstr>
      <vt:lpstr>PowerPoint Presentation</vt:lpstr>
      <vt:lpstr>PowerPoint Presentation</vt:lpstr>
      <vt:lpstr>Terminologi  pada Pohon Berakar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Pohon Terurut (ordered tree)</vt:lpstr>
      <vt:lpstr>Pohon n-ary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Pohon Biner  (binary tree)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Terapan Pohon Biner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Algoritma Kompresi Huffman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</vt:lpstr>
      <vt:lpstr>TAMAT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24-Pohon-Bag2-2024</dc:title>
  <dc:creator>Rinaldi Munir</dc:creator>
  <cp:lastModifiedBy>Binti Kholifah</cp:lastModifiedBy>
  <cp:revision>29</cp:revision>
  <dcterms:created xsi:type="dcterms:W3CDTF">2020-08-02T13:37:29Z</dcterms:created>
  <dcterms:modified xsi:type="dcterms:W3CDTF">2026-04-29T08:40:37Z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2024-11-30T10:16:44Z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be312bfc-5264-441c-ac15-2c84138e068a</vt:lpwstr>
  </property>
  <property fmtid="{D5CDD505-2E9C-101B-9397-08002B2CF9AE}" pid="8" name="MSIP_Label_38b525e5-f3da-4501-8f1e-526b6769fc56_ContentBits">
    <vt:lpwstr>0</vt:lpwstr>
  </property>
</Properties>
</file>