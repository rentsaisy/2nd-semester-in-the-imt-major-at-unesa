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337" r:id="rId3"/>
    <p:sldId id="338" r:id="rId4"/>
    <p:sldId id="258" r:id="rId5"/>
    <p:sldId id="259" r:id="rId6"/>
    <p:sldId id="260" r:id="rId7"/>
    <p:sldId id="264" r:id="rId8"/>
    <p:sldId id="265" r:id="rId9"/>
    <p:sldId id="330" r:id="rId10"/>
    <p:sldId id="266" r:id="rId11"/>
    <p:sldId id="329" r:id="rId12"/>
    <p:sldId id="328" r:id="rId13"/>
    <p:sldId id="341" r:id="rId14"/>
    <p:sldId id="342" r:id="rId15"/>
    <p:sldId id="343" r:id="rId16"/>
    <p:sldId id="270" r:id="rId17"/>
    <p:sldId id="344" r:id="rId18"/>
    <p:sldId id="345" r:id="rId19"/>
    <p:sldId id="346" r:id="rId20"/>
    <p:sldId id="351" r:id="rId21"/>
    <p:sldId id="352" r:id="rId22"/>
    <p:sldId id="353" r:id="rId23"/>
    <p:sldId id="35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3426F-F4DB-4F0D-B94B-EB7FE5E03F8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2B40F-0053-41E6-B13D-5C0F950366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5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09AAD419-8613-4D9C-9253-001FED35B1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F2EF6380-8130-45FB-9824-E45921184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30888495-3406-4A2F-9317-D593A51E5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9AD204E-DA53-49A2-82B7-39AA573F59E8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61446-6E63-4AB7-BF44-531F0A234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7D115-BDD1-4DD3-AB55-DCD4DD3F7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5600C-0FEB-42A5-92EB-63510D64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8C7F-0F19-447E-BC77-F143958230E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5B60E-7AD0-4B15-A85F-9D480206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3572C-853C-4B5F-8567-F4A3CCF5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6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DAF4-D3AE-45CC-8D92-AF42A4484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18FE7-C8FC-4558-B1FD-C0E2337A1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D284-FD74-4C2B-9E5A-AE45D6D8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9EFAA-2FCA-4370-8405-79813781C5AA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930BF-2522-4913-B4DA-A27738ED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1AE0-030C-4856-8D39-521288D4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05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C028-567E-41B2-B194-9C5C1168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708A8-60AD-41AC-B2D2-2892F8790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B4113-5ACA-4264-B960-DA61C031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941B-5AF2-4559-9226-81A7C16716D8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251B5-2A31-45C3-8CFF-C818C6699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03DF5-E5C0-4B94-9769-0979C000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1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A767-A617-4B53-AA64-642351C51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39F08-4680-41E9-AC89-1C057114F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DCA08-5E6D-4E1E-9B0E-3D8B26E91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E1FA8-3152-4CA7-BC02-618FD96C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4FAD7-C38A-4125-8555-30677948CA9D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107F4-BC39-4F25-8705-DA74B6F4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69EAF-26FE-44A5-955C-70FC3A5D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6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70E3C-1854-4967-BB29-3055F414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0B04E-8783-48D0-BC58-CE7B715E6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44017-CCE9-4745-B4B8-4083A5E2F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42093-8844-4972-8254-3DD5632D5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90262-8739-42C8-BAE5-693613557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B1B1CA-5FC2-4135-93A6-A63C79CE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3E10A-133C-4671-85A5-7B6F0F2E5F4C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BCCADD-BF0A-4AC2-9D6B-81B813262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50F59-E63E-41C6-BB4A-17FE45D9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9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5FB3-14AC-41B2-9FB9-A098DC1B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AFCFD-5D51-48AA-874C-69D28FF0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1C94A-E8AF-44C3-97E7-F53DC3E948FC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1402A-38BC-4197-8361-A47CA792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B57B7-423F-4685-BBCC-EB1E558F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7FE6F-168E-4A8F-8C55-0ED849E8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FC49-07AC-4FF0-ADB9-E9C1EB8B15B5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3365A-A8C4-4646-9526-0F09D37F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2FCA8-E687-41C9-AC87-74EBDD19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1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305E-64D7-4E06-BCB8-ECA9B053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200C5-F3B6-4CC3-9510-8F1CEC6BC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6A00E-8201-4921-81EC-2849BF4AE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0145-8A51-4204-901C-6D227EAA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B3D6-6D9D-4B7A-9329-164F3C7B922A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22BFB-23CF-41C1-9542-1725ED5A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75E3B-F710-41C3-89C6-B408F2AA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8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D10D-6068-40BC-9084-941F67B86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6DE6E9-99F0-447E-8287-A52C925D2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ECEF9-8850-4B18-82F6-6AAE141AB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E8018-352E-49B9-B35D-BBC4934B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342D-CA71-4232-8295-A5679A46305E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F04D1-ABCF-4993-A332-F8C1BC61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E0CC1-448A-4EDB-A759-63379CDD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6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4869-85C5-4DB6-843D-E78AC099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34F47-A909-496A-B848-5D148EA29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49CA2-6C13-499E-BDF8-12B82BB0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5C46-BF24-4F1B-883F-2C1256B3304E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1E917-B9C1-40F4-B3A3-E556952ED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E3B79-ABC0-4020-9AA5-194A27DC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0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6C44AA-FA8E-41DB-ABA7-B7EDE4CCD5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AE8EF-3DE1-4A3D-8685-3C3AD8048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E56D0-FA1A-4BDF-B055-62505D95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C5C9-10B2-4621-BABE-856054E1A9B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D3423-4255-42F2-A59D-7DBCE8E6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Rinaldi M/IF1220  Matdis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1CC34-0F3E-422F-9507-15702EA8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9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B1B8D-87CD-4865-96CA-EBB3D653B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62173-C036-41BA-8961-6E299605C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93BD3-C8E7-45C6-993E-A5DFD2311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87B64-4DDF-4228-80F4-BB18FABFFFD5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C5A38-BA85-461B-A11F-0D084494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Rinaldi M/IF1220  Matdis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A7A13-AA47-4654-A240-C1716C9EB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682AD-456C-47DE-9CE8-0452BDFC4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1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3">
            <a:extLst>
              <a:ext uri="{FF2B5EF4-FFF2-40B4-BE49-F238E27FC236}">
                <a16:creationId xmlns:a16="http://schemas.microsoft.com/office/drawing/2014/main" id="{A7FAA57B-8402-4FF8-AF00-1D7E0B294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3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5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7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BFA2172-1BD7-4E15-ABCE-DFFC42B42108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100" name="Rectangle 2">
            <a:extLst>
              <a:ext uri="{FF2B5EF4-FFF2-40B4-BE49-F238E27FC236}">
                <a16:creationId xmlns:a16="http://schemas.microsoft.com/office/drawing/2014/main" id="{0B6F7088-D86C-4ACF-BEA7-80E964A252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18640" y="1394411"/>
            <a:ext cx="9535160" cy="2387600"/>
          </a:xfrm>
        </p:spPr>
        <p:txBody>
          <a:bodyPr/>
          <a:lstStyle/>
          <a:p>
            <a:pPr eaLnBrk="1" hangingPunct="1"/>
            <a:r>
              <a:rPr lang="en-US" altLang="en-US" b="1" dirty="0" err="1">
                <a:cs typeface="Times New Roman" panose="02020603050405020304" pitchFamily="18" charset="0"/>
              </a:rPr>
              <a:t>Kompleksitas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cs typeface="Times New Roman" panose="02020603050405020304" pitchFamily="18" charset="0"/>
              </a:rPr>
              <a:t>Algoritma</a:t>
            </a:r>
            <a:r>
              <a:rPr lang="en-US" altLang="en-US" b="1" dirty="0">
                <a:cs typeface="Times New Roman" panose="02020603050405020304" pitchFamily="18" charset="0"/>
              </a:rPr>
              <a:t> </a:t>
            </a:r>
            <a:r>
              <a:rPr lang="en-US" altLang="en-US" sz="3600" b="1" dirty="0">
                <a:cs typeface="Times New Roman" panose="02020603050405020304" pitchFamily="18" charset="0"/>
              </a:rPr>
              <a:t>(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Bagian</a:t>
            </a:r>
            <a:r>
              <a:rPr lang="en-US" altLang="en-US" sz="3600" b="1" dirty="0">
                <a:cs typeface="Times New Roman" panose="02020603050405020304" pitchFamily="18" charset="0"/>
              </a:rPr>
              <a:t> 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4A536-56F1-402C-9406-AA64543BB7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959" y="147224"/>
            <a:ext cx="3236865" cy="2799176"/>
          </a:xfrm>
          <a:prstGeom prst="rect">
            <a:avLst/>
          </a:prstGeom>
        </p:spPr>
      </p:pic>
      <p:sp>
        <p:nvSpPr>
          <p:cNvPr id="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F955597-E25B-2043-8B6C-7BAA69DCB15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851565"/>
            <a:ext cx="9144000" cy="95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Bahan Kuliah </a:t>
            </a:r>
          </a:p>
          <a:p>
            <a:r>
              <a:rPr lang="en-US" altLang="en-US" dirty="0" err="1"/>
              <a:t>Matematika</a:t>
            </a:r>
            <a:r>
              <a:rPr lang="en-US" altLang="en-US" dirty="0"/>
              <a:t> </a:t>
            </a:r>
            <a:r>
              <a:rPr lang="en-US" altLang="en-US" dirty="0" err="1"/>
              <a:t>Diskrit</a:t>
            </a:r>
            <a:endParaRPr lang="en-US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1154A-E9DA-C358-11E5-9CD0CA28A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9" y="5134929"/>
            <a:ext cx="737253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 b="1" dirty="0"/>
              <a:t>Program Studi </a:t>
            </a:r>
            <a:r>
              <a:rPr lang="en-US" altLang="en-US" sz="2800" b="1" dirty="0" err="1"/>
              <a:t>Manajemen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Informatika</a:t>
            </a:r>
            <a:r>
              <a:rPr lang="en-US" altLang="en-US" sz="2800" b="1" dirty="0"/>
              <a:t> </a:t>
            </a:r>
          </a:p>
          <a:p>
            <a:pPr algn="ctr" eaLnBrk="1" hangingPunct="1"/>
            <a:r>
              <a:rPr lang="en-US" altLang="en-US" sz="2800" b="1" dirty="0" err="1"/>
              <a:t>Fakultas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Vokasi</a:t>
            </a:r>
            <a:r>
              <a:rPr lang="en-US" altLang="en-US" sz="2800" b="1" dirty="0"/>
              <a:t> - UNESA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5181CD79-D2B6-49EA-8A39-0D51A983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BA45B5D7-3322-4045-81B9-620717428A83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6148" name="Picture 5">
            <a:extLst>
              <a:ext uri="{FF2B5EF4-FFF2-40B4-BE49-F238E27FC236}">
                <a16:creationId xmlns:a16="http://schemas.microsoft.com/office/drawing/2014/main" id="{59137AF4-92C7-4B70-B116-4CBB0D0F98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764" y="1219200"/>
            <a:ext cx="7856537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894EC0A2-FFFE-4008-AD2A-7165B284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53A91C48-EADD-45BB-AD83-AFBB50E558A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38175619-65C6-4EFA-989F-7CB438D49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92630"/>
            <a:ext cx="10149840" cy="4648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tidak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saja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harus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benar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sesuai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spesifikasi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persoalan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tetapi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juga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harus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sangkil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efisien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).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bagus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adalah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sangkil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efficient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).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Kesangkilan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diukur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time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diperlukan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menjalankan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space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memori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dibutuhkan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oleh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tersebut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sangkil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ialah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meminimumkan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kebutuhan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memori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latin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60EB65-D28F-44BC-A76A-4CB248F2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Pendahuluan</a:t>
            </a:r>
            <a:endParaRPr lang="en-US" b="1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AAEE9427-FB69-4C39-A76E-80CE0267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437AAF9-0F59-44F8-9842-3B193039536C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38B3DB2-3476-4CF8-BA15-5CBDC358F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3320" y="905510"/>
            <a:ext cx="10093960" cy="5257800"/>
          </a:xfrm>
        </p:spPr>
        <p:txBody>
          <a:bodyPr>
            <a:normAutofit lnSpcReduction="10000"/>
          </a:bodyPr>
          <a:lstStyle/>
          <a:p>
            <a:pPr eaLnBrk="1" hangingPunct="1"/>
            <a:endParaRPr lang="en-US" altLang="en-US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Kebutuhan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dan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memori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suatu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bergantung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pada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ukuran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masukan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), yang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menyatakan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ukuran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data yang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diproses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oleh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Tx/>
              <a:buNone/>
            </a:pPr>
            <a:r>
              <a:rPr lang="en-US" altLang="en-US" b="1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  <a:endParaRPr lang="en-US" altLang="en-US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Kesangkilan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digunakan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menilai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bagus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sejumlah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persoalan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/>
            <a:endParaRPr lang="en-US" altLang="en-US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Sebab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persoalan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banyak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penyelesaian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Contoh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persoalan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pengurutan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sort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),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ada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puluhan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pengurutan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selection sort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insertion sort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bubble sort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dll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).</a:t>
            </a:r>
          </a:p>
          <a:p>
            <a:pPr marL="0" indent="0" algn="just" eaLnBrk="1" hangingPunct="1">
              <a:buNone/>
            </a:pPr>
            <a:endParaRPr lang="en-US" altLang="en-US" dirty="0">
              <a:solidFill>
                <a:srgbClr val="030305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3CF69A2C-2DFC-484F-A2EA-117F16A3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6D7E5D59-6BBD-4CC4-BC40-528C3945C3F1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75BD8A2-3960-49F3-939D-31C5F5281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6520" y="690880"/>
            <a:ext cx="9037320" cy="5338444"/>
          </a:xfrm>
        </p:spPr>
        <p:txBody>
          <a:bodyPr/>
          <a:lstStyle/>
          <a:p>
            <a:pPr algn="just" eaLnBrk="1" hangingPunct="1"/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Mengapa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kita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memerlukan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sangkil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?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Lihat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grafik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bawah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dirty="0">
              <a:solidFill>
                <a:srgbClr val="030305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E72E5BA0-ED78-466C-A687-D8D36AC9C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41678"/>
              </p:ext>
            </p:extLst>
          </p:nvPr>
        </p:nvGraphicFramePr>
        <p:xfrm>
          <a:off x="2923540" y="1781662"/>
          <a:ext cx="5923280" cy="44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3512511" imgH="2623979" progId="Visio.Drawing.6">
                  <p:embed/>
                </p:oleObj>
              </mc:Choice>
              <mc:Fallback>
                <p:oleObj name="Visio" r:id="rId7" imgW="3512511" imgH="2623979" progId="Visio.Drawing.6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E72E5BA0-ED78-466C-A687-D8D36AC9CD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3540" y="1781662"/>
                        <a:ext cx="5923280" cy="44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0CF5E6E9-E714-4C43-89AE-AE8665D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3C7F6AD4-B69D-4BB0-803B-ABD3A0BE2E2D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439A220D-5188-4524-9ACC-8737EC3CF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6160" y="1879600"/>
            <a:ext cx="10327640" cy="432816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Menghitung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kebutuhan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mengukur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eksekusi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riil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-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nya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satuan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detik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atau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mikrodetik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saat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program (yang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merepresentasikan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dijalankan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oleh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komputer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bukanlah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cara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tepat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Alasan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	1.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Setiap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komputer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arsitektur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berbeda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memiliki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bahasa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mesin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berbeda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akibatnya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setiap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antara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satu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komputer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dengan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komputer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lain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tidak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sama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	2.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Compiler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bahasa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pemrograman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berbeda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menghasilkan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kode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bahasa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mesin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berbeda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akibatnya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setiap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antara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compiler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dengan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compiler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lain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tidak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sama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.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en-US" sz="2200" dirty="0">
              <a:solidFill>
                <a:srgbClr val="0B0A09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44A96C3-7241-44A6-95A4-AC857CE8D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Model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Perhitungan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Kebutuhan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Waktu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DE02EA54-3233-4E4E-9A18-2C18E424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18DE1CDF-6DB1-415F-916E-E7C09EBECB58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AFD3CE8-D6C1-4A02-8AE3-B651CD037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1720" y="1376680"/>
            <a:ext cx="10292080" cy="4353560"/>
          </a:xfrm>
        </p:spPr>
        <p:txBody>
          <a:bodyPr/>
          <a:lstStyle/>
          <a:p>
            <a:pPr algn="just" eaLnBrk="1" hangingPunct="1"/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Model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abstrak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pengukuran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/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memori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harus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independen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pertimbangan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mesin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computer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 dan 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compiler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apapun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Tx/>
              <a:buNone/>
            </a:pP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Besaran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dipakai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menerangkan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model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abstrak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pengukuran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/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adalah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b="1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Tx/>
              <a:buNone/>
            </a:pP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Ada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dua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macam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yaitu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: </a:t>
            </a:r>
            <a:r>
              <a:rPr lang="en-US" altLang="en-US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b="1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time complexity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 dan </a:t>
            </a:r>
            <a:r>
              <a:rPr lang="en-US" altLang="en-US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b="1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space complexity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).</a:t>
            </a:r>
            <a:endParaRPr lang="en-US" altLang="en-US" dirty="0">
              <a:solidFill>
                <a:srgbClr val="03030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460C6A09-03E8-4322-83AE-8E56A502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D44B3859-B645-4EFB-A607-A33307C8A9B2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683766B-984B-47BB-A40F-B649C1266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762000"/>
            <a:ext cx="10434320" cy="5334000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diukur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tahapan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komputasi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dilakukan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sebagai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fungsi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ukuran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masukan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diukur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memori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digunakan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oleh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struktur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data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terdapat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sebagai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fungsi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ukuran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masukan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 </a:t>
            </a:r>
          </a:p>
          <a:p>
            <a:pPr algn="just" eaLnBrk="1" hangingPunct="1"/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menggunakan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besaran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/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kita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dapat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menentukan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laju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peningkatan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ruang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diperlukan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dengan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meningkatnya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ukuran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masukan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</a:t>
            </a:r>
          </a:p>
          <a:p>
            <a:pPr algn="just" eaLnBrk="1" hangingPunct="1"/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kuliah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kita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hanya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membatasi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bahasan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saja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karena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dua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alasan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: </a:t>
            </a:r>
          </a:p>
          <a:p>
            <a:pPr marL="0" indent="0" algn="just" eaLnBrk="1" hangingPunct="1"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  1.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Materi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struktur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data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diluar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lingkup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mata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kuliah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matematika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diskrit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  2. Saat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ini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memori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komputer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persoalan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kritis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dibandingkan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endParaRPr lang="en-US" altLang="en-US" dirty="0">
              <a:solidFill>
                <a:srgbClr val="030305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0AB6E78F-61DF-4AD6-A0ED-12C360FF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4FAE2BA1-014D-4A47-AEF6-5BC49C7ABF53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9C25BEC-F1F3-4D64-8CF6-A7B309D33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3760" y="868680"/>
            <a:ext cx="10789920" cy="54102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 err="1">
                <a:solidFill>
                  <a:srgbClr val="030305"/>
                </a:solidFill>
              </a:rPr>
              <a:t>Ukuran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masukan</a:t>
            </a:r>
            <a:r>
              <a:rPr lang="en-US" altLang="en-US" sz="2600" dirty="0">
                <a:solidFill>
                  <a:srgbClr val="030305"/>
                </a:solidFill>
              </a:rPr>
              <a:t> (</a:t>
            </a:r>
            <a:r>
              <a:rPr lang="en-US" altLang="en-US" sz="2600" i="1" dirty="0">
                <a:solidFill>
                  <a:srgbClr val="030305"/>
                </a:solidFill>
              </a:rPr>
              <a:t>n</a:t>
            </a:r>
            <a:r>
              <a:rPr lang="en-US" altLang="en-US" sz="2600" dirty="0">
                <a:solidFill>
                  <a:srgbClr val="030305"/>
                </a:solidFill>
              </a:rPr>
              <a:t>) </a:t>
            </a:r>
            <a:r>
              <a:rPr lang="en-US" altLang="en-US" sz="2600" dirty="0" err="1">
                <a:solidFill>
                  <a:srgbClr val="030305"/>
                </a:solidFill>
              </a:rPr>
              <a:t>menyatakan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banyaknya</a:t>
            </a:r>
            <a:r>
              <a:rPr lang="en-US" altLang="en-US" sz="2600" dirty="0">
                <a:solidFill>
                  <a:srgbClr val="030305"/>
                </a:solidFill>
              </a:rPr>
              <a:t> data yang </a:t>
            </a:r>
            <a:r>
              <a:rPr lang="en-US" altLang="en-US" sz="2600" dirty="0" err="1">
                <a:solidFill>
                  <a:srgbClr val="030305"/>
                </a:solidFill>
              </a:rPr>
              <a:t>diproses</a:t>
            </a:r>
            <a:r>
              <a:rPr lang="en-US" altLang="en-US" sz="2600" dirty="0">
                <a:solidFill>
                  <a:srgbClr val="030305"/>
                </a:solidFill>
              </a:rPr>
              <a:t> oleh </a:t>
            </a:r>
            <a:r>
              <a:rPr lang="en-US" altLang="en-US" sz="2600" dirty="0" err="1">
                <a:solidFill>
                  <a:srgbClr val="030305"/>
                </a:solidFill>
              </a:rPr>
              <a:t>sebuah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</a:t>
            </a:r>
            <a:r>
              <a:rPr lang="en-US" altLang="en-US" sz="2600" dirty="0" err="1">
                <a:solidFill>
                  <a:srgbClr val="030305"/>
                </a:solidFill>
              </a:rPr>
              <a:t>Contoh</a:t>
            </a:r>
            <a:r>
              <a:rPr lang="en-US" altLang="en-US" sz="2600" dirty="0">
                <a:solidFill>
                  <a:srgbClr val="030305"/>
                </a:solidFill>
              </a:rPr>
              <a:t>: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 1. </a:t>
            </a: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pengurutan</a:t>
            </a:r>
            <a:r>
              <a:rPr lang="en-US" altLang="en-US" sz="2600" dirty="0">
                <a:solidFill>
                  <a:srgbClr val="030305"/>
                </a:solidFill>
              </a:rPr>
              <a:t> 10 </a:t>
            </a:r>
            <a:r>
              <a:rPr lang="en-US" altLang="en-US" sz="2600" dirty="0" err="1">
                <a:solidFill>
                  <a:srgbClr val="030305"/>
                </a:solidFill>
              </a:rPr>
              <a:t>elemen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larik</a:t>
            </a:r>
            <a:r>
              <a:rPr lang="en-US" altLang="en-US" sz="2600" dirty="0">
                <a:solidFill>
                  <a:srgbClr val="030305"/>
                </a:solidFill>
              </a:rPr>
              <a:t> (</a:t>
            </a:r>
            <a:r>
              <a:rPr lang="en-US" altLang="en-US" sz="2600" i="1" dirty="0">
                <a:solidFill>
                  <a:srgbClr val="030305"/>
                </a:solidFill>
              </a:rPr>
              <a:t>array</a:t>
            </a:r>
            <a:r>
              <a:rPr lang="en-US" altLang="en-US" sz="2600" dirty="0">
                <a:solidFill>
                  <a:srgbClr val="030305"/>
                </a:solidFill>
              </a:rPr>
              <a:t>), </a:t>
            </a:r>
            <a:r>
              <a:rPr lang="en-US" altLang="en-US" sz="2600" dirty="0" err="1">
                <a:solidFill>
                  <a:srgbClr val="030305"/>
                </a:solidFill>
              </a:rPr>
              <a:t>maka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</a:rPr>
              <a:t>n</a:t>
            </a:r>
            <a:r>
              <a:rPr lang="en-US" altLang="en-US" sz="2600" dirty="0">
                <a:solidFill>
                  <a:srgbClr val="030305"/>
                </a:solidFill>
              </a:rPr>
              <a:t> = 10.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 2. </a:t>
            </a: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pencarian</a:t>
            </a:r>
            <a:r>
              <a:rPr lang="en-US" altLang="en-US" sz="2600" dirty="0">
                <a:solidFill>
                  <a:srgbClr val="030305"/>
                </a:solidFill>
              </a:rPr>
              <a:t> pada 500 </a:t>
            </a:r>
            <a:r>
              <a:rPr lang="en-US" altLang="en-US" sz="2600" dirty="0" err="1">
                <a:solidFill>
                  <a:srgbClr val="030305"/>
                </a:solidFill>
              </a:rPr>
              <a:t>elemen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larik</a:t>
            </a:r>
            <a:r>
              <a:rPr lang="en-US" altLang="en-US" sz="2600" dirty="0">
                <a:solidFill>
                  <a:srgbClr val="030305"/>
                </a:solidFill>
              </a:rPr>
              <a:t>, </a:t>
            </a:r>
            <a:r>
              <a:rPr lang="en-US" altLang="en-US" sz="2600" dirty="0" err="1">
                <a:solidFill>
                  <a:srgbClr val="030305"/>
                </a:solidFill>
              </a:rPr>
              <a:t>maka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</a:rPr>
              <a:t>n</a:t>
            </a:r>
            <a:r>
              <a:rPr lang="en-US" altLang="en-US" sz="2600" dirty="0">
                <a:solidFill>
                  <a:srgbClr val="030305"/>
                </a:solidFill>
              </a:rPr>
              <a:t> = 500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 3. </a:t>
            </a: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</a:rPr>
              <a:t>TSP</a:t>
            </a:r>
            <a:r>
              <a:rPr lang="en-US" altLang="en-US" sz="2600" dirty="0">
                <a:solidFill>
                  <a:srgbClr val="030305"/>
                </a:solidFill>
              </a:rPr>
              <a:t> pada </a:t>
            </a:r>
            <a:r>
              <a:rPr lang="en-US" altLang="en-US" sz="2600" dirty="0" err="1">
                <a:solidFill>
                  <a:srgbClr val="030305"/>
                </a:solidFill>
              </a:rPr>
              <a:t>sebuah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graf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lengkap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dengan</a:t>
            </a:r>
            <a:r>
              <a:rPr lang="en-US" altLang="en-US" sz="2600" dirty="0">
                <a:solidFill>
                  <a:srgbClr val="030305"/>
                </a:solidFill>
              </a:rPr>
              <a:t> 100 </a:t>
            </a:r>
            <a:r>
              <a:rPr lang="en-US" altLang="en-US" sz="2600" dirty="0" err="1">
                <a:solidFill>
                  <a:srgbClr val="030305"/>
                </a:solidFill>
              </a:rPr>
              <a:t>simpul</a:t>
            </a:r>
            <a:r>
              <a:rPr lang="en-US" altLang="en-US" sz="2600" dirty="0">
                <a:solidFill>
                  <a:srgbClr val="030305"/>
                </a:solidFill>
              </a:rPr>
              <a:t>, </a:t>
            </a:r>
            <a:r>
              <a:rPr lang="en-US" altLang="en-US" sz="2600" dirty="0" err="1">
                <a:solidFill>
                  <a:srgbClr val="030305"/>
                </a:solidFill>
              </a:rPr>
              <a:t>maka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</a:rPr>
              <a:t>n</a:t>
            </a:r>
            <a:r>
              <a:rPr lang="en-US" altLang="en-US" sz="2600" dirty="0">
                <a:solidFill>
                  <a:srgbClr val="030305"/>
                </a:solidFill>
              </a:rPr>
              <a:t> = 100.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 4. </a:t>
            </a: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perkalian</a:t>
            </a:r>
            <a:r>
              <a:rPr lang="en-US" altLang="en-US" sz="2600" dirty="0">
                <a:solidFill>
                  <a:srgbClr val="030305"/>
                </a:solidFill>
              </a:rPr>
              <a:t> 2 </a:t>
            </a:r>
            <a:r>
              <a:rPr lang="en-US" altLang="en-US" sz="2600" dirty="0" err="1">
                <a:solidFill>
                  <a:srgbClr val="030305"/>
                </a:solidFill>
              </a:rPr>
              <a:t>buah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matriks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berukuran</a:t>
            </a:r>
            <a:r>
              <a:rPr lang="en-US" altLang="en-US" sz="2600" dirty="0">
                <a:solidFill>
                  <a:srgbClr val="030305"/>
                </a:solidFill>
              </a:rPr>
              <a:t> 50 x 50, </a:t>
            </a:r>
            <a:r>
              <a:rPr lang="en-US" altLang="en-US" sz="2600" dirty="0" err="1">
                <a:solidFill>
                  <a:srgbClr val="030305"/>
                </a:solidFill>
              </a:rPr>
              <a:t>maka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</a:rPr>
              <a:t>n</a:t>
            </a:r>
            <a:r>
              <a:rPr lang="en-US" altLang="en-US" sz="2600" dirty="0">
                <a:solidFill>
                  <a:srgbClr val="030305"/>
                </a:solidFill>
              </a:rPr>
              <a:t> = 50.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 5. </a:t>
            </a: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menghitung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polinom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dengan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derajat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>
                <a:solidFill>
                  <a:srgbClr val="030305"/>
                </a:solidFill>
                <a:sym typeface="Symbol" panose="05050102010706020507" pitchFamily="18" charset="2"/>
              </a:rPr>
              <a:t> 100, </a:t>
            </a:r>
            <a:r>
              <a:rPr lang="en-US" altLang="en-US" sz="2600" dirty="0" err="1">
                <a:solidFill>
                  <a:srgbClr val="030305"/>
                </a:solidFill>
                <a:sym typeface="Symbol" panose="05050102010706020507" pitchFamily="18" charset="2"/>
              </a:rPr>
              <a:t>maka</a:t>
            </a:r>
            <a:r>
              <a:rPr lang="en-US" altLang="en-US" sz="2600" dirty="0">
                <a:solidFill>
                  <a:srgbClr val="030305"/>
                </a:solidFill>
                <a:sym typeface="Symbol" panose="05050102010706020507" pitchFamily="18" charset="2"/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  <a:sym typeface="Symbol" panose="05050102010706020507" pitchFamily="18" charset="2"/>
              </a:rPr>
              <a:t>n</a:t>
            </a:r>
            <a:r>
              <a:rPr lang="en-US" altLang="en-US" sz="2600" dirty="0">
                <a:solidFill>
                  <a:srgbClr val="030305"/>
                </a:solidFill>
                <a:sym typeface="Symbol" panose="05050102010706020507" pitchFamily="18" charset="2"/>
              </a:rPr>
              <a:t> = 100</a:t>
            </a: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err="1">
                <a:solidFill>
                  <a:srgbClr val="030305"/>
                </a:solidFill>
              </a:rPr>
              <a:t>Dalam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perhitungan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kompleksitas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waktu</a:t>
            </a:r>
            <a:r>
              <a:rPr lang="en-US" altLang="en-US" sz="2600" dirty="0">
                <a:solidFill>
                  <a:srgbClr val="030305"/>
                </a:solidFill>
              </a:rPr>
              <a:t>, </a:t>
            </a:r>
            <a:r>
              <a:rPr lang="en-US" altLang="en-US" sz="2600" dirty="0" err="1">
                <a:solidFill>
                  <a:srgbClr val="030305"/>
                </a:solidFill>
              </a:rPr>
              <a:t>ukuran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masukan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dinyatakan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sebagai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variabel</a:t>
            </a:r>
            <a:r>
              <a:rPr lang="en-US" altLang="en-US" sz="2600" dirty="0">
                <a:solidFill>
                  <a:srgbClr val="030305"/>
                </a:solidFill>
              </a:rPr>
              <a:t>  </a:t>
            </a:r>
            <a:r>
              <a:rPr lang="en-US" altLang="en-US" sz="2600" i="1" dirty="0">
                <a:solidFill>
                  <a:srgbClr val="030305"/>
                </a:solidFill>
              </a:rPr>
              <a:t>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saja</a:t>
            </a:r>
            <a:r>
              <a:rPr lang="en-US" altLang="en-US" sz="2600" dirty="0">
                <a:solidFill>
                  <a:srgbClr val="030305"/>
                </a:solidFill>
              </a:rPr>
              <a:t> (</a:t>
            </a:r>
            <a:r>
              <a:rPr lang="en-US" altLang="en-US" sz="2600" dirty="0" err="1">
                <a:solidFill>
                  <a:srgbClr val="030305"/>
                </a:solidFill>
              </a:rPr>
              <a:t>bukan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instans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suatu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nilai</a:t>
            </a:r>
            <a:r>
              <a:rPr lang="en-US" altLang="en-US" sz="2600" dirty="0">
                <a:solidFill>
                  <a:srgbClr val="030305"/>
                </a:solidFill>
              </a:rPr>
              <a:t>).</a:t>
            </a:r>
          </a:p>
        </p:txBody>
      </p:sp>
      <p:pic>
        <p:nvPicPr>
          <p:cNvPr id="3" name="Picture 2" descr="A picture containing text, monitor, mounted, screen&#10;&#10;Description automatically generated">
            <a:extLst>
              <a:ext uri="{FF2B5EF4-FFF2-40B4-BE49-F238E27FC236}">
                <a16:creationId xmlns:a16="http://schemas.microsoft.com/office/drawing/2014/main" id="{7354F840-A4C7-439E-AAA6-C4CFACD1E9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473" y="1278799"/>
            <a:ext cx="5189854" cy="1388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F9FCD8C7-99D5-4B8D-ABBD-3FDE7142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ED7D699F-D0D8-43D3-B49A-2DEA9904DE66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35956B2D-CA6C-4F5C-8ED7-E6282226A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3160" y="624840"/>
            <a:ext cx="7772400" cy="67945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altLang="en-US" b="1" dirty="0" err="1">
                <a:latin typeface="+mn-lt"/>
                <a:cs typeface="Times New Roman" panose="02020603050405020304" pitchFamily="18" charset="0"/>
              </a:rPr>
              <a:t>Kompleksitas</a:t>
            </a:r>
            <a:r>
              <a:rPr lang="en-US" altLang="en-US" b="1" dirty="0">
                <a:latin typeface="+mn-lt"/>
                <a:cs typeface="Times New Roman" panose="02020603050405020304" pitchFamily="18" charset="0"/>
              </a:rPr>
              <a:t> Waktu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8B61D658-754A-4573-BE36-53394F265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6160" y="1555432"/>
            <a:ext cx="10327640" cy="4983480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Pekerjaan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utama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adalah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menghitung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counting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tahapan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komputasi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tahapan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komputasi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dihitung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berapa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kali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suatu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dilakukan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sebagai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fungsi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ukuran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masukan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terdapat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banyak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jenis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baca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/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tulis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                                       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contoh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 input a, print a)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aritmetika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(+, -, *, /)                      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contoh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  a + b, M * N)</a:t>
            </a:r>
          </a:p>
          <a:p>
            <a:pPr lvl="1" algn="just">
              <a:lnSpc>
                <a:spcPct val="80000"/>
              </a:lnSpc>
            </a:pP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pengisian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nilai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i="1" dirty="0">
                <a:solidFill>
                  <a:srgbClr val="030305"/>
                </a:solidFill>
                <a:cs typeface="Times New Roman" panose="02020603050405020304" pitchFamily="18" charset="0"/>
              </a:rPr>
              <a:t>assignment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)        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contoh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 a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 10)</a:t>
            </a:r>
            <a:endParaRPr lang="en-US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perbandingan</a:t>
            </a:r>
            <a:r>
              <a:rPr lang="en-US" altLang="en-US" dirty="0">
                <a:solidFill>
                  <a:srgbClr val="030305"/>
                </a:solidFill>
                <a:cs typeface="Times New Roman" panose="02020603050405020304" pitchFamily="18" charset="0"/>
              </a:rPr>
              <a:t>                                 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dirty="0" err="1">
                <a:solidFill>
                  <a:srgbClr val="FF0000"/>
                </a:solidFill>
                <a:cs typeface="Times New Roman" panose="02020603050405020304" pitchFamily="18" charset="0"/>
              </a:rPr>
              <a:t>contoh</a:t>
            </a:r>
            <a:r>
              <a:rPr lang="en-US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: a &lt; b, k &gt;= 10) </a:t>
            </a:r>
            <a:endParaRPr lang="en-US" altLang="en-US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marL="630238" lvl="2" indent="-173038" algn="just">
              <a:lnSpc>
                <a:spcPct val="80000"/>
              </a:lnSpc>
            </a:pP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pengaksesan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elemen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larik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pemanggilan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prosedur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/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fungsi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dll</a:t>
            </a: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Untuk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menyederhanakan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perhitungan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kita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tidak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menghitung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semua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jenis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ada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tetapi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kita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hanya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focus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menghitung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jumlah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khas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tipikal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yang </a:t>
            </a:r>
            <a:r>
              <a:rPr lang="en-US" altLang="en-US" sz="2400" i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mendasari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tersebut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.</a:t>
            </a:r>
            <a:endParaRPr lang="en-US" altLang="en-US" sz="2200" dirty="0">
              <a:solidFill>
                <a:srgbClr val="030305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74456601-D9F3-40E0-9B0E-6D2372D0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C6E231BB-0808-4AB4-9A0B-880EAEFE32A2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90FA717C-9209-4069-9E61-959B7F424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0000" y="838200"/>
            <a:ext cx="9621520" cy="5400040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3300" b="1" dirty="0" err="1">
                <a:solidFill>
                  <a:srgbClr val="030305"/>
                </a:solidFill>
              </a:rPr>
              <a:t>Contoh</a:t>
            </a:r>
            <a:r>
              <a:rPr lang="en-US" altLang="en-US" sz="3300" b="1" dirty="0">
                <a:solidFill>
                  <a:srgbClr val="030305"/>
                </a:solidFill>
              </a:rPr>
              <a:t> </a:t>
            </a:r>
            <a:r>
              <a:rPr lang="en-US" altLang="en-US" sz="3300" b="1" dirty="0" err="1">
                <a:solidFill>
                  <a:srgbClr val="030305"/>
                </a:solidFill>
              </a:rPr>
              <a:t>operasi</a:t>
            </a:r>
            <a:r>
              <a:rPr lang="en-US" altLang="en-US" sz="3300" b="1" dirty="0">
                <a:solidFill>
                  <a:srgbClr val="030305"/>
                </a:solidFill>
              </a:rPr>
              <a:t> </a:t>
            </a:r>
            <a:r>
              <a:rPr lang="en-US" altLang="en-US" sz="3300" b="1" dirty="0" err="1">
                <a:solidFill>
                  <a:srgbClr val="030305"/>
                </a:solidFill>
              </a:rPr>
              <a:t>khas</a:t>
            </a:r>
            <a:r>
              <a:rPr lang="en-US" altLang="en-US" sz="3300" b="1" dirty="0">
                <a:solidFill>
                  <a:srgbClr val="030305"/>
                </a:solidFill>
              </a:rPr>
              <a:t> di </a:t>
            </a:r>
            <a:r>
              <a:rPr lang="en-US" altLang="en-US" sz="3300" b="1" dirty="0" err="1">
                <a:solidFill>
                  <a:srgbClr val="030305"/>
                </a:solidFill>
              </a:rPr>
              <a:t>dalam</a:t>
            </a:r>
            <a:r>
              <a:rPr lang="en-US" altLang="en-US" sz="3300" b="1" dirty="0">
                <a:solidFill>
                  <a:srgbClr val="030305"/>
                </a:solidFill>
              </a:rPr>
              <a:t> </a:t>
            </a:r>
            <a:r>
              <a:rPr lang="en-US" altLang="en-US" sz="3300" b="1" dirty="0" err="1">
                <a:solidFill>
                  <a:srgbClr val="030305"/>
                </a:solidFill>
              </a:rPr>
              <a:t>algoritma</a:t>
            </a:r>
            <a:endParaRPr lang="en-US" altLang="en-US" sz="3300" b="1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pencarian</a:t>
            </a:r>
            <a:r>
              <a:rPr lang="en-US" altLang="en-US" sz="2600" dirty="0">
                <a:solidFill>
                  <a:srgbClr val="030305"/>
                </a:solidFill>
              </a:rPr>
              <a:t> (</a:t>
            </a:r>
            <a:r>
              <a:rPr lang="en-US" altLang="en-US" sz="2600" i="1" dirty="0">
                <a:solidFill>
                  <a:srgbClr val="030305"/>
                </a:solidFill>
              </a:rPr>
              <a:t>searching</a:t>
            </a:r>
            <a:r>
              <a:rPr lang="en-US" altLang="en-US" sz="2600" dirty="0">
                <a:solidFill>
                  <a:srgbClr val="030305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	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khas</a:t>
            </a:r>
            <a:r>
              <a:rPr lang="en-US" altLang="en-US" sz="2600" dirty="0">
                <a:solidFill>
                  <a:srgbClr val="030305"/>
                </a:solidFill>
              </a:rPr>
              <a:t>: 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perbandingan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elemen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larik</a:t>
            </a: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pengurutan</a:t>
            </a:r>
            <a:r>
              <a:rPr lang="en-US" altLang="en-US" sz="2600" dirty="0">
                <a:solidFill>
                  <a:srgbClr val="030305"/>
                </a:solidFill>
              </a:rPr>
              <a:t> (</a:t>
            </a:r>
            <a:r>
              <a:rPr lang="en-US" altLang="en-US" sz="2600" i="1" dirty="0">
                <a:solidFill>
                  <a:srgbClr val="030305"/>
                </a:solidFill>
              </a:rPr>
              <a:t>sorting</a:t>
            </a:r>
            <a:r>
              <a:rPr lang="en-US" altLang="en-US" sz="2600" dirty="0">
                <a:solidFill>
                  <a:srgbClr val="030305"/>
                </a:solidFill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	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khas</a:t>
            </a:r>
            <a:r>
              <a:rPr lang="en-US" altLang="en-US" sz="2600" dirty="0">
                <a:solidFill>
                  <a:srgbClr val="030305"/>
                </a:solidFill>
              </a:rPr>
              <a:t>: 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perbandingan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elemen</a:t>
            </a:r>
            <a:r>
              <a:rPr lang="en-US" altLang="en-US" sz="2600" dirty="0">
                <a:solidFill>
                  <a:srgbClr val="030305"/>
                </a:solidFill>
              </a:rPr>
              <a:t> dan 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pertukaran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elemen</a:t>
            </a: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perkalian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dua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buah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matriks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i="1" dirty="0">
                <a:solidFill>
                  <a:srgbClr val="030305"/>
                </a:solidFill>
              </a:rPr>
              <a:t>AB</a:t>
            </a:r>
            <a:r>
              <a:rPr lang="en-US" altLang="en-US" sz="2600" dirty="0">
                <a:solidFill>
                  <a:srgbClr val="030305"/>
                </a:solidFill>
              </a:rPr>
              <a:t> = </a:t>
            </a:r>
            <a:r>
              <a:rPr lang="en-US" altLang="en-US" sz="2600" i="1" dirty="0">
                <a:solidFill>
                  <a:srgbClr val="030305"/>
                </a:solidFill>
              </a:rPr>
              <a:t>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	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khas</a:t>
            </a:r>
            <a:r>
              <a:rPr lang="en-US" altLang="en-US" sz="2600" dirty="0">
                <a:solidFill>
                  <a:srgbClr val="030305"/>
                </a:solidFill>
              </a:rPr>
              <a:t>: 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perkalian</a:t>
            </a:r>
            <a:r>
              <a:rPr lang="en-US" altLang="en-US" sz="2600" dirty="0">
                <a:solidFill>
                  <a:srgbClr val="030305"/>
                </a:solidFill>
              </a:rPr>
              <a:t> dan </a:t>
            </a:r>
            <a:r>
              <a:rPr lang="en-US" altLang="en-US" sz="2600" dirty="0" err="1">
                <a:solidFill>
                  <a:srgbClr val="030305"/>
                </a:solidFill>
              </a:rPr>
              <a:t>penjumlahan</a:t>
            </a:r>
            <a:endParaRPr lang="en-US" altLang="en-US" sz="2600" dirty="0">
              <a:solidFill>
                <a:srgbClr val="030305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600" dirty="0">
              <a:solidFill>
                <a:srgbClr val="030305"/>
              </a:solidFill>
            </a:endParaRPr>
          </a:p>
          <a:p>
            <a:r>
              <a:rPr lang="en-US" altLang="en-US" sz="2600" dirty="0" err="1">
                <a:solidFill>
                  <a:srgbClr val="030305"/>
                </a:solidFill>
              </a:rPr>
              <a:t>Algoritma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menghitung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nilai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sebuah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polinom</a:t>
            </a:r>
            <a:r>
              <a:rPr lang="en-US" altLang="en-US" sz="2600" dirty="0">
                <a:solidFill>
                  <a:srgbClr val="030305"/>
                </a:solidFill>
              </a:rPr>
              <a:t> p(x) = a</a:t>
            </a:r>
            <a:r>
              <a:rPr lang="en-US" altLang="en-US" sz="2600" baseline="-25000" dirty="0">
                <a:solidFill>
                  <a:srgbClr val="030305"/>
                </a:solidFill>
              </a:rPr>
              <a:t>0</a:t>
            </a:r>
            <a:r>
              <a:rPr lang="en-US" altLang="en-US" sz="2600" dirty="0">
                <a:solidFill>
                  <a:srgbClr val="030305"/>
                </a:solidFill>
              </a:rPr>
              <a:t> + a</a:t>
            </a:r>
            <a:r>
              <a:rPr lang="en-US" altLang="en-US" sz="2600" baseline="-25000" dirty="0">
                <a:solidFill>
                  <a:srgbClr val="030305"/>
                </a:solidFill>
              </a:rPr>
              <a:t>1</a:t>
            </a:r>
            <a:r>
              <a:rPr lang="en-US" altLang="en-US" sz="2600" dirty="0">
                <a:solidFill>
                  <a:srgbClr val="030305"/>
                </a:solidFill>
              </a:rPr>
              <a:t>x + a</a:t>
            </a:r>
            <a:r>
              <a:rPr lang="en-US" altLang="en-US" sz="2600" baseline="-25000" dirty="0">
                <a:solidFill>
                  <a:srgbClr val="030305"/>
                </a:solidFill>
              </a:rPr>
              <a:t>2</a:t>
            </a:r>
            <a:r>
              <a:rPr lang="en-US" altLang="en-US" sz="2600" dirty="0">
                <a:solidFill>
                  <a:srgbClr val="030305"/>
                </a:solidFill>
              </a:rPr>
              <a:t>x</a:t>
            </a:r>
            <a:r>
              <a:rPr lang="en-US" altLang="en-US" sz="2600" baseline="30000" dirty="0">
                <a:solidFill>
                  <a:srgbClr val="030305"/>
                </a:solidFill>
              </a:rPr>
              <a:t>2</a:t>
            </a:r>
            <a:r>
              <a:rPr lang="en-US" altLang="en-US" sz="2600" dirty="0">
                <a:solidFill>
                  <a:srgbClr val="030305"/>
                </a:solidFill>
              </a:rPr>
              <a:t> + … + </a:t>
            </a:r>
            <a:r>
              <a:rPr lang="en-US" altLang="en-US" sz="2600" dirty="0" err="1">
                <a:solidFill>
                  <a:srgbClr val="030305"/>
                </a:solidFill>
              </a:rPr>
              <a:t>a</a:t>
            </a:r>
            <a:r>
              <a:rPr lang="en-US" altLang="en-US" sz="2600" baseline="-25000" dirty="0" err="1">
                <a:solidFill>
                  <a:srgbClr val="030305"/>
                </a:solidFill>
              </a:rPr>
              <a:t>n</a:t>
            </a:r>
            <a:r>
              <a:rPr lang="en-US" altLang="en-US" sz="2600" dirty="0" err="1">
                <a:solidFill>
                  <a:srgbClr val="030305"/>
                </a:solidFill>
              </a:rPr>
              <a:t>x</a:t>
            </a:r>
            <a:r>
              <a:rPr lang="en-US" altLang="en-US" sz="2600" baseline="30000" dirty="0" err="1">
                <a:solidFill>
                  <a:srgbClr val="030305"/>
                </a:solidFill>
              </a:rPr>
              <a:t>n</a:t>
            </a:r>
            <a:endParaRPr lang="en-US" altLang="en-US" sz="2600" baseline="30000" dirty="0">
              <a:solidFill>
                <a:srgbClr val="030305"/>
              </a:solidFill>
            </a:endParaRPr>
          </a:p>
          <a:p>
            <a:pPr marL="0" indent="0">
              <a:buNone/>
            </a:pPr>
            <a:r>
              <a:rPr lang="en-US" altLang="en-US" sz="2600" dirty="0">
                <a:solidFill>
                  <a:srgbClr val="030305"/>
                </a:solidFill>
              </a:rPr>
              <a:t>   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khas</a:t>
            </a:r>
            <a:r>
              <a:rPr lang="en-US" altLang="en-US" sz="2600" dirty="0">
                <a:solidFill>
                  <a:srgbClr val="030305"/>
                </a:solidFill>
              </a:rPr>
              <a:t>: </a:t>
            </a:r>
            <a:r>
              <a:rPr lang="en-US" altLang="en-US" sz="2600" dirty="0" err="1">
                <a:solidFill>
                  <a:srgbClr val="030305"/>
                </a:solidFill>
              </a:rPr>
              <a:t>operasi</a:t>
            </a:r>
            <a:r>
              <a:rPr lang="en-US" altLang="en-US" sz="2600" dirty="0">
                <a:solidFill>
                  <a:srgbClr val="030305"/>
                </a:solidFill>
              </a:rPr>
              <a:t> </a:t>
            </a:r>
            <a:r>
              <a:rPr lang="en-US" altLang="en-US" sz="2600" dirty="0" err="1">
                <a:solidFill>
                  <a:srgbClr val="030305"/>
                </a:solidFill>
              </a:rPr>
              <a:t>perkalian</a:t>
            </a:r>
            <a:r>
              <a:rPr lang="en-US" altLang="en-US" sz="2600" dirty="0">
                <a:solidFill>
                  <a:srgbClr val="030305"/>
                </a:solidFill>
              </a:rPr>
              <a:t> dan </a:t>
            </a:r>
            <a:r>
              <a:rPr lang="en-US" altLang="en-US" sz="2600" dirty="0" err="1">
                <a:solidFill>
                  <a:srgbClr val="030305"/>
                </a:solidFill>
              </a:rPr>
              <a:t>penjumlahan</a:t>
            </a:r>
            <a:endParaRPr lang="en-US" altLang="en-US" sz="2600" dirty="0">
              <a:solidFill>
                <a:srgbClr val="030305"/>
              </a:solidFill>
            </a:endParaRPr>
          </a:p>
        </p:txBody>
      </p:sp>
      <p:pic>
        <p:nvPicPr>
          <p:cNvPr id="3" name="Picture 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7989E0D5-BA93-42FC-943F-048941577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682" y="1051560"/>
            <a:ext cx="3321558" cy="1996201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C07568B4-73E1-4315-BD84-36BF621B14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60" y="3598772"/>
            <a:ext cx="2641600" cy="16007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647F0FF4-48C2-43E1-A5AE-844D4239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2B30EC54-EAB5-45B5-9894-1608DA171A6E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278DC98-8658-4FB0-8483-AA8542EF9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6160" y="762000"/>
            <a:ext cx="10139680" cy="53340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400" b="1" dirty="0" err="1">
                <a:solidFill>
                  <a:srgbClr val="030305"/>
                </a:solidFill>
                <a:cs typeface="Times New Roman" panose="02020603050405020304" pitchFamily="18" charset="0"/>
              </a:rPr>
              <a:t>Contoh</a:t>
            </a:r>
            <a:r>
              <a:rPr lang="en-US" altLang="en-US" sz="2400" b="1" dirty="0">
                <a:solidFill>
                  <a:srgbClr val="030305"/>
                </a:solidFill>
                <a:cs typeface="Times New Roman" panose="02020603050405020304" pitchFamily="18" charset="0"/>
              </a:rPr>
              <a:t> 1.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Tinjau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menghitung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rerata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elemen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di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dalam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sebuah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larik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array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[1..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].  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  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0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	</a:t>
            </a:r>
            <a:r>
              <a:rPr lang="en-US" altLang="en-US" sz="2400" b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 1 </a:t>
            </a:r>
            <a:r>
              <a:rPr lang="en-US" altLang="en-US" sz="2400" b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to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sum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 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sum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2400" b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endfor</a:t>
            </a:r>
            <a:endParaRPr lang="en-US" altLang="en-US" sz="2400" b="1" dirty="0">
              <a:solidFill>
                <a:srgbClr val="03030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rata_rata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sum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en-US" sz="2400" i="1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mendasar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pada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algoritma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tersebut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adalah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operasi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penjumlahan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elemen-elemen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larik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(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yaitu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en-US" sz="2400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sum</a:t>
            </a:r>
            <a:r>
              <a:rPr lang="en-US" altLang="en-US" sz="2400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400" i="1" dirty="0" err="1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rgbClr val="03030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yang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dilakukan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sebanyak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kali. 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US" sz="2400" dirty="0">
              <a:solidFill>
                <a:srgbClr val="030305"/>
              </a:solidFill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Kompleksitas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rgbClr val="030305"/>
                </a:solidFill>
                <a:cs typeface="Times New Roman" panose="02020603050405020304" pitchFamily="18" charset="0"/>
              </a:rPr>
              <a:t>waktu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: 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solidFill>
                  <a:srgbClr val="030305"/>
                </a:solidFill>
                <a:cs typeface="Times New Roman" panose="02020603050405020304" pitchFamily="18" charset="0"/>
              </a:rPr>
              <a:t>) = </a:t>
            </a:r>
            <a:r>
              <a:rPr lang="en-US" altLang="en-US" sz="2400" i="1" dirty="0">
                <a:solidFill>
                  <a:srgbClr val="030305"/>
                </a:solidFill>
                <a:cs typeface="Times New Roman" panose="02020603050405020304" pitchFamily="18" charset="0"/>
              </a:rPr>
              <a:t>n.</a:t>
            </a:r>
            <a:endParaRPr lang="en-US" altLang="en-US" sz="2400" dirty="0"/>
          </a:p>
          <a:p>
            <a:pPr eaLnBrk="1" hangingPunct="1">
              <a:lnSpc>
                <a:spcPct val="80000"/>
              </a:lnSpc>
            </a:pPr>
            <a:endParaRPr lang="en-US" alt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53BA61-91B9-40CE-9BE0-D562A43D5D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787" y="2047240"/>
            <a:ext cx="5991225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EFFFE-8D75-4259-839B-894B33E41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720" y="462298"/>
            <a:ext cx="10515600" cy="5374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2.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mencari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terbesar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larik</a:t>
            </a:r>
            <a:r>
              <a:rPr lang="en-US" sz="2400" dirty="0"/>
              <a:t> (</a:t>
            </a:r>
            <a:r>
              <a:rPr lang="en-US" sz="2400" i="1" dirty="0"/>
              <a:t>array</a:t>
            </a:r>
            <a:r>
              <a:rPr lang="en-US" sz="2400" dirty="0"/>
              <a:t>) yang </a:t>
            </a:r>
            <a:r>
              <a:rPr lang="en-US" sz="2400" dirty="0" err="1"/>
              <a:t>berukuran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279B36-CD24-496C-9095-90D979CE9DF0}"/>
              </a:ext>
            </a:extLst>
          </p:cNvPr>
          <p:cNvSpPr/>
          <p:nvPr/>
        </p:nvSpPr>
        <p:spPr>
          <a:xfrm>
            <a:off x="1427480" y="1589304"/>
            <a:ext cx="93370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procedure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CariElemenTerbesar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input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integer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output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integer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{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Mencari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terbesar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sekumpulan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larik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integer a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..., a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Luaran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prosedur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yaitu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elemen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terbesar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disimpan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maks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  }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Kamus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integer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Algoritma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maks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&gt;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then</a:t>
            </a: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maks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</a:t>
            </a:r>
            <a:endParaRPr lang="en-US" sz="12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endif</a:t>
            </a: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k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+ 1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endwhile</a:t>
            </a: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E7CA82-93C0-419B-B813-06F7F04A887E}"/>
              </a:ext>
            </a:extLst>
          </p:cNvPr>
          <p:cNvSpPr/>
          <p:nvPr/>
        </p:nvSpPr>
        <p:spPr>
          <a:xfrm>
            <a:off x="934720" y="5938221"/>
            <a:ext cx="1051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tabLst>
                <a:tab pos="1811655" algn="l"/>
              </a:tabLst>
            </a:pPr>
            <a:r>
              <a:rPr lang="en-US" sz="2000" dirty="0" err="1">
                <a:ea typeface="Times New Roman" panose="02020603050405020304" pitchFamily="18" charset="0"/>
              </a:rPr>
              <a:t>Kompleksitas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waktu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algoritma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dihitung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dari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jumlah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operasi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perbandingan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elemen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larik</a:t>
            </a:r>
            <a:r>
              <a:rPr lang="en-US" sz="2000" dirty="0">
                <a:ea typeface="Times New Roman" panose="02020603050405020304" pitchFamily="18" charset="0"/>
              </a:rPr>
              <a:t> (</a:t>
            </a:r>
            <a:r>
              <a:rPr lang="en-US" sz="2000" i="1" dirty="0" err="1">
                <a:ea typeface="Times New Roman" panose="02020603050405020304" pitchFamily="18" charset="0"/>
              </a:rPr>
              <a:t>a</a:t>
            </a:r>
            <a:r>
              <a:rPr lang="en-US" sz="2000" i="1" baseline="-25000" dirty="0" err="1">
                <a:ea typeface="Times New Roman" panose="02020603050405020304" pitchFamily="18" charset="0"/>
              </a:rPr>
              <a:t>k</a:t>
            </a:r>
            <a:r>
              <a:rPr lang="en-US" sz="2000" dirty="0">
                <a:ea typeface="Times New Roman" panose="02020603050405020304" pitchFamily="18" charset="0"/>
              </a:rPr>
              <a:t> &gt; </a:t>
            </a:r>
            <a:r>
              <a:rPr lang="en-US" sz="2000" i="1" dirty="0" err="1">
                <a:ea typeface="Times New Roman" panose="02020603050405020304" pitchFamily="18" charset="0"/>
              </a:rPr>
              <a:t>maks</a:t>
            </a:r>
            <a:r>
              <a:rPr lang="en-US" sz="2000" dirty="0">
                <a:ea typeface="Times New Roman" panose="02020603050405020304" pitchFamily="18" charset="0"/>
              </a:rPr>
              <a:t>).</a:t>
            </a:r>
            <a:endParaRPr lang="en-US" sz="2000" dirty="0">
              <a:effectLst/>
              <a:ea typeface="Times New Roman" panose="02020603050405020304" pitchFamily="18" charset="0"/>
            </a:endParaRPr>
          </a:p>
          <a:p>
            <a:pPr algn="just"/>
            <a:r>
              <a:rPr lang="en-US" sz="2000" dirty="0" err="1">
                <a:ea typeface="Times New Roman" panose="02020603050405020304" pitchFamily="18" charset="0"/>
              </a:rPr>
              <a:t>Kompleksitas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a typeface="Times New Roman" panose="02020603050405020304" pitchFamily="18" charset="0"/>
              </a:rPr>
              <a:t>waktu</a:t>
            </a:r>
            <a:r>
              <a:rPr lang="en-US" sz="2000" dirty="0">
                <a:ea typeface="Times New Roman" panose="02020603050405020304" pitchFamily="18" charset="0"/>
              </a:rPr>
              <a:t> </a:t>
            </a:r>
            <a:r>
              <a:rPr lang="en-US" sz="2000" i="1" dirty="0" err="1">
                <a:ea typeface="Times New Roman" panose="02020603050405020304" pitchFamily="18" charset="0"/>
              </a:rPr>
              <a:t>CariElemenTerbesar</a:t>
            </a:r>
            <a:r>
              <a:rPr lang="en-US" sz="2000" dirty="0">
                <a:ea typeface="Times New Roman" panose="02020603050405020304" pitchFamily="18" charset="0"/>
              </a:rPr>
              <a:t> :  </a:t>
            </a:r>
            <a:r>
              <a:rPr lang="en-US" sz="2000" i="1" dirty="0">
                <a:ea typeface="Times New Roman" panose="02020603050405020304" pitchFamily="18" charset="0"/>
              </a:rPr>
              <a:t>T</a:t>
            </a:r>
            <a:r>
              <a:rPr lang="en-US" sz="2000" dirty="0">
                <a:ea typeface="Times New Roman" panose="02020603050405020304" pitchFamily="18" charset="0"/>
              </a:rPr>
              <a:t>(</a:t>
            </a:r>
            <a:r>
              <a:rPr lang="en-US" sz="2000" i="1" dirty="0">
                <a:ea typeface="Times New Roman" panose="02020603050405020304" pitchFamily="18" charset="0"/>
              </a:rPr>
              <a:t>n</a:t>
            </a:r>
            <a:r>
              <a:rPr lang="en-US" sz="2000" dirty="0">
                <a:ea typeface="Times New Roman" panose="02020603050405020304" pitchFamily="18" charset="0"/>
              </a:rPr>
              <a:t>) = </a:t>
            </a:r>
            <a:r>
              <a:rPr lang="en-US" sz="2000" i="1" dirty="0">
                <a:ea typeface="Times New Roman" panose="02020603050405020304" pitchFamily="18" charset="0"/>
              </a:rPr>
              <a:t>n</a:t>
            </a:r>
            <a:r>
              <a:rPr lang="en-US" sz="2000" dirty="0">
                <a:ea typeface="Times New Roman" panose="02020603050405020304" pitchFamily="18" charset="0"/>
              </a:rPr>
              <a:t> – 1. 	</a:t>
            </a:r>
            <a:endParaRPr lang="en-US" sz="20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1C928-4E4F-4ED9-95BC-AA088398FAEE}"/>
              </a:ext>
            </a:extLst>
          </p:cNvPr>
          <p:cNvSpPr/>
          <p:nvPr/>
        </p:nvSpPr>
        <p:spPr>
          <a:xfrm>
            <a:off x="1148080" y="1589304"/>
            <a:ext cx="8757920" cy="3998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675E82-1EFD-4784-BBAD-661F70B4F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855" y="3429000"/>
            <a:ext cx="5991225" cy="12192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F31664-AB14-0F12-D616-272698A1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3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E33EF-E09C-4586-B69B-21502FC0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480" y="1656081"/>
            <a:ext cx="10515600" cy="39827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Kompleksitas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dibedakan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macam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i="1" dirty="0" err="1"/>
              <a:t>T</a:t>
            </a:r>
            <a:r>
              <a:rPr lang="en-US" i="1" baseline="-25000" dirty="0" err="1"/>
              <a:t>max</a:t>
            </a:r>
            <a:r>
              <a:rPr lang="en-US" i="1" dirty="0"/>
              <a:t>(n)</a:t>
            </a:r>
            <a:r>
              <a:rPr lang="en-US" dirty="0"/>
              <a:t> : </a:t>
            </a:r>
            <a:r>
              <a:rPr lang="en-US" dirty="0" err="1"/>
              <a:t>kompleksitas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terburuk</a:t>
            </a:r>
            <a:r>
              <a:rPr lang="en-US" dirty="0"/>
              <a:t> </a:t>
            </a:r>
            <a:r>
              <a:rPr lang="en-US" i="1" dirty="0"/>
              <a:t>(worst case),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	     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i="1" dirty="0" err="1"/>
              <a:t>T</a:t>
            </a:r>
            <a:r>
              <a:rPr lang="en-US" i="1" baseline="-25000" dirty="0" err="1"/>
              <a:t>min</a:t>
            </a:r>
            <a:r>
              <a:rPr lang="en-US" i="1" dirty="0"/>
              <a:t>(n)</a:t>
            </a:r>
            <a:r>
              <a:rPr lang="en-US" dirty="0"/>
              <a:t> : </a:t>
            </a:r>
            <a:r>
              <a:rPr lang="en-US" dirty="0" err="1"/>
              <a:t>kompleksitas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 </a:t>
            </a:r>
            <a:r>
              <a:rPr lang="en-US" i="1" dirty="0"/>
              <a:t>(best case),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	    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minimum.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i="1" dirty="0" err="1"/>
              <a:t>T</a:t>
            </a:r>
            <a:r>
              <a:rPr lang="en-US" i="1" baseline="-25000" dirty="0" err="1"/>
              <a:t>avg</a:t>
            </a:r>
            <a:r>
              <a:rPr lang="en-US" i="1" dirty="0"/>
              <a:t>(n)</a:t>
            </a:r>
            <a:r>
              <a:rPr lang="en-US" dirty="0"/>
              <a:t>:  </a:t>
            </a:r>
            <a:r>
              <a:rPr lang="en-US" dirty="0" err="1"/>
              <a:t>kompleksitas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rata-rata </a:t>
            </a:r>
            <a:r>
              <a:rPr lang="en-US" i="1" dirty="0"/>
              <a:t>(average case)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rata-rata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716F3-DF34-D069-858E-53C80C56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4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B6A81-7421-429C-8DF8-12704F03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440"/>
            <a:ext cx="10510520" cy="572992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3.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i="1" dirty="0"/>
              <a:t>sequential search </a:t>
            </a:r>
            <a:r>
              <a:rPr lang="en-US" sz="2400" dirty="0"/>
              <a:t> (</a:t>
            </a:r>
            <a:r>
              <a:rPr lang="en-US" sz="2400" i="1" dirty="0"/>
              <a:t>linear search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20E34F-4072-4ABB-95B4-EC468ACCAF68}"/>
              </a:ext>
            </a:extLst>
          </p:cNvPr>
          <p:cNvSpPr/>
          <p:nvPr/>
        </p:nvSpPr>
        <p:spPr>
          <a:xfrm>
            <a:off x="944880" y="1102578"/>
            <a:ext cx="9895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PencarianBeruntun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di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larik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yang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larik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disimpan</a:t>
            </a:r>
            <a:endParaRPr lang="en-US" sz="1600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di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bernilai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–1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Kamus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ketemu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bernilai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true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false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ketemu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ketemu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ketemu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1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endif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endwhile</a:t>
            </a:r>
            <a:endParaRPr lang="en-US" sz="16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ketemu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x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sz="1600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idx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–1       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x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ditemukan</a:t>
            </a:r>
            <a:r>
              <a:rPr lang="en-US" sz="1600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endif</a:t>
            </a:r>
          </a:p>
        </p:txBody>
      </p:sp>
      <p:pic>
        <p:nvPicPr>
          <p:cNvPr id="8" name="Picture 7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FBD8AD29-835A-4DFE-8AF0-F9745EE72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404" y="3545840"/>
            <a:ext cx="5998856" cy="12242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609FD31-B087-457F-BBA2-3C361CBB4815}"/>
              </a:ext>
            </a:extLst>
          </p:cNvPr>
          <p:cNvSpPr/>
          <p:nvPr/>
        </p:nvSpPr>
        <p:spPr>
          <a:xfrm>
            <a:off x="838200" y="1102578"/>
            <a:ext cx="10876280" cy="52629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F8E4D-0EF0-1B89-684A-F77EEAA8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8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BA79A3A3-6F6D-4106-9D99-DFD02194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fld id="{706BAD7F-1F46-499D-9D72-28F491B5F041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SzTx/>
                <a:buFontTx/>
                <a:buNone/>
              </a:pPr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98A2C6FB-BABD-4814-B789-EE298D8BB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083883"/>
              </p:ext>
            </p:extLst>
          </p:nvPr>
        </p:nvGraphicFramePr>
        <p:xfrm>
          <a:off x="1480956" y="659128"/>
          <a:ext cx="8742408" cy="5539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7" imgW="5486400" imgH="3477768" progId="Word.Document.8">
                  <p:embed/>
                </p:oleObj>
              </mc:Choice>
              <mc:Fallback>
                <p:oleObj name="Document" r:id="rId7" imgW="5486400" imgH="3477768" progId="Word.Document.8">
                  <p:embed/>
                  <p:pic>
                    <p:nvPicPr>
                      <p:cNvPr id="20484" name="Object 4">
                        <a:extLst>
                          <a:ext uri="{FF2B5EF4-FFF2-40B4-BE49-F238E27FC236}">
                            <a16:creationId xmlns:a16="http://schemas.microsoft.com/office/drawing/2014/main" id="{98A2C6FB-BABD-4814-B789-EE298D8BB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0956" y="659128"/>
                        <a:ext cx="8742408" cy="5539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0CDEC-43C2-4D0E-BDEA-77E2347D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9760"/>
            <a:ext cx="10515600" cy="5557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4</a:t>
            </a:r>
            <a:r>
              <a:rPr lang="en-US" sz="2400" dirty="0"/>
              <a:t>: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dirty="0" err="1"/>
              <a:t>pengurutan</a:t>
            </a:r>
            <a:r>
              <a:rPr lang="en-US" sz="2400" dirty="0"/>
              <a:t> </a:t>
            </a:r>
            <a:r>
              <a:rPr lang="en-US" sz="2400" dirty="0" err="1"/>
              <a:t>seleksi</a:t>
            </a:r>
            <a:r>
              <a:rPr lang="en-US" sz="2400" dirty="0"/>
              <a:t> (</a:t>
            </a:r>
            <a:r>
              <a:rPr lang="en-US" sz="2400" i="1" dirty="0"/>
              <a:t>selection sort</a:t>
            </a:r>
            <a:r>
              <a:rPr lang="en-US" sz="2400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6BD33-BF83-4360-BA8B-5465EAB9DAD5}"/>
              </a:ext>
            </a:extLst>
          </p:cNvPr>
          <p:cNvSpPr/>
          <p:nvPr/>
        </p:nvSpPr>
        <p:spPr>
          <a:xfrm>
            <a:off x="1016000" y="1375649"/>
            <a:ext cx="969264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SelectionSort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input/output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...,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Mengurutkan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elemen-elemen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larik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yang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integer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terurut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menaik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Kamus</a:t>
            </a:r>
            <a:endParaRPr lang="en-US" sz="1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endParaRPr lang="en-US" sz="1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1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1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pass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sebanyak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– 1 kali }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endParaRPr lang="en-US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+ 1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endif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endfor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pertukarkan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endParaRPr lang="en-US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imin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en-US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endfor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A29A67-F46F-4EA5-8612-F129A588B39F}"/>
              </a:ext>
            </a:extLst>
          </p:cNvPr>
          <p:cNvSpPr/>
          <p:nvPr/>
        </p:nvSpPr>
        <p:spPr>
          <a:xfrm>
            <a:off x="838200" y="1229360"/>
            <a:ext cx="10662920" cy="508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icture containing text, keyboard&#10;&#10;Description automatically generated">
            <a:extLst>
              <a:ext uri="{FF2B5EF4-FFF2-40B4-BE49-F238E27FC236}">
                <a16:creationId xmlns:a16="http://schemas.microsoft.com/office/drawing/2014/main" id="{CA417E5E-DF23-4B0D-843A-2E62F6FE2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150" y="2148206"/>
            <a:ext cx="3302510" cy="402875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6D8C887-36B9-4891-ADDE-2FCEFC3B29AB}"/>
              </a:ext>
            </a:extLst>
          </p:cNvPr>
          <p:cNvSpPr txBox="1"/>
          <p:nvPr/>
        </p:nvSpPr>
        <p:spPr>
          <a:xfrm>
            <a:off x="10357999" y="2346960"/>
            <a:ext cx="1049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ke-1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7A0D06-8868-4D14-BCEE-1D12191A1FC7}"/>
              </a:ext>
            </a:extLst>
          </p:cNvPr>
          <p:cNvSpPr txBox="1"/>
          <p:nvPr/>
        </p:nvSpPr>
        <p:spPr>
          <a:xfrm>
            <a:off x="10378198" y="2862581"/>
            <a:ext cx="1049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ke-2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F7ED26-66F1-4B12-8612-CE28BA29C0CE}"/>
              </a:ext>
            </a:extLst>
          </p:cNvPr>
          <p:cNvSpPr txBox="1"/>
          <p:nvPr/>
        </p:nvSpPr>
        <p:spPr>
          <a:xfrm>
            <a:off x="10304538" y="5113019"/>
            <a:ext cx="1049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ke-6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C055F-2A10-97B7-7E3B-A2537979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45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6FBFB0-812E-4786-B86D-344EED871B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51840"/>
                <a:ext cx="10515600" cy="560451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3400" b="1" dirty="0"/>
                  <a:t>(</a:t>
                </a:r>
                <a:r>
                  <a:rPr lang="en-US" sz="3400" b="1" dirty="0" err="1"/>
                  <a:t>i</a:t>
                </a:r>
                <a:r>
                  <a:rPr lang="en-US" sz="3400" b="1" dirty="0"/>
                  <a:t>) </a:t>
                </a:r>
                <a:r>
                  <a:rPr lang="en-US" sz="3400" b="1" dirty="0" err="1"/>
                  <a:t>Jumlah</a:t>
                </a:r>
                <a:r>
                  <a:rPr lang="en-US" sz="3400" b="1" dirty="0"/>
                  <a:t> </a:t>
                </a:r>
                <a:r>
                  <a:rPr lang="en-US" sz="3400" b="1" dirty="0" err="1"/>
                  <a:t>operasi</a:t>
                </a:r>
                <a:r>
                  <a:rPr lang="en-US" sz="3400" b="1" dirty="0"/>
                  <a:t> </a:t>
                </a:r>
                <a:r>
                  <a:rPr lang="en-US" sz="3400" b="1" dirty="0" err="1"/>
                  <a:t>perbandingan</a:t>
                </a:r>
                <a:r>
                  <a:rPr lang="en-US" sz="3400" b="1" dirty="0"/>
                  <a:t> </a:t>
                </a:r>
                <a:r>
                  <a:rPr lang="en-US" sz="3400" b="1" dirty="0" err="1"/>
                  <a:t>elemen-elemen</a:t>
                </a:r>
                <a:r>
                  <a:rPr lang="en-US" sz="3400" b="1" dirty="0"/>
                  <a:t> </a:t>
                </a:r>
                <a:r>
                  <a:rPr lang="en-US" sz="3400" b="1" dirty="0" err="1"/>
                  <a:t>larik</a:t>
                </a:r>
                <a:r>
                  <a:rPr lang="en-US" sz="3400" b="1" dirty="0"/>
                  <a:t> (</a:t>
                </a:r>
                <a:r>
                  <a:rPr lang="en-US" sz="3400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400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sz="3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sz="3400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3400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imin</a:t>
                </a:r>
                <a:r>
                  <a:rPr lang="en-US" sz="34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400" b="1" dirty="0"/>
                  <a:t>)</a:t>
                </a:r>
              </a:p>
              <a:p>
                <a:pPr marL="0" indent="0">
                  <a:buNone/>
                </a:pPr>
                <a:r>
                  <a:rPr lang="en-US" sz="3400" b="1" dirty="0"/>
                  <a:t>  </a:t>
                </a:r>
              </a:p>
              <a:p>
                <a:pPr marL="0" indent="0">
                  <a:buNone/>
                </a:pPr>
                <a:r>
                  <a:rPr lang="en-US" sz="3100" b="1" dirty="0"/>
                  <a:t>    </a:t>
                </a:r>
                <a:r>
                  <a:rPr lang="en-US" sz="3100" b="1" u="sng" dirty="0"/>
                  <a:t>Cara ke-1</a:t>
                </a:r>
                <a:r>
                  <a:rPr lang="en-US" sz="3100" b="1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</a:t>
                </a:r>
                <a:r>
                  <a:rPr lang="en-US" i="1" dirty="0"/>
                  <a:t>pass</a:t>
                </a:r>
                <a:r>
                  <a:rPr lang="en-US" dirty="0"/>
                  <a:t> </a:t>
                </a:r>
                <a:r>
                  <a:rPr lang="en-US" dirty="0" err="1"/>
                  <a:t>ke-</a:t>
                </a:r>
                <a:r>
                  <a:rPr lang="en-US" i="1" dirty="0" err="1"/>
                  <a:t>i</a:t>
                </a:r>
                <a:r>
                  <a:rPr lang="en-US" dirty="0"/>
                  <a:t>,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1 	</a:t>
                </a:r>
                <a:r>
                  <a:rPr lang="en-US" dirty="0">
                    <a:sym typeface="Symbol" panose="05050102010706020507" pitchFamily="18" charset="2"/>
                  </a:rPr>
                  <a:t>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 = </a:t>
                </a:r>
                <a:r>
                  <a:rPr lang="en-US" i="1" dirty="0"/>
                  <a:t>n</a:t>
                </a:r>
                <a:r>
                  <a:rPr lang="en-US" dirty="0"/>
                  <a:t> – 1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2 	</a:t>
                </a:r>
                <a:r>
                  <a:rPr lang="en-US" dirty="0">
                    <a:sym typeface="Symbol" panose="05050102010706020507" pitchFamily="18" charset="2"/>
                  </a:rPr>
                  <a:t>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= </a:t>
                </a:r>
                <a:r>
                  <a:rPr lang="en-US" i="1" dirty="0"/>
                  <a:t>n</a:t>
                </a:r>
                <a:r>
                  <a:rPr lang="en-US" dirty="0"/>
                  <a:t> – 2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3 	</a:t>
                </a:r>
                <a:r>
                  <a:rPr lang="en-US" dirty="0">
                    <a:sym typeface="Symbol" panose="05050102010706020507" pitchFamily="18" charset="2"/>
                  </a:rPr>
                  <a:t>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= </a:t>
                </a:r>
                <a:r>
                  <a:rPr lang="en-US" i="1" dirty="0"/>
                  <a:t>n</a:t>
                </a:r>
                <a:r>
                  <a:rPr lang="en-US" dirty="0"/>
                  <a:t> – 3 </a:t>
                </a:r>
              </a:p>
              <a:p>
                <a:pPr marL="0" indent="0">
                  <a:buNone/>
                </a:pPr>
                <a:r>
                  <a:rPr lang="en-US" dirty="0"/>
                  <a:t>	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n – 1 </a:t>
                </a:r>
                <a:r>
                  <a:rPr lang="en-US" dirty="0">
                    <a:sym typeface="Symbol" panose="05050102010706020507" pitchFamily="18" charset="2"/>
                  </a:rPr>
                  <a:t></a:t>
                </a:r>
                <a:r>
                  <a:rPr lang="en-US" dirty="0"/>
                  <a:t> 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= 1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seluruh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</a:t>
                </a:r>
                <a:r>
                  <a:rPr lang="en-US" dirty="0" err="1"/>
                  <a:t>elemen-elemen</a:t>
                </a:r>
                <a:r>
                  <a:rPr lang="en-US" dirty="0"/>
                  <a:t> </a:t>
                </a:r>
                <a:r>
                  <a:rPr lang="en-US" dirty="0" err="1"/>
                  <a:t>larik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) = (</a:t>
                </a:r>
                <a:r>
                  <a:rPr lang="en-US" i="1" dirty="0"/>
                  <a:t>n</a:t>
                </a:r>
                <a:r>
                  <a:rPr lang="en-US" dirty="0"/>
                  <a:t> – 1) + (</a:t>
                </a:r>
                <a:r>
                  <a:rPr lang="en-US" i="1" dirty="0"/>
                  <a:t>n</a:t>
                </a:r>
                <a:r>
                  <a:rPr lang="en-US" dirty="0"/>
                  <a:t> – 2) + … + 2 + 1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3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300" dirty="0"/>
                  <a:t>       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indent="0">
                  <a:buNone/>
                </a:pPr>
                <a:r>
                  <a:rPr lang="en-US" dirty="0" err="1"/>
                  <a:t>Ini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kompleksitas</a:t>
                </a:r>
                <a:r>
                  <a:rPr lang="en-US" dirty="0"/>
                  <a:t> </a:t>
                </a:r>
                <a:r>
                  <a:rPr lang="en-US" dirty="0" err="1"/>
                  <a:t>waktu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terbaik</a:t>
                </a:r>
                <a:r>
                  <a:rPr lang="en-US" dirty="0"/>
                  <a:t> dan </a:t>
                </a:r>
                <a:r>
                  <a:rPr lang="en-US" dirty="0" err="1"/>
                  <a:t>terburuk</a:t>
                </a:r>
                <a:r>
                  <a:rPr lang="en-US" dirty="0"/>
                  <a:t>, </a:t>
                </a:r>
                <a:r>
                  <a:rPr lang="en-US" dirty="0" err="1"/>
                  <a:t>karena</a:t>
                </a:r>
                <a:r>
                  <a:rPr lang="en-US" dirty="0"/>
                  <a:t> </a:t>
                </a:r>
                <a:r>
                  <a:rPr lang="en-US" dirty="0" err="1"/>
                  <a:t>algoritma</a:t>
                </a:r>
                <a:r>
                  <a:rPr lang="en-US" dirty="0"/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SelectionSort</a:t>
                </a:r>
                <a:r>
                  <a:rPr lang="en-US" dirty="0"/>
                  <a:t>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bergantung</a:t>
                </a:r>
                <a:r>
                  <a:rPr lang="en-US" dirty="0"/>
                  <a:t> pada </a:t>
                </a:r>
                <a:r>
                  <a:rPr lang="en-US" dirty="0" err="1"/>
                  <a:t>apakah</a:t>
                </a:r>
                <a:r>
                  <a:rPr lang="en-US" dirty="0"/>
                  <a:t> data </a:t>
                </a:r>
                <a:r>
                  <a:rPr lang="en-US" dirty="0" err="1"/>
                  <a:t>masukannya</a:t>
                </a:r>
                <a:r>
                  <a:rPr lang="en-US" dirty="0"/>
                  <a:t> </a:t>
                </a:r>
                <a:r>
                  <a:rPr lang="en-US" dirty="0" err="1"/>
                  <a:t>sudah</a:t>
                </a:r>
                <a:r>
                  <a:rPr lang="en-US" dirty="0"/>
                  <a:t> </a:t>
                </a:r>
                <a:r>
                  <a:rPr lang="en-US" dirty="0" err="1"/>
                  <a:t>terurut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acak</a:t>
                </a:r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6FBFB0-812E-4786-B86D-344EED871B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51840"/>
                <a:ext cx="10515600" cy="5604510"/>
              </a:xfrm>
              <a:blipFill>
                <a:blip r:embed="rId2"/>
                <a:stretch>
                  <a:fillRect l="-1043" t="-2935" r="-986" b="-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33B8339B-F780-4F02-938B-90C4A7AA7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462" y="1828920"/>
            <a:ext cx="3380389" cy="23424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2E6EA-1DEB-9C23-46ED-36BF28E58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4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93C2-6A7A-44B6-9277-8D834ADA2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963" y="1036478"/>
            <a:ext cx="7787640" cy="47850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(ii) </a:t>
            </a:r>
            <a:r>
              <a:rPr lang="en-US" b="1" dirty="0" err="1"/>
              <a:t>Jumlah</a:t>
            </a:r>
            <a:r>
              <a:rPr lang="en-US" b="1" dirty="0"/>
              <a:t> </a:t>
            </a:r>
            <a:r>
              <a:rPr lang="en-US" b="1" dirty="0" err="1"/>
              <a:t>operasi</a:t>
            </a:r>
            <a:r>
              <a:rPr lang="en-US" b="1" dirty="0"/>
              <a:t> </a:t>
            </a:r>
            <a:r>
              <a:rPr lang="en-US" b="1" dirty="0" err="1"/>
              <a:t>pertukaran</a:t>
            </a:r>
            <a:endParaRPr lang="en-US" b="1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i="1" dirty="0"/>
              <a:t> </a:t>
            </a:r>
            <a:r>
              <a:rPr lang="en-US" sz="2400" i="1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1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 – 1,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kali </a:t>
            </a:r>
            <a:r>
              <a:rPr lang="en-US" sz="2400" dirty="0" err="1"/>
              <a:t>pertukaran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,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pertukaran</a:t>
            </a:r>
            <a:r>
              <a:rPr lang="en-US" sz="2400" dirty="0"/>
              <a:t> </a:t>
            </a:r>
            <a:r>
              <a:rPr lang="en-US" sz="2400" dirty="0" err="1"/>
              <a:t>seluruhnya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457200" lvl="1" indent="0">
              <a:buNone/>
            </a:pPr>
            <a:r>
              <a:rPr lang="en-US" i="1" dirty="0"/>
              <a:t>T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= </a:t>
            </a:r>
            <a:r>
              <a:rPr lang="en-US" i="1" dirty="0"/>
              <a:t>n</a:t>
            </a:r>
            <a:r>
              <a:rPr lang="en-US" dirty="0"/>
              <a:t> – 1. 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pertukaran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kasus</a:t>
            </a:r>
            <a:r>
              <a:rPr lang="en-US" sz="2400" dirty="0"/>
              <a:t>.							</a:t>
            </a:r>
          </a:p>
          <a:p>
            <a:pPr marL="0" indent="0">
              <a:buNone/>
            </a:pPr>
            <a:r>
              <a:rPr lang="en-US" sz="2400" dirty="0" err="1"/>
              <a:t>Jadi</a:t>
            </a:r>
            <a:r>
              <a:rPr lang="en-US" sz="2400" dirty="0"/>
              <a:t>,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dirty="0" err="1"/>
              <a:t>pengurutan</a:t>
            </a:r>
            <a:r>
              <a:rPr lang="en-US" sz="2400" dirty="0"/>
              <a:t> </a:t>
            </a:r>
            <a:r>
              <a:rPr lang="en-US" sz="2400" dirty="0" err="1"/>
              <a:t>seleksi</a:t>
            </a:r>
            <a:r>
              <a:rPr lang="en-US" sz="2400" dirty="0"/>
              <a:t> </a:t>
            </a:r>
            <a:r>
              <a:rPr lang="en-US" sz="2400" dirty="0" err="1"/>
              <a:t>membutuhkan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 – 1 )/2 </a:t>
            </a:r>
            <a:r>
              <a:rPr lang="en-US" sz="2400" dirty="0" err="1"/>
              <a:t>buah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perbandingan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dan </a:t>
            </a:r>
            <a:r>
              <a:rPr lang="en-US" sz="2400" i="1" dirty="0"/>
              <a:t>n</a:t>
            </a:r>
            <a:r>
              <a:rPr lang="en-US" sz="2400" dirty="0"/>
              <a:t> – 1  </a:t>
            </a:r>
            <a:r>
              <a:rPr lang="en-US" sz="2400" dirty="0" err="1"/>
              <a:t>buah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pertukaran</a:t>
            </a:r>
            <a:r>
              <a:rPr lang="en-US" sz="2400" dirty="0"/>
              <a:t>.	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8C582-6BF6-40DE-96CF-C9016C73B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085" y="152400"/>
            <a:ext cx="3826693" cy="26517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D9C1F-9CC2-6727-5FB5-DC9975F2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37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E595E-59AB-4DBC-8767-9AFB2C28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7360"/>
            <a:ext cx="10515600" cy="5465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Contoh</a:t>
            </a:r>
            <a:r>
              <a:rPr lang="en-US" sz="2400" b="1" dirty="0"/>
              <a:t> 5</a:t>
            </a:r>
            <a:r>
              <a:rPr lang="en-US" sz="2400" dirty="0"/>
              <a:t>: </a:t>
            </a:r>
            <a:r>
              <a:rPr lang="en-US" sz="2400" dirty="0" err="1"/>
              <a:t>Diberikan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dirty="0" err="1"/>
              <a:t>pengurutan</a:t>
            </a:r>
            <a:r>
              <a:rPr lang="en-US" sz="2400" dirty="0"/>
              <a:t> </a:t>
            </a:r>
            <a:r>
              <a:rPr lang="en-US" sz="2400" i="1" dirty="0"/>
              <a:t>bubble-sort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. </a:t>
            </a:r>
            <a:r>
              <a:rPr lang="en-US" sz="2400" dirty="0" err="1"/>
              <a:t>Hitung</a:t>
            </a:r>
            <a:r>
              <a:rPr lang="en-US" sz="2400" dirty="0"/>
              <a:t> </a:t>
            </a:r>
            <a:r>
              <a:rPr lang="en-US" sz="2400" dirty="0" err="1"/>
              <a:t>kompleksitas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</a:t>
            </a:r>
            <a:r>
              <a:rPr lang="en-US" sz="2400" dirty="0" err="1"/>
              <a:t>algoritma</a:t>
            </a:r>
            <a:r>
              <a:rPr lang="en-US" sz="2400" dirty="0"/>
              <a:t> </a:t>
            </a:r>
            <a:r>
              <a:rPr lang="en-US" sz="2400" dirty="0" err="1"/>
              <a:t>didasarkan</a:t>
            </a:r>
            <a:r>
              <a:rPr lang="en-US" sz="2400" dirty="0"/>
              <a:t> pada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perbandingan</a:t>
            </a:r>
            <a:r>
              <a:rPr lang="en-US" sz="2400" dirty="0"/>
              <a:t> </a:t>
            </a:r>
            <a:r>
              <a:rPr lang="en-US" sz="2400" dirty="0" err="1"/>
              <a:t>elemen-elemen</a:t>
            </a:r>
            <a:r>
              <a:rPr lang="en-US" sz="2400" dirty="0"/>
              <a:t> </a:t>
            </a:r>
            <a:r>
              <a:rPr lang="en-US" sz="2400" dirty="0" err="1"/>
              <a:t>larik</a:t>
            </a:r>
            <a:r>
              <a:rPr lang="en-US" sz="2400" dirty="0"/>
              <a:t> dan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pertukaran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B6BB0-799D-4C14-8ABD-2861BE3CC94C}"/>
              </a:ext>
            </a:extLst>
          </p:cNvPr>
          <p:cNvSpPr/>
          <p:nvPr/>
        </p:nvSpPr>
        <p:spPr>
          <a:xfrm>
            <a:off x="975360" y="1832075"/>
            <a:ext cx="9591040" cy="4436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BubbleSort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input/output </a:t>
            </a:r>
            <a:r>
              <a:rPr lang="en-US" sz="1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[1..</a:t>
            </a:r>
            <a:r>
              <a:rPr lang="en-US" sz="18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Mengurut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larik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yang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integer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terrut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menaik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Kamus</a:t>
            </a:r>
            <a:endParaRPr lang="en-US" b="1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1 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downto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1  do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pertukarkan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+ 1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     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 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+ 1 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i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i="1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aseline="-25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+ 1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en-US" i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endif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endfor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marR="0" indent="-50546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endfor</a:t>
            </a:r>
            <a:endParaRPr lang="en-US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5D583-8BB7-4A82-A153-1577C1E47456}"/>
              </a:ext>
            </a:extLst>
          </p:cNvPr>
          <p:cNvSpPr/>
          <p:nvPr/>
        </p:nvSpPr>
        <p:spPr>
          <a:xfrm>
            <a:off x="838200" y="1696720"/>
            <a:ext cx="10515600" cy="4612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BBAB8A-4B69-4E72-824F-786AA7AA8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072" y="2096783"/>
            <a:ext cx="2551448" cy="41717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325B000-92E3-4A48-BB2A-D77C6A2D8738}"/>
              </a:ext>
            </a:extLst>
          </p:cNvPr>
          <p:cNvSpPr/>
          <p:nvPr/>
        </p:nvSpPr>
        <p:spPr>
          <a:xfrm>
            <a:off x="5567680" y="6404791"/>
            <a:ext cx="66243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effectLst/>
              </a:rPr>
              <a:t>Sumber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gambar</a:t>
            </a:r>
            <a:r>
              <a:rPr lang="en-US" sz="1600" dirty="0">
                <a:effectLst/>
              </a:rPr>
              <a:t>: Prof. Amr </a:t>
            </a:r>
            <a:r>
              <a:rPr lang="en-US" sz="1600" dirty="0" err="1">
                <a:effectLst/>
              </a:rPr>
              <a:t>Goneid</a:t>
            </a:r>
            <a:r>
              <a:rPr lang="en-US" sz="1600" dirty="0">
                <a:effectLst/>
              </a:rPr>
              <a:t>, Department of Computer Science, AUC</a:t>
            </a:r>
            <a:endParaRPr lang="en-US" sz="1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7278D1-3F43-E88F-A60D-C8EDAB59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32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6FBFB0-812E-4786-B86D-344EED871B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51840"/>
                <a:ext cx="10515600" cy="542512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(</a:t>
                </a:r>
                <a:r>
                  <a:rPr lang="en-US" b="1" dirty="0" err="1"/>
                  <a:t>i</a:t>
                </a:r>
                <a:r>
                  <a:rPr lang="en-US" b="1" dirty="0"/>
                  <a:t>) </a:t>
                </a:r>
                <a:r>
                  <a:rPr lang="en-US" b="1" dirty="0" err="1"/>
                  <a:t>Jumlah</a:t>
                </a:r>
                <a:r>
                  <a:rPr lang="en-US" b="1" dirty="0"/>
                  <a:t> </a:t>
                </a:r>
                <a:r>
                  <a:rPr lang="en-US" b="1" dirty="0" err="1"/>
                  <a:t>operasi</a:t>
                </a:r>
                <a:r>
                  <a:rPr lang="en-US" b="1" dirty="0"/>
                  <a:t> </a:t>
                </a:r>
                <a:r>
                  <a:rPr lang="en-US" b="1" dirty="0" err="1"/>
                  <a:t>perbandingan</a:t>
                </a:r>
                <a:r>
                  <a:rPr lang="en-US" b="1" dirty="0"/>
                  <a:t> </a:t>
                </a:r>
                <a:r>
                  <a:rPr lang="en-US" b="1" dirty="0" err="1"/>
                  <a:t>elemen-elemen</a:t>
                </a:r>
                <a:r>
                  <a:rPr lang="en-US" b="1" dirty="0"/>
                  <a:t> </a:t>
                </a:r>
                <a:r>
                  <a:rPr lang="en-US" b="1" dirty="0" err="1"/>
                  <a:t>larik</a:t>
                </a:r>
                <a:r>
                  <a:rPr lang="en-US" b="1" dirty="0"/>
                  <a:t> (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      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setiap</a:t>
                </a:r>
                <a:r>
                  <a:rPr lang="en-US" dirty="0"/>
                  <a:t> </a:t>
                </a:r>
                <a:r>
                  <a:rPr lang="en-US" i="1" dirty="0"/>
                  <a:t>pass</a:t>
                </a:r>
                <a:r>
                  <a:rPr lang="en-US" dirty="0"/>
                  <a:t> </a:t>
                </a:r>
                <a:r>
                  <a:rPr lang="en-US" dirty="0" err="1"/>
                  <a:t>ke-</a:t>
                </a:r>
                <a:r>
                  <a:rPr lang="en-US" i="1" dirty="0" err="1"/>
                  <a:t>i</a:t>
                </a:r>
                <a:r>
                  <a:rPr lang="en-US" dirty="0"/>
                  <a:t>,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</a:t>
                </a:r>
                <a:r>
                  <a:rPr lang="en-US" i="1" dirty="0"/>
                  <a:t>n</a:t>
                </a:r>
                <a:r>
                  <a:rPr lang="en-US" dirty="0"/>
                  <a:t> – 1  </a:t>
                </a:r>
                <a:r>
                  <a:rPr lang="en-US" dirty="0">
                    <a:sym typeface="Symbol" panose="05050102010706020507" pitchFamily="18" charset="2"/>
                  </a:rPr>
                  <a:t>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 = </a:t>
                </a:r>
                <a:r>
                  <a:rPr lang="en-US" i="1" dirty="0"/>
                  <a:t>n</a:t>
                </a:r>
                <a:r>
                  <a:rPr lang="en-US" dirty="0"/>
                  <a:t> – 1 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</a:t>
                </a:r>
                <a:r>
                  <a:rPr lang="en-US" i="1" dirty="0"/>
                  <a:t>n</a:t>
                </a:r>
                <a:r>
                  <a:rPr lang="en-US" dirty="0"/>
                  <a:t> – 2  </a:t>
                </a:r>
                <a:r>
                  <a:rPr lang="en-US" dirty="0">
                    <a:sym typeface="Symbol" panose="05050102010706020507" pitchFamily="18" charset="2"/>
                  </a:rPr>
                  <a:t>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=  </a:t>
                </a:r>
                <a:r>
                  <a:rPr lang="en-US" i="1" dirty="0"/>
                  <a:t>n </a:t>
                </a:r>
                <a:r>
                  <a:rPr lang="en-US" dirty="0"/>
                  <a:t>– 2 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</a:t>
                </a:r>
                <a:r>
                  <a:rPr lang="en-US" i="1" dirty="0"/>
                  <a:t>n</a:t>
                </a:r>
                <a:r>
                  <a:rPr lang="en-US" dirty="0"/>
                  <a:t> – 3  </a:t>
                </a:r>
                <a:r>
                  <a:rPr lang="en-US" dirty="0">
                    <a:sym typeface="Symbol" panose="05050102010706020507" pitchFamily="18" charset="2"/>
                  </a:rPr>
                  <a:t>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=  </a:t>
                </a:r>
                <a:r>
                  <a:rPr lang="en-US" i="1" dirty="0"/>
                  <a:t>n</a:t>
                </a:r>
                <a:r>
                  <a:rPr lang="en-US" dirty="0"/>
                  <a:t> – 3  </a:t>
                </a:r>
              </a:p>
              <a:p>
                <a:pPr marL="0" indent="0">
                  <a:buNone/>
                </a:pPr>
                <a:r>
                  <a:rPr lang="en-US" dirty="0"/>
                  <a:t>	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i</a:t>
                </a:r>
                <a:r>
                  <a:rPr lang="en-US" dirty="0"/>
                  <a:t> = 1        </a:t>
                </a:r>
                <a:r>
                  <a:rPr lang="en-US" dirty="0">
                    <a:sym typeface="Symbol" panose="05050102010706020507" pitchFamily="18" charset="2"/>
                  </a:rPr>
                  <a:t></a:t>
                </a:r>
                <a:r>
                  <a:rPr lang="en-US" dirty="0"/>
                  <a:t> 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= 1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seluruh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</a:t>
                </a:r>
                <a:r>
                  <a:rPr lang="en-US" dirty="0" err="1"/>
                  <a:t>elemen-elemen</a:t>
                </a:r>
                <a:r>
                  <a:rPr lang="en-US" dirty="0"/>
                  <a:t> </a:t>
                </a:r>
                <a:r>
                  <a:rPr lang="en-US" dirty="0" err="1"/>
                  <a:t>larik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) = (</a:t>
                </a:r>
                <a:r>
                  <a:rPr lang="en-US" i="1" dirty="0"/>
                  <a:t>n</a:t>
                </a:r>
                <a:r>
                  <a:rPr lang="en-US" dirty="0"/>
                  <a:t> – 1) + (</a:t>
                </a:r>
                <a:r>
                  <a:rPr lang="en-US" i="1" dirty="0"/>
                  <a:t>n</a:t>
                </a:r>
                <a:r>
                  <a:rPr lang="en-US" dirty="0"/>
                  <a:t> – 2) + … + 2 + 1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3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300" dirty="0"/>
                  <a:t>        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396875" indent="-396875">
                  <a:buNone/>
                </a:pPr>
                <a:r>
                  <a:rPr lang="en-US" dirty="0"/>
                  <a:t>     </a:t>
                </a:r>
                <a:r>
                  <a:rPr lang="en-US" dirty="0" err="1"/>
                  <a:t>Ini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kompleksitas</a:t>
                </a:r>
                <a:r>
                  <a:rPr lang="en-US" dirty="0"/>
                  <a:t> </a:t>
                </a:r>
                <a:r>
                  <a:rPr lang="en-US" dirty="0" err="1"/>
                  <a:t>waktu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terbaik</a:t>
                </a:r>
                <a:r>
                  <a:rPr lang="en-US" dirty="0"/>
                  <a:t> dan </a:t>
                </a:r>
                <a:r>
                  <a:rPr lang="en-US" dirty="0" err="1"/>
                  <a:t>terburuk</a:t>
                </a:r>
                <a:r>
                  <a:rPr lang="en-US" dirty="0"/>
                  <a:t>, </a:t>
                </a:r>
                <a:r>
                  <a:rPr lang="en-US" dirty="0" err="1"/>
                  <a:t>karena</a:t>
                </a:r>
                <a:r>
                  <a:rPr lang="en-US" dirty="0"/>
                  <a:t> </a:t>
                </a:r>
                <a:r>
                  <a:rPr lang="en-US" dirty="0" err="1"/>
                  <a:t>algoritma</a:t>
                </a:r>
                <a:r>
                  <a:rPr lang="en-US" dirty="0"/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BubbleSort</a:t>
                </a:r>
                <a:r>
                  <a:rPr lang="en-US" dirty="0"/>
                  <a:t>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bergantung</a:t>
                </a:r>
                <a:r>
                  <a:rPr lang="en-US" dirty="0"/>
                  <a:t> pada </a:t>
                </a:r>
                <a:r>
                  <a:rPr lang="en-US" dirty="0" err="1"/>
                  <a:t>apakah</a:t>
                </a:r>
                <a:r>
                  <a:rPr lang="en-US" dirty="0"/>
                  <a:t> data </a:t>
                </a:r>
                <a:r>
                  <a:rPr lang="en-US" dirty="0" err="1"/>
                  <a:t>masukannya</a:t>
                </a:r>
                <a:r>
                  <a:rPr lang="en-US" dirty="0"/>
                  <a:t> </a:t>
                </a:r>
                <a:r>
                  <a:rPr lang="en-US" dirty="0" err="1"/>
                  <a:t>sudah</a:t>
                </a:r>
                <a:r>
                  <a:rPr lang="en-US" dirty="0"/>
                  <a:t> </a:t>
                </a:r>
                <a:r>
                  <a:rPr lang="en-US" dirty="0" err="1"/>
                  <a:t>terurut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acak</a:t>
                </a:r>
                <a:r>
                  <a:rPr lang="en-US" dirty="0"/>
                  <a:t>.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</a:t>
                </a:r>
                <a:r>
                  <a:rPr lang="en-US" dirty="0" err="1"/>
                  <a:t>sama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i="1" dirty="0"/>
                  <a:t>selection sort.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6FBFB0-812E-4786-B86D-344EED871B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51840"/>
                <a:ext cx="10515600" cy="5425123"/>
              </a:xfrm>
              <a:blipFill>
                <a:blip r:embed="rId4"/>
                <a:stretch>
                  <a:fillRect l="-928" t="-2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7837958-F39C-46F3-89C3-24A46D0316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607" y="1239520"/>
            <a:ext cx="3305595" cy="242982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2A693-ABDB-AFC4-5BD8-C4FB24CA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0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E93C2-6A7A-44B6-9277-8D834ADA21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77520"/>
                <a:ext cx="10662920" cy="611632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(ii) </a:t>
                </a:r>
                <a:r>
                  <a:rPr lang="en-US" b="1" dirty="0" err="1"/>
                  <a:t>Jumlah</a:t>
                </a:r>
                <a:r>
                  <a:rPr lang="en-US" b="1" dirty="0"/>
                  <a:t> </a:t>
                </a:r>
                <a:r>
                  <a:rPr lang="en-US" b="1" dirty="0" err="1"/>
                  <a:t>operasi</a:t>
                </a:r>
                <a:r>
                  <a:rPr lang="en-US" b="1" dirty="0"/>
                  <a:t> </a:t>
                </a:r>
                <a:r>
                  <a:rPr lang="en-US" b="1" dirty="0" err="1"/>
                  <a:t>pertukaran</a:t>
                </a:r>
                <a:r>
                  <a:rPr lang="en-US" b="1" dirty="0"/>
                  <a:t> (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temp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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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imin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imin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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temp</a:t>
                </a:r>
                <a:r>
                  <a:rPr lang="en-US" i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/>
                  <a:t>)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pertukaran</a:t>
                </a:r>
                <a:r>
                  <a:rPr lang="en-US" dirty="0"/>
                  <a:t> di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i="1" dirty="0"/>
                  <a:t>bubble sort  </a:t>
                </a:r>
                <a:r>
                  <a:rPr lang="en-US" dirty="0" err="1"/>
                  <a:t>hanya</a:t>
                </a:r>
                <a:r>
                  <a:rPr lang="en-US" dirty="0"/>
                  <a:t> </a:t>
                </a:r>
                <a:r>
                  <a:rPr lang="en-US" dirty="0" err="1"/>
                  <a:t>dapat</a:t>
                </a:r>
                <a:r>
                  <a:rPr lang="en-US" dirty="0"/>
                  <a:t> </a:t>
                </a:r>
                <a:r>
                  <a:rPr lang="en-US" dirty="0" err="1"/>
                  <a:t>dihitung</a:t>
                </a:r>
                <a:r>
                  <a:rPr lang="en-US" dirty="0"/>
                  <a:t> pada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terbaik</a:t>
                </a:r>
                <a:r>
                  <a:rPr lang="en-US" dirty="0"/>
                  <a:t> dan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terburuk</a:t>
                </a:r>
                <a:r>
                  <a:rPr lang="en-US" dirty="0"/>
                  <a:t>.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terbaik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ada</a:t>
                </a:r>
                <a:r>
                  <a:rPr lang="en-US" dirty="0"/>
                  <a:t> </a:t>
                </a:r>
                <a:r>
                  <a:rPr lang="en-US" dirty="0" err="1"/>
                  <a:t>pertukaran</a:t>
                </a:r>
                <a:r>
                  <a:rPr lang="en-US" dirty="0"/>
                  <a:t> (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/>
                  <a:t>false), 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:r>
                  <a:rPr lang="en-US" dirty="0" err="1"/>
                  <a:t>semua</a:t>
                </a:r>
                <a:r>
                  <a:rPr lang="en-US" dirty="0"/>
                  <a:t> </a:t>
                </a:r>
                <a:r>
                  <a:rPr lang="en-US" dirty="0" err="1"/>
                  <a:t>elemen</a:t>
                </a:r>
                <a:r>
                  <a:rPr lang="en-US" dirty="0"/>
                  <a:t> </a:t>
                </a:r>
                <a:r>
                  <a:rPr lang="en-US" dirty="0" err="1"/>
                  <a:t>larik</a:t>
                </a:r>
                <a:r>
                  <a:rPr lang="en-US" dirty="0"/>
                  <a:t> pada </a:t>
                </a:r>
                <a:r>
                  <a:rPr lang="en-US" dirty="0" err="1"/>
                  <a:t>awalnya</a:t>
                </a:r>
                <a:r>
                  <a:rPr lang="en-US" dirty="0"/>
                  <a:t> </a:t>
                </a:r>
                <a:r>
                  <a:rPr lang="en-US" dirty="0" err="1"/>
                  <a:t>sudah</a:t>
                </a:r>
                <a:r>
                  <a:rPr lang="en-US" dirty="0"/>
                  <a:t> </a:t>
                </a:r>
                <a:r>
                  <a:rPr lang="en-US" dirty="0" err="1"/>
                  <a:t>terurut</a:t>
                </a:r>
                <a:r>
                  <a:rPr lang="en-US" dirty="0"/>
                  <a:t> </a:t>
                </a:r>
                <a:r>
                  <a:rPr lang="en-US" dirty="0" err="1"/>
                  <a:t>menaik</a:t>
                </a:r>
                <a:r>
                  <a:rPr lang="en-US" dirty="0"/>
                  <a:t>, </a:t>
                </a:r>
                <a:r>
                  <a:rPr lang="en-US" dirty="0" err="1"/>
                  <a:t>sehingga</a:t>
                </a:r>
                <a:r>
                  <a:rPr lang="en-US" dirty="0"/>
                  <a:t> 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dirty="0"/>
                  <a:t>	</a:t>
                </a:r>
                <a:r>
                  <a:rPr lang="en-US" i="1" dirty="0" err="1"/>
                  <a:t>T</a:t>
                </a:r>
                <a:r>
                  <a:rPr lang="en-US" i="1" baseline="-25000" dirty="0" err="1"/>
                  <a:t>min</a:t>
                </a:r>
                <a:r>
                  <a:rPr lang="en-US" dirty="0"/>
                  <a:t> (</a:t>
                </a:r>
                <a:r>
                  <a:rPr lang="en-US" i="1" dirty="0"/>
                  <a:t>n</a:t>
                </a:r>
                <a:r>
                  <a:rPr lang="en-US" dirty="0"/>
                  <a:t>) = 0.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Pada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terburuk</a:t>
                </a:r>
                <a:r>
                  <a:rPr lang="en-US" dirty="0"/>
                  <a:t>, (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</a:t>
                </a: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&lt; </a:t>
                </a:r>
                <a:r>
                  <a:rPr lang="en-US" i="1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aseline="-25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/>
                  <a:t>bernilai</a:t>
                </a:r>
                <a:r>
                  <a:rPr lang="en-US" dirty="0"/>
                  <a:t> true), </a:t>
                </a:r>
                <a:r>
                  <a:rPr lang="en-US" dirty="0" err="1"/>
                  <a:t>pertukaran</a:t>
                </a:r>
                <a:r>
                  <a:rPr lang="en-US" dirty="0"/>
                  <a:t> </a:t>
                </a:r>
                <a:r>
                  <a:rPr lang="en-US" dirty="0" err="1"/>
                  <a:t>elemen</a:t>
                </a:r>
                <a:r>
                  <a:rPr lang="en-US" dirty="0"/>
                  <a:t> </a:t>
                </a:r>
                <a:r>
                  <a:rPr lang="en-US" dirty="0" err="1"/>
                  <a:t>selalu</a:t>
                </a:r>
                <a:r>
                  <a:rPr lang="en-US" dirty="0"/>
                  <a:t> </a:t>
                </a:r>
                <a:r>
                  <a:rPr lang="en-US" dirty="0" err="1"/>
                  <a:t>dilakukan</a:t>
                </a:r>
                <a:r>
                  <a:rPr lang="en-US" dirty="0"/>
                  <a:t>. </a:t>
                </a:r>
                <a:r>
                  <a:rPr lang="en-US" dirty="0" err="1"/>
                  <a:t>Jadi</a:t>
                </a:r>
                <a:r>
                  <a:rPr lang="en-US" dirty="0"/>
                  <a:t>,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pertukaran</a:t>
                </a:r>
                <a:r>
                  <a:rPr lang="en-US" dirty="0"/>
                  <a:t> </a:t>
                </a:r>
                <a:r>
                  <a:rPr lang="en-US" dirty="0" err="1"/>
                  <a:t>elemen</a:t>
                </a:r>
                <a:r>
                  <a:rPr lang="en-US" dirty="0"/>
                  <a:t> pada </a:t>
                </a:r>
                <a:r>
                  <a:rPr lang="en-US" dirty="0" err="1"/>
                  <a:t>kasus</a:t>
                </a:r>
                <a:r>
                  <a:rPr lang="en-US" dirty="0"/>
                  <a:t> </a:t>
                </a:r>
                <a:r>
                  <a:rPr lang="en-US" dirty="0" err="1"/>
                  <a:t>terburuk</a:t>
                </a:r>
                <a:r>
                  <a:rPr lang="en-US" dirty="0"/>
                  <a:t> </a:t>
                </a:r>
                <a:r>
                  <a:rPr lang="en-US" dirty="0" err="1"/>
                  <a:t>sama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jumlah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perbandingan</a:t>
                </a:r>
                <a:r>
                  <a:rPr lang="en-US" dirty="0"/>
                  <a:t> </a:t>
                </a:r>
                <a:r>
                  <a:rPr lang="en-US" dirty="0" err="1"/>
                  <a:t>elemen-elemen</a:t>
                </a:r>
                <a:r>
                  <a:rPr lang="en-US" dirty="0"/>
                  <a:t> </a:t>
                </a:r>
                <a:r>
                  <a:rPr lang="en-US" dirty="0" err="1"/>
                  <a:t>larik</a:t>
                </a:r>
                <a:r>
                  <a:rPr lang="en-US" dirty="0"/>
                  <a:t>, </a:t>
                </a:r>
                <a:r>
                  <a:rPr lang="en-US" dirty="0" err="1"/>
                  <a:t>yaitu</a:t>
                </a: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457200" lvl="1" indent="0">
                  <a:buNone/>
                </a:pPr>
                <a:r>
                  <a:rPr lang="en-US" sz="2800" i="1" dirty="0"/>
                  <a:t>           </a:t>
                </a:r>
                <a:r>
                  <a:rPr lang="en-US" sz="2800" i="1" dirty="0" err="1"/>
                  <a:t>T</a:t>
                </a:r>
                <a:r>
                  <a:rPr lang="en-US" sz="2800" i="1" baseline="-25000" dirty="0" err="1"/>
                  <a:t>max</a:t>
                </a:r>
                <a:r>
                  <a:rPr lang="en-US" sz="2800" dirty="0"/>
                  <a:t>(</a:t>
                </a:r>
                <a:r>
                  <a:rPr lang="en-US" sz="2800" i="1" dirty="0"/>
                  <a:t>n</a:t>
                </a:r>
                <a:r>
                  <a:rPr lang="en-US" sz="2800" dirty="0"/>
                  <a:t>) = (</a:t>
                </a:r>
                <a:r>
                  <a:rPr lang="en-US" sz="2800" i="1" dirty="0"/>
                  <a:t>n</a:t>
                </a:r>
                <a:r>
                  <a:rPr lang="en-US" sz="2800" dirty="0"/>
                  <a:t> – 1) + (</a:t>
                </a:r>
                <a:r>
                  <a:rPr lang="en-US" sz="2800" i="1" dirty="0"/>
                  <a:t>n</a:t>
                </a:r>
                <a:r>
                  <a:rPr lang="en-US" sz="2800" dirty="0"/>
                  <a:t> – 2) + … + 2 + 1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300" dirty="0"/>
                  <a:t>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r>
                  <a:rPr lang="en-US" dirty="0" err="1"/>
                  <a:t>Jadi</a:t>
                </a:r>
                <a:r>
                  <a:rPr lang="en-US" dirty="0"/>
                  <a:t>, </a:t>
                </a:r>
                <a:r>
                  <a:rPr lang="en-US" dirty="0" err="1"/>
                  <a:t>algoritma</a:t>
                </a:r>
                <a:r>
                  <a:rPr lang="en-US" dirty="0"/>
                  <a:t> </a:t>
                </a:r>
                <a:r>
                  <a:rPr lang="en-US" dirty="0" err="1"/>
                  <a:t>pengurutan</a:t>
                </a:r>
                <a:r>
                  <a:rPr lang="en-US" dirty="0"/>
                  <a:t> </a:t>
                </a:r>
                <a:r>
                  <a:rPr lang="en-US" i="1" dirty="0"/>
                  <a:t>bubble sort </a:t>
                </a:r>
                <a:r>
                  <a:rPr lang="en-US" dirty="0" err="1"/>
                  <a:t>membutuhkan</a:t>
                </a:r>
                <a:r>
                  <a:rPr lang="en-US" dirty="0"/>
                  <a:t> </a:t>
                </a:r>
                <a:r>
                  <a:rPr lang="en-US" i="1" dirty="0"/>
                  <a:t>n</a:t>
                </a:r>
                <a:r>
                  <a:rPr lang="en-US" dirty="0"/>
                  <a:t>(</a:t>
                </a:r>
                <a:r>
                  <a:rPr lang="en-US" i="1" dirty="0"/>
                  <a:t>n</a:t>
                </a:r>
                <a:r>
                  <a:rPr lang="en-US" dirty="0"/>
                  <a:t> – 1 )/2 </a:t>
                </a:r>
                <a:r>
                  <a:rPr lang="en-US" dirty="0" err="1"/>
                  <a:t>buah</a:t>
                </a:r>
                <a:r>
                  <a:rPr lang="en-US" dirty="0"/>
                  <a:t> </a:t>
                </a:r>
                <a:r>
                  <a:rPr lang="en-US" dirty="0" err="1"/>
                  <a:t>operasi</a:t>
                </a:r>
                <a:r>
                  <a:rPr lang="en-US" dirty="0"/>
                  <a:t> </a:t>
                </a:r>
                <a:r>
                  <a:rPr lang="en-US" dirty="0" err="1"/>
                  <a:t>pertukaran</a:t>
                </a:r>
                <a:r>
                  <a:rPr lang="en-US" dirty="0"/>
                  <a:t>, </a:t>
                </a:r>
                <a:r>
                  <a:rPr lang="en-US" dirty="0" err="1"/>
                  <a:t>lebih</a:t>
                </a:r>
                <a:r>
                  <a:rPr lang="en-US" dirty="0"/>
                  <a:t> </a:t>
                </a:r>
                <a:r>
                  <a:rPr lang="en-US" dirty="0" err="1"/>
                  <a:t>banyak</a:t>
                </a:r>
                <a:r>
                  <a:rPr lang="en-US" dirty="0"/>
                  <a:t> </a:t>
                </a:r>
                <a:r>
                  <a:rPr lang="en-US" dirty="0" err="1"/>
                  <a:t>daripada</a:t>
                </a:r>
                <a:r>
                  <a:rPr lang="en-US" dirty="0"/>
                  <a:t> </a:t>
                </a:r>
                <a:r>
                  <a:rPr lang="en-US" dirty="0" err="1"/>
                  <a:t>algoritma</a:t>
                </a:r>
                <a:r>
                  <a:rPr lang="en-US" dirty="0"/>
                  <a:t> </a:t>
                </a:r>
                <a:r>
                  <a:rPr lang="en-US" i="1" dirty="0"/>
                  <a:t>selection sort</a:t>
                </a:r>
                <a:r>
                  <a:rPr lang="en-US" dirty="0"/>
                  <a:t>. </a:t>
                </a:r>
                <a:r>
                  <a:rPr lang="en-US" dirty="0" err="1"/>
                  <a:t>Ini</a:t>
                </a:r>
                <a:r>
                  <a:rPr lang="en-US" dirty="0"/>
                  <a:t> </a:t>
                </a:r>
                <a:r>
                  <a:rPr lang="en-US" dirty="0" err="1"/>
                  <a:t>berarti</a:t>
                </a:r>
                <a:r>
                  <a:rPr lang="en-US" dirty="0"/>
                  <a:t> </a:t>
                </a:r>
                <a:r>
                  <a:rPr lang="en-US" dirty="0" err="1"/>
                  <a:t>secara</a:t>
                </a:r>
                <a:r>
                  <a:rPr lang="en-US" dirty="0"/>
                  <a:t> </a:t>
                </a:r>
                <a:r>
                  <a:rPr lang="en-US" dirty="0" err="1"/>
                  <a:t>keseluruhan</a:t>
                </a:r>
                <a:r>
                  <a:rPr lang="en-US" dirty="0"/>
                  <a:t> </a:t>
                </a:r>
                <a:r>
                  <a:rPr lang="en-US" i="1" dirty="0"/>
                  <a:t>bubble sort </a:t>
                </a:r>
                <a:r>
                  <a:rPr lang="en-US" dirty="0" err="1"/>
                  <a:t>lebih</a:t>
                </a:r>
                <a:r>
                  <a:rPr lang="en-US" dirty="0"/>
                  <a:t> </a:t>
                </a:r>
                <a:r>
                  <a:rPr lang="en-US" dirty="0" err="1"/>
                  <a:t>buruk</a:t>
                </a:r>
                <a:r>
                  <a:rPr lang="en-US" dirty="0"/>
                  <a:t> </a:t>
                </a:r>
                <a:r>
                  <a:rPr lang="en-US" dirty="0" err="1"/>
                  <a:t>daripada</a:t>
                </a:r>
                <a:r>
                  <a:rPr lang="en-US" dirty="0"/>
                  <a:t> </a:t>
                </a:r>
                <a:r>
                  <a:rPr lang="en-US" i="1" dirty="0"/>
                  <a:t>selection sort</a:t>
                </a:r>
                <a:r>
                  <a:rPr lang="en-US" dirty="0"/>
                  <a:t>.			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E93C2-6A7A-44B6-9277-8D834ADA2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77520"/>
                <a:ext cx="10662920" cy="6116320"/>
              </a:xfrm>
              <a:blipFill>
                <a:blip r:embed="rId4"/>
                <a:stretch>
                  <a:fillRect l="-915" t="-2490" r="-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A4E1F-B7D0-7FE5-D9E6-24DB3CB1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17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BA096-E6F5-4C30-A68B-9401192E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/>
              <a:t>Bersambung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/>
              <a:t> Bagian 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90A7D-1516-47CE-9ADD-C2DEF6AA1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03E85-5BEF-EC71-3AD6-B20A1C50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682AD-456C-47DE-9CE8-0452BDFC4A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75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</TotalTime>
  <Words>2083</Words>
  <Application>Microsoft Office PowerPoint</Application>
  <PresentationFormat>Widescreen</PresentationFormat>
  <Paragraphs>244</Paragraphs>
  <Slides>23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Visio</vt:lpstr>
      <vt:lpstr>Document</vt:lpstr>
      <vt:lpstr>Kompleksitas Algoritma (Bagian 1)</vt:lpstr>
      <vt:lpstr>PowerPoint Presentation</vt:lpstr>
      <vt:lpstr>Pendahuluan</vt:lpstr>
      <vt:lpstr>PowerPoint Presentation</vt:lpstr>
      <vt:lpstr>PowerPoint Presentation</vt:lpstr>
      <vt:lpstr>Model Perhitungan Kebutuhan Waktu</vt:lpstr>
      <vt:lpstr>PowerPoint Presentation</vt:lpstr>
      <vt:lpstr>PowerPoint Presentation</vt:lpstr>
      <vt:lpstr>PowerPoint Presentation</vt:lpstr>
      <vt:lpstr>Kompleksitas Waktu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Bersambung ke Bagian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25-Kompleksitas Algoritma Bagian 1 - 2024</dc:title>
  <dc:creator>Rinaldi Munir</dc:creator>
  <cp:lastModifiedBy>Binti Kholifah</cp:lastModifiedBy>
  <cp:revision>66</cp:revision>
  <dcterms:created xsi:type="dcterms:W3CDTF">2020-11-24T03:52:50Z</dcterms:created>
  <dcterms:modified xsi:type="dcterms:W3CDTF">2026-05-07T02:14:38Z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2024-12-06T07:43:37Z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4ea1c56e-6ccf-4de5-b8a6-79a6c25c7693</vt:lpwstr>
  </property>
  <property fmtid="{D5CDD505-2E9C-101B-9397-08002B2CF9AE}" pid="8" name="MSIP_Label_38b525e5-f3da-4501-8f1e-526b6769fc56_ContentBits">
    <vt:lpwstr>0</vt:lpwstr>
  </property>
</Properties>
</file>