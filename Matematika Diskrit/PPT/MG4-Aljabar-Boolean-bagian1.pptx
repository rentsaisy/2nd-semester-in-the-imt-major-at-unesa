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7" r:id="rId2"/>
    <p:sldId id="258" r:id="rId3"/>
    <p:sldId id="336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  <p:sldId id="337" r:id="rId13"/>
    <p:sldId id="341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338" r:id="rId28"/>
    <p:sldId id="339" r:id="rId29"/>
    <p:sldId id="280" r:id="rId30"/>
    <p:sldId id="281" r:id="rId31"/>
    <p:sldId id="282" r:id="rId32"/>
    <p:sldId id="340" r:id="rId33"/>
    <p:sldId id="283" r:id="rId34"/>
    <p:sldId id="335" r:id="rId35"/>
    <p:sldId id="342" r:id="rId36"/>
    <p:sldId id="343" r:id="rId37"/>
    <p:sldId id="344" r:id="rId38"/>
    <p:sldId id="345" r:id="rId39"/>
    <p:sldId id="346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9E2237-4226-405F-B90F-248A0257DD0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20CDF-6AEC-49C7-A787-07924CE0B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52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B9429-CC67-4DE4-979E-AC4EF4E6589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71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B9429-CC67-4DE4-979E-AC4EF4E6589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34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DAB96-1A25-46A0-A3F9-398340997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8C27E1-20E1-4E2E-9E94-C73320F04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F4E4C-B78B-404D-8DE4-3852972A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C353-366D-47E4-BC52-9FDFED7B1C34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DAB4D-8E77-424F-A220-36A1976A5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IF2120 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71DC4-48EB-4E2E-A56F-5A217B2D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4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7AF56-1507-436D-9E71-062EACD6F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2DBF5-1E45-4E71-A80E-16DB4D488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24ADF-7D91-4386-89F4-94EF26829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33A3-E5E1-408B-99E4-36A16260B4A6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43E9D-6533-4866-BDD0-096FCEA18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IF2120 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58B15-2E51-47B5-8D31-7D2B3EB0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81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F7AAD-D0C6-4E57-86E2-00DA612F1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6DC05-E722-4553-AA4A-9669F9C2A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12F06-6C37-44FC-8B3C-20302D61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E9CF-7C11-4697-ACA0-EE3B9E1A2B08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0E425-1EBA-458D-8A8A-2FEF3E0D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IF2120 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62FFE-2EB5-4217-B511-957A0A1E2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66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3E16E-621E-4623-A23C-62573AF7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6FA7D-77C5-4BCF-9F82-ECA1A15C9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06F2F-86F4-4C50-8FEF-77D852B87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1DCD9-0D02-464A-83C3-83181F05E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CDC5-03F6-419D-BEE7-E7240A56EF58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E78C6-A960-4FD6-8332-49F5F0767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IF2120  Matematika Diskrit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A4FD7-5032-4C17-8126-23335E71B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4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3AA72-9642-4DCD-9FF4-FF908BA4C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4C4DD-8361-4D13-A893-8BFC55716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B0685-8A85-4F3D-BF40-CB187D170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69810-72FF-471D-9CA7-2ABE44D04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1E7F25-CB99-4DB3-88DD-02532009E5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85A417-1B15-4487-A6B2-526E115A3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0ED84-B6B8-4E32-914B-06B0029FBA91}" type="datetime1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3FC2C5-9277-4B19-BE3C-28E0EC578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IF2120  Matematika Diskrit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475F43-02C9-4FDF-A48C-17A1C5D45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7E76-56DE-40A7-9B88-B4C0EEB4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990318-2B47-41F2-B77C-87B98C4E3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4771-E1E1-4EAF-A0F3-3374FA647491}" type="datetime1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BD09E4-C05C-436E-9565-A85DDE7FE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IF2120  Matematika Diskrit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657DB-74C6-4C08-81B1-56AF189D6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82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54491A-352E-4034-BE3F-99E365D8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E688-E24A-49E2-B524-A85D9113BCA2}" type="datetime1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34B960-758A-4571-9D5B-900F5B682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IF2120  Matematika Diskrit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0A6E2-9E17-419C-BBBB-B04ECF7B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74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F9A94-7367-43F2-A36A-80579A87C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A50DB-B2E3-4569-BAC8-EC9021976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95919-D3F0-42B1-93FE-68210B5F9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7AF57-5F26-4EF3-9CF2-25F1F8699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2681-D8D9-4FDD-B43E-7AEE0A6136D0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54E41-374F-4ABD-93E5-90DEFAF5A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IF2120  Matematika Diskrit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0006C-9DC3-40BD-9B86-66D6E5E12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27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8205-2A4F-4F7A-AFCB-B53216FB0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E26428-0CCC-4791-82F4-64DAB6DCC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CFFDE-C498-414A-89C7-1AFC320A1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667AA-F827-43E0-88CA-FFFA6DD0A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43CE3-FFC4-493C-990C-0D56E55528E8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3A39E-D3D0-4DA8-99D7-6EF90A424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IF2120  Matematika Diskrit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7B4FE-4AB7-4D26-AFF2-3E72CFBCB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64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AB0BB-5FBC-439F-B8BB-C45ECCA1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49A8E-6135-4D83-8360-2C25E81F9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5ED3D-BA04-45AA-800E-C1539D40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3D6FC-A9D7-414B-B31D-684E203A5EE0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A0C4B-D6F1-4BE8-A6F3-B49F01985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IF2120 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03D7B-3DCE-4526-B368-C9C3B0E74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1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C0F996-9D61-4381-BABB-5CE8218E0D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4A03EF-C469-4949-BBF0-E493A46CD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A3158-8ECE-46C1-BFFE-37227E4D7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B2AC-D032-4034-B0B8-2E37B20BD942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29631-C450-4690-8F16-B4CEB3EC3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IF2120 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EEB76-34F9-4057-8F0A-5A187422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105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CED00-C158-41D5-A623-85BCDD00D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F84C8-1966-4186-9072-01CF31D57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23ED0-CEBB-4EC6-BA02-25675085D1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B1F74-491B-4418-99A8-7C69DE6589C0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C1B19-2043-48AB-B3D9-2D50914A3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Rinaldi Munir - IF2120 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F112B-D43F-4D76-865A-3948432DB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917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2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gi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0226" y="1219201"/>
            <a:ext cx="8077200" cy="1949450"/>
          </a:xfrm>
        </p:spPr>
        <p:txBody>
          <a:bodyPr>
            <a:normAutofit fontScale="90000"/>
          </a:bodyPr>
          <a:lstStyle/>
          <a:p>
            <a:r>
              <a:rPr lang="en-US" sz="7200" b="1" dirty="0" err="1"/>
              <a:t>Aljabar</a:t>
            </a:r>
            <a:r>
              <a:rPr lang="en-US" sz="7200" b="1" dirty="0"/>
              <a:t> Boolean </a:t>
            </a:r>
            <a:br>
              <a:rPr lang="en-US" sz="7200" b="1" dirty="0"/>
            </a:br>
            <a:r>
              <a:rPr lang="en-US" sz="7200" b="1" dirty="0"/>
              <a:t>(Bag.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9399-CFCF-4275-804F-E2CC1C7438E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032FEA6-9306-24D9-4E73-E9A3184D0A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3851565"/>
            <a:ext cx="9144000" cy="954107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Bahan</a:t>
            </a:r>
            <a:r>
              <a:rPr lang="en-US" altLang="en-US" dirty="0"/>
              <a:t> </a:t>
            </a:r>
            <a:r>
              <a:rPr lang="en-US" altLang="en-US" dirty="0" err="1"/>
              <a:t>Kuliah</a:t>
            </a:r>
            <a:r>
              <a:rPr lang="en-US" altLang="en-US" dirty="0"/>
              <a:t> </a:t>
            </a:r>
          </a:p>
          <a:p>
            <a:pPr eaLnBrk="1" hangingPunct="1"/>
            <a:r>
              <a:rPr lang="en-US" altLang="en-US" dirty="0" err="1"/>
              <a:t>Matematika</a:t>
            </a:r>
            <a:r>
              <a:rPr lang="en-US" altLang="en-US" dirty="0"/>
              <a:t> </a:t>
            </a:r>
            <a:r>
              <a:rPr lang="en-US" altLang="en-US" dirty="0" err="1"/>
              <a:t>Diskrit</a:t>
            </a:r>
            <a:endParaRPr lang="en-US" altLang="en-US" dirty="0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C097991-ABC5-416D-43B1-88F09C8AD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689" y="5134929"/>
            <a:ext cx="737253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800" b="1" dirty="0"/>
              <a:t>Program Studi </a:t>
            </a:r>
            <a:r>
              <a:rPr lang="en-US" altLang="en-US" sz="2800" b="1" dirty="0" err="1"/>
              <a:t>Manajemen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Informatika</a:t>
            </a:r>
            <a:r>
              <a:rPr lang="en-US" altLang="en-US" sz="2800" b="1" dirty="0"/>
              <a:t> </a:t>
            </a:r>
          </a:p>
          <a:p>
            <a:pPr algn="ctr" eaLnBrk="1" hangingPunct="1"/>
            <a:r>
              <a:rPr lang="en-US" altLang="en-US" sz="2800" b="1" dirty="0" err="1"/>
              <a:t>Fakultas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Vokasi</a:t>
            </a:r>
            <a:r>
              <a:rPr lang="en-US" altLang="en-US" sz="2800" b="1" dirty="0"/>
              <a:t> - UNESA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Pengantar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365" y="1600200"/>
            <a:ext cx="10270435" cy="4756150"/>
          </a:xfrm>
        </p:spPr>
        <p:txBody>
          <a:bodyPr>
            <a:normAutofit fontScale="77500" lnSpcReduction="20000"/>
          </a:bodyPr>
          <a:lstStyle/>
          <a:p>
            <a:r>
              <a:rPr lang="en-US" sz="3000" dirty="0" err="1"/>
              <a:t>Aljabar</a:t>
            </a:r>
            <a:r>
              <a:rPr lang="en-US" sz="3000" dirty="0"/>
              <a:t> Boolean </a:t>
            </a:r>
            <a:r>
              <a:rPr lang="en-US" sz="3000" dirty="0" err="1"/>
              <a:t>ditemukan</a:t>
            </a:r>
            <a:r>
              <a:rPr lang="en-US" sz="3000" dirty="0"/>
              <a:t> </a:t>
            </a:r>
            <a:r>
              <a:rPr lang="en-US" sz="3000" dirty="0" err="1"/>
              <a:t>oleh</a:t>
            </a:r>
            <a:r>
              <a:rPr lang="en-US" sz="3000" dirty="0"/>
              <a:t> George Boole, </a:t>
            </a:r>
            <a:r>
              <a:rPr lang="en-US" sz="3000" dirty="0" err="1"/>
              <a:t>pada</a:t>
            </a:r>
            <a:r>
              <a:rPr lang="en-US" sz="3000" dirty="0"/>
              <a:t> </a:t>
            </a:r>
            <a:r>
              <a:rPr lang="en-US" sz="3000" dirty="0" err="1"/>
              <a:t>tahun</a:t>
            </a:r>
            <a:r>
              <a:rPr lang="en-US" sz="3000" dirty="0"/>
              <a:t> 1854.</a:t>
            </a:r>
          </a:p>
          <a:p>
            <a:endParaRPr lang="en-US" sz="3000" dirty="0"/>
          </a:p>
          <a:p>
            <a:r>
              <a:rPr lang="en-US" sz="3000" dirty="0"/>
              <a:t>Boole </a:t>
            </a:r>
            <a:r>
              <a:rPr lang="en-US" sz="3000" dirty="0" err="1"/>
              <a:t>melihat</a:t>
            </a:r>
            <a:r>
              <a:rPr lang="en-US" sz="3000" dirty="0"/>
              <a:t> </a:t>
            </a:r>
            <a:r>
              <a:rPr lang="en-US" sz="3000" dirty="0" err="1"/>
              <a:t>bahwa</a:t>
            </a:r>
            <a:r>
              <a:rPr lang="en-US" sz="3000" dirty="0"/>
              <a:t> </a:t>
            </a:r>
            <a:r>
              <a:rPr lang="en-US" sz="3000" dirty="0" err="1"/>
              <a:t>himpunan</a:t>
            </a:r>
            <a:r>
              <a:rPr lang="en-US" sz="3000" dirty="0"/>
              <a:t> </a:t>
            </a:r>
            <a:r>
              <a:rPr lang="en-US" sz="3000" dirty="0" err="1"/>
              <a:t>dan</a:t>
            </a:r>
            <a:r>
              <a:rPr lang="en-US" sz="3000" dirty="0"/>
              <a:t> </a:t>
            </a:r>
            <a:r>
              <a:rPr lang="en-US" sz="3000" dirty="0" err="1"/>
              <a:t>logika</a:t>
            </a:r>
            <a:r>
              <a:rPr lang="en-US" sz="3000" dirty="0"/>
              <a:t> </a:t>
            </a:r>
            <a:r>
              <a:rPr lang="en-US" sz="3000" dirty="0" err="1"/>
              <a:t>proposisi</a:t>
            </a:r>
            <a:r>
              <a:rPr lang="en-US" sz="3000" dirty="0"/>
              <a:t> </a:t>
            </a:r>
            <a:r>
              <a:rPr lang="en-US" sz="3000" dirty="0" err="1"/>
              <a:t>mempunyai</a:t>
            </a:r>
            <a:r>
              <a:rPr lang="en-US" sz="3000" dirty="0"/>
              <a:t> </a:t>
            </a:r>
            <a:r>
              <a:rPr lang="en-US" sz="3000" dirty="0" err="1"/>
              <a:t>sifat-sifat</a:t>
            </a:r>
            <a:r>
              <a:rPr lang="en-US" sz="3000" dirty="0"/>
              <a:t> yang </a:t>
            </a:r>
            <a:r>
              <a:rPr lang="en-US" sz="3000" dirty="0" err="1"/>
              <a:t>serupa</a:t>
            </a:r>
            <a:r>
              <a:rPr lang="en-US" sz="3000" dirty="0"/>
              <a:t> (</a:t>
            </a:r>
            <a:r>
              <a:rPr lang="en-US" sz="3000" dirty="0" err="1"/>
              <a:t>perhatikan</a:t>
            </a:r>
            <a:r>
              <a:rPr lang="en-US" sz="3000" dirty="0"/>
              <a:t> </a:t>
            </a:r>
            <a:r>
              <a:rPr lang="en-US" sz="3000" dirty="0" err="1"/>
              <a:t>kemiripan</a:t>
            </a:r>
            <a:r>
              <a:rPr lang="en-US" sz="3000" dirty="0"/>
              <a:t> </a:t>
            </a:r>
            <a:r>
              <a:rPr lang="en-US" sz="3000" dirty="0" err="1"/>
              <a:t>hukum-hukum</a:t>
            </a:r>
            <a:r>
              <a:rPr lang="en-US" sz="3000" dirty="0"/>
              <a:t> </a:t>
            </a:r>
            <a:r>
              <a:rPr lang="en-US" sz="3000" dirty="0" err="1"/>
              <a:t>aljabar</a:t>
            </a:r>
            <a:r>
              <a:rPr lang="en-US" sz="3000" dirty="0"/>
              <a:t> </a:t>
            </a:r>
            <a:r>
              <a:rPr lang="en-US" sz="3000" dirty="0" err="1"/>
              <a:t>logika</a:t>
            </a:r>
            <a:r>
              <a:rPr lang="en-US" sz="3000" dirty="0"/>
              <a:t> </a:t>
            </a:r>
            <a:r>
              <a:rPr lang="en-US" sz="3000" dirty="0" err="1"/>
              <a:t>dan</a:t>
            </a:r>
            <a:r>
              <a:rPr lang="en-US" sz="3000" dirty="0"/>
              <a:t> </a:t>
            </a:r>
            <a:r>
              <a:rPr lang="en-US" sz="3000" dirty="0" err="1"/>
              <a:t>hukum-hukum</a:t>
            </a:r>
            <a:r>
              <a:rPr lang="en-US" sz="3000" dirty="0"/>
              <a:t> </a:t>
            </a:r>
            <a:r>
              <a:rPr lang="en-US" sz="3000" dirty="0" err="1"/>
              <a:t>aljabar</a:t>
            </a:r>
            <a:r>
              <a:rPr lang="en-US" sz="3000" dirty="0"/>
              <a:t> </a:t>
            </a:r>
            <a:r>
              <a:rPr lang="en-US" sz="3000" dirty="0" err="1"/>
              <a:t>himpunan</a:t>
            </a:r>
            <a:r>
              <a:rPr lang="en-US" sz="3000" dirty="0"/>
              <a:t>).</a:t>
            </a:r>
          </a:p>
          <a:p>
            <a:endParaRPr lang="en-US" sz="3000" dirty="0"/>
          </a:p>
          <a:p>
            <a:r>
              <a:rPr lang="en-US" sz="3000" dirty="0" err="1"/>
              <a:t>Dalam</a:t>
            </a:r>
            <a:r>
              <a:rPr lang="en-US" sz="3000" dirty="0"/>
              <a:t> </a:t>
            </a:r>
            <a:r>
              <a:rPr lang="en-US" sz="3000" dirty="0" err="1"/>
              <a:t>buku</a:t>
            </a:r>
            <a:r>
              <a:rPr lang="en-US" sz="3000" dirty="0"/>
              <a:t> </a:t>
            </a:r>
            <a:r>
              <a:rPr lang="en-US" sz="3000" i="1" dirty="0"/>
              <a:t>The Laws of Thought</a:t>
            </a:r>
            <a:r>
              <a:rPr lang="en-US" sz="3000" dirty="0"/>
              <a:t>, Boole </a:t>
            </a:r>
            <a:r>
              <a:rPr lang="en-US" sz="3000" dirty="0" err="1"/>
              <a:t>memaparkan</a:t>
            </a:r>
            <a:r>
              <a:rPr lang="en-US" sz="3000" dirty="0"/>
              <a:t> </a:t>
            </a:r>
            <a:r>
              <a:rPr lang="en-US" sz="3000" dirty="0" err="1"/>
              <a:t>aturan-aturan</a:t>
            </a:r>
            <a:r>
              <a:rPr lang="en-US" sz="3000" dirty="0"/>
              <a:t> </a:t>
            </a:r>
            <a:r>
              <a:rPr lang="en-US" sz="3000" dirty="0" err="1"/>
              <a:t>dasar</a:t>
            </a:r>
            <a:r>
              <a:rPr lang="en-US" sz="3000" dirty="0"/>
              <a:t> </a:t>
            </a:r>
            <a:r>
              <a:rPr lang="en-US" sz="3000" dirty="0" err="1"/>
              <a:t>logika</a:t>
            </a:r>
            <a:r>
              <a:rPr lang="en-US" sz="3000" dirty="0"/>
              <a:t>. </a:t>
            </a:r>
          </a:p>
          <a:p>
            <a:endParaRPr lang="en-US" sz="3000" dirty="0"/>
          </a:p>
          <a:p>
            <a:r>
              <a:rPr lang="en-US" sz="3000" dirty="0" err="1"/>
              <a:t>Aturan</a:t>
            </a:r>
            <a:r>
              <a:rPr lang="en-US" sz="3000" dirty="0"/>
              <a:t> </a:t>
            </a:r>
            <a:r>
              <a:rPr lang="en-US" sz="3000" dirty="0" err="1"/>
              <a:t>dasar</a:t>
            </a:r>
            <a:r>
              <a:rPr lang="en-US" sz="3000" dirty="0"/>
              <a:t> </a:t>
            </a:r>
            <a:r>
              <a:rPr lang="en-US" sz="3000" dirty="0" err="1"/>
              <a:t>logika</a:t>
            </a:r>
            <a:r>
              <a:rPr lang="en-US" sz="3000" dirty="0"/>
              <a:t> </a:t>
            </a:r>
            <a:r>
              <a:rPr lang="en-US" sz="3000" dirty="0" err="1"/>
              <a:t>ini</a:t>
            </a:r>
            <a:r>
              <a:rPr lang="en-US" sz="3000" dirty="0"/>
              <a:t> </a:t>
            </a:r>
            <a:r>
              <a:rPr lang="en-US" sz="3000" dirty="0" err="1"/>
              <a:t>membentuk</a:t>
            </a:r>
            <a:r>
              <a:rPr lang="en-US" sz="3000" dirty="0"/>
              <a:t> </a:t>
            </a:r>
            <a:r>
              <a:rPr lang="en-US" sz="3000" dirty="0" err="1"/>
              <a:t>struktur</a:t>
            </a:r>
            <a:r>
              <a:rPr lang="en-US" sz="3000" dirty="0"/>
              <a:t> </a:t>
            </a:r>
            <a:r>
              <a:rPr lang="en-US" sz="3000" dirty="0" err="1"/>
              <a:t>matematika</a:t>
            </a:r>
            <a:r>
              <a:rPr lang="en-US" sz="3000" dirty="0"/>
              <a:t> yang </a:t>
            </a:r>
            <a:r>
              <a:rPr lang="en-US" sz="3000" dirty="0" err="1"/>
              <a:t>disebut</a:t>
            </a:r>
            <a:r>
              <a:rPr lang="en-US" sz="3000" dirty="0"/>
              <a:t> </a:t>
            </a:r>
            <a:r>
              <a:rPr lang="en-US" sz="3000" b="1" dirty="0" err="1"/>
              <a:t>aljabar</a:t>
            </a:r>
            <a:r>
              <a:rPr lang="en-US" sz="3000" b="1" dirty="0"/>
              <a:t> Boolean.</a:t>
            </a:r>
          </a:p>
          <a:p>
            <a:endParaRPr lang="en-US" sz="3000" b="1" dirty="0"/>
          </a:p>
          <a:p>
            <a:r>
              <a:rPr lang="en-US" sz="3000" dirty="0" err="1"/>
              <a:t>Aplikasi</a:t>
            </a:r>
            <a:r>
              <a:rPr lang="en-US" sz="3000" dirty="0"/>
              <a:t>: </a:t>
            </a:r>
            <a:r>
              <a:rPr lang="en-US" dirty="0" err="1"/>
              <a:t>perancangan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pensaklaran</a:t>
            </a:r>
            <a:r>
              <a:rPr lang="en-US" dirty="0"/>
              <a:t>, </a:t>
            </a:r>
            <a:r>
              <a:rPr lang="en-US" dirty="0" err="1"/>
              <a:t>rangkaian</a:t>
            </a:r>
            <a:r>
              <a:rPr lang="en-US" dirty="0"/>
              <a:t> digital,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i="1" dirty="0"/>
              <a:t>IC</a:t>
            </a:r>
            <a:r>
              <a:rPr lang="en-US" dirty="0"/>
              <a:t> (</a:t>
            </a:r>
            <a:r>
              <a:rPr lang="en-US" i="1" dirty="0"/>
              <a:t>integrated circuit</a:t>
            </a:r>
            <a:r>
              <a:rPr lang="en-US" dirty="0"/>
              <a:t>) </a:t>
            </a:r>
            <a:r>
              <a:rPr lang="en-US" dirty="0" err="1"/>
              <a:t>komputer</a:t>
            </a:r>
            <a:endParaRPr lang="en-US" sz="3000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94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548680"/>
            <a:ext cx="3563888" cy="24788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992" y="548680"/>
            <a:ext cx="3600400" cy="23402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27648" y="3140968"/>
            <a:ext cx="1442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Peraga</a:t>
            </a:r>
            <a:r>
              <a:rPr lang="en-US" dirty="0"/>
              <a:t>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4362" y="3116720"/>
            <a:ext cx="2189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Integarted</a:t>
            </a:r>
            <a:r>
              <a:rPr lang="en-US" dirty="0"/>
              <a:t> Circuit (IC)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784" y="3713833"/>
            <a:ext cx="3633192" cy="232524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15881" y="6057941"/>
            <a:ext cx="1562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saklar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8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Definisi</a:t>
            </a:r>
            <a:r>
              <a:rPr lang="en-US" dirty="0"/>
              <a:t> </a:t>
            </a:r>
            <a:r>
              <a:rPr lang="en-US" dirty="0" err="1"/>
              <a:t>Aljabar</a:t>
            </a:r>
            <a:r>
              <a:rPr lang="en-US" dirty="0"/>
              <a:t> Boolean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270" y="1474067"/>
            <a:ext cx="6201875" cy="488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014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4096" y="838201"/>
            <a:ext cx="10714382" cy="5287963"/>
          </a:xfrm>
        </p:spPr>
        <p:txBody>
          <a:bodyPr>
            <a:normAutofit/>
          </a:bodyPr>
          <a:lstStyle/>
          <a:p>
            <a:r>
              <a:rPr lang="en-US" dirty="0" err="1"/>
              <a:t>Berhubung</a:t>
            </a:r>
            <a:r>
              <a:rPr lang="en-US" dirty="0"/>
              <a:t> </a:t>
            </a:r>
            <a:r>
              <a:rPr lang="en-US" dirty="0" err="1"/>
              <a:t>elemen-elemen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didefinisikan</a:t>
            </a:r>
            <a:r>
              <a:rPr lang="en-US" dirty="0"/>
              <a:t> </a:t>
            </a:r>
            <a:r>
              <a:rPr lang="en-US" dirty="0" err="1"/>
              <a:t>nilainya</a:t>
            </a:r>
            <a:r>
              <a:rPr lang="en-US" dirty="0"/>
              <a:t> (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anggota-anggota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),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sekali</a:t>
            </a:r>
            <a:r>
              <a:rPr lang="en-US" dirty="0"/>
              <a:t> </a:t>
            </a:r>
            <a:r>
              <a:rPr lang="en-US" dirty="0" err="1"/>
              <a:t>aljabar</a:t>
            </a:r>
            <a:r>
              <a:rPr lang="en-US" dirty="0"/>
              <a:t> </a:t>
            </a:r>
            <a:r>
              <a:rPr lang="en-US" dirty="0" err="1"/>
              <a:t>boolean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aljabar</a:t>
            </a:r>
            <a:r>
              <a:rPr lang="en-US" dirty="0"/>
              <a:t> Boolean, orang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memperlihatkan</a:t>
            </a:r>
            <a:r>
              <a:rPr lang="en-US" dirty="0"/>
              <a:t>:</a:t>
            </a:r>
          </a:p>
          <a:p>
            <a:pPr marL="742950" indent="-400050">
              <a:buFont typeface="+mj-lt"/>
              <a:buAutoNum type="arabicPeriod"/>
            </a:pPr>
            <a:r>
              <a:rPr lang="en-US" dirty="0" err="1"/>
              <a:t>elemen-elemen</a:t>
            </a:r>
            <a:r>
              <a:rPr lang="en-US" dirty="0"/>
              <a:t> </a:t>
            </a: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,</a:t>
            </a:r>
          </a:p>
          <a:p>
            <a:pPr marL="742950" indent="-400050">
              <a:buFont typeface="+mj-lt"/>
              <a:buAutoNum type="arabicPeriod"/>
            </a:pPr>
            <a:r>
              <a:rPr lang="en-US" dirty="0" err="1"/>
              <a:t>kaidah</a:t>
            </a:r>
            <a:r>
              <a:rPr lang="en-US" dirty="0"/>
              <a:t>/</a:t>
            </a: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operator </a:t>
            </a:r>
            <a:r>
              <a:rPr lang="en-US" dirty="0" err="1"/>
              <a:t>biner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operator </a:t>
            </a:r>
            <a:r>
              <a:rPr lang="en-US" dirty="0" err="1"/>
              <a:t>uner</a:t>
            </a:r>
            <a:r>
              <a:rPr lang="en-US" dirty="0"/>
              <a:t>,</a:t>
            </a:r>
          </a:p>
          <a:p>
            <a:pPr marL="742950" indent="-400050">
              <a:buFont typeface="+mj-lt"/>
              <a:buAutoNum type="arabicPeriod"/>
            </a:pP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dirty="0" err="1"/>
              <a:t>bersama-sama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operator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memenuhi</a:t>
            </a:r>
            <a:r>
              <a:rPr lang="en-US" dirty="0"/>
              <a:t> </a:t>
            </a:r>
            <a:r>
              <a:rPr lang="en-US" dirty="0" err="1"/>
              <a:t>keempat</a:t>
            </a:r>
            <a:r>
              <a:rPr lang="en-US" dirty="0"/>
              <a:t> </a:t>
            </a:r>
            <a:r>
              <a:rPr lang="en-US" dirty="0" err="1"/>
              <a:t>aksioma</a:t>
            </a:r>
            <a:r>
              <a:rPr lang="en-US" dirty="0"/>
              <a:t> di </a:t>
            </a:r>
            <a:r>
              <a:rPr lang="en-US" dirty="0" err="1"/>
              <a:t>atas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740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583" y="838201"/>
            <a:ext cx="10336695" cy="5287963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Aljabar</a:t>
            </a:r>
            <a:r>
              <a:rPr lang="en-US" dirty="0"/>
              <a:t> </a:t>
            </a: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aljabar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</a:t>
            </a:r>
            <a:r>
              <a:rPr lang="en-US" dirty="0" err="1"/>
              <a:t>proposisi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aljabar</a:t>
            </a:r>
            <a:r>
              <a:rPr lang="en-US" dirty="0"/>
              <a:t> Boolean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memenuhi</a:t>
            </a:r>
            <a:r>
              <a:rPr lang="en-US" dirty="0"/>
              <a:t> </a:t>
            </a:r>
            <a:r>
              <a:rPr lang="en-US" dirty="0" err="1"/>
              <a:t>empat</a:t>
            </a:r>
            <a:r>
              <a:rPr lang="en-US" dirty="0"/>
              <a:t> </a:t>
            </a:r>
            <a:r>
              <a:rPr lang="en-US" dirty="0" err="1"/>
              <a:t>aksioma</a:t>
            </a:r>
            <a:r>
              <a:rPr lang="en-US" dirty="0"/>
              <a:t> di </a:t>
            </a:r>
            <a:r>
              <a:rPr lang="en-US" dirty="0" err="1"/>
              <a:t>atas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Dengan</a:t>
            </a:r>
            <a:r>
              <a:rPr lang="en-US" dirty="0"/>
              <a:t> kata lain, </a:t>
            </a:r>
            <a:r>
              <a:rPr lang="en-US" dirty="0" err="1"/>
              <a:t>aljabar</a:t>
            </a:r>
            <a:r>
              <a:rPr lang="en-US" dirty="0"/>
              <a:t> </a:t>
            </a: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aljabar</a:t>
            </a:r>
            <a:r>
              <a:rPr lang="en-US" dirty="0"/>
              <a:t> </a:t>
            </a:r>
            <a:r>
              <a:rPr lang="en-US" dirty="0" err="1"/>
              <a:t>proposisi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(</a:t>
            </a:r>
            <a:r>
              <a:rPr lang="en-US" i="1" dirty="0"/>
              <a:t>subset</a:t>
            </a:r>
            <a:r>
              <a:rPr lang="en-US" dirty="0"/>
              <a:t>)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aljabar</a:t>
            </a:r>
            <a:r>
              <a:rPr lang="en-US" dirty="0"/>
              <a:t> Boolean.</a:t>
            </a:r>
          </a:p>
          <a:p>
            <a:endParaRPr lang="en-US" dirty="0"/>
          </a:p>
          <a:p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aljabar</a:t>
            </a:r>
            <a:r>
              <a:rPr lang="en-US" dirty="0"/>
              <a:t> </a:t>
            </a:r>
            <a:r>
              <a:rPr lang="en-US" dirty="0" err="1"/>
              <a:t>proposisi</a:t>
            </a:r>
            <a:r>
              <a:rPr lang="en-US" dirty="0"/>
              <a:t> </a:t>
            </a:r>
            <a:r>
              <a:rPr lang="en-US" dirty="0" err="1"/>
              <a:t>misalnya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berisi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proposisi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 err="1"/>
              <a:t>peubah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unik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b="1" dirty="0"/>
              <a:t>T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b="1" dirty="0"/>
              <a:t>F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	- operator </a:t>
            </a:r>
            <a:r>
              <a:rPr lang="en-US" dirty="0" err="1"/>
              <a:t>biner</a:t>
            </a:r>
            <a:r>
              <a:rPr lang="en-US" dirty="0"/>
              <a:t>: </a:t>
            </a:r>
            <a:r>
              <a:rPr lang="en-US" dirty="0">
                <a:sym typeface="Symbol" panose="05050102010706020507" pitchFamily="18" charset="2"/>
              </a:rPr>
              <a:t>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, </a:t>
            </a:r>
            <a:r>
              <a:rPr lang="en-US" dirty="0"/>
              <a:t>operator </a:t>
            </a:r>
            <a:r>
              <a:rPr lang="en-US" dirty="0" err="1"/>
              <a:t>uner</a:t>
            </a:r>
            <a:r>
              <a:rPr lang="en-US" dirty="0"/>
              <a:t>: ~</a:t>
            </a:r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aksioma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definisi</a:t>
            </a:r>
            <a:r>
              <a:rPr lang="en-US" dirty="0"/>
              <a:t> di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dipenuhi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Dengan</a:t>
            </a:r>
            <a:r>
              <a:rPr lang="en-US" dirty="0"/>
              <a:t> kata lain &lt;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dirty="0">
                <a:sym typeface="Symbol" panose="05050102010706020507" pitchFamily="18" charset="2"/>
              </a:rPr>
              <a:t></a:t>
            </a:r>
            <a:r>
              <a:rPr lang="en-US" dirty="0"/>
              <a:t>, </a:t>
            </a:r>
            <a:r>
              <a:rPr lang="en-US" dirty="0">
                <a:sym typeface="Symbol" panose="05050102010706020507" pitchFamily="18" charset="2"/>
              </a:rPr>
              <a:t></a:t>
            </a:r>
            <a:r>
              <a:rPr lang="en-US" dirty="0"/>
              <a:t>, ~, </a:t>
            </a:r>
            <a:r>
              <a:rPr lang="en-US" b="1" dirty="0"/>
              <a:t>F</a:t>
            </a:r>
            <a:r>
              <a:rPr lang="en-US" dirty="0"/>
              <a:t>, </a:t>
            </a:r>
            <a:r>
              <a:rPr lang="en-US" b="1" dirty="0"/>
              <a:t>T</a:t>
            </a:r>
            <a:r>
              <a:rPr lang="en-US" dirty="0"/>
              <a:t>&gt;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aljabar</a:t>
            </a:r>
            <a:r>
              <a:rPr lang="en-US" dirty="0"/>
              <a:t> </a:t>
            </a:r>
            <a:r>
              <a:rPr lang="en-US" dirty="0" err="1"/>
              <a:t>Booelan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47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Aljabar</a:t>
            </a:r>
            <a:r>
              <a:rPr lang="en-US" dirty="0"/>
              <a:t> Boolean 2-Nilai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17638"/>
            <a:ext cx="10515599" cy="4830763"/>
          </a:xfrm>
        </p:spPr>
        <p:txBody>
          <a:bodyPr>
            <a:normAutofit/>
          </a:bodyPr>
          <a:lstStyle/>
          <a:p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aljabar</a:t>
            </a:r>
            <a:r>
              <a:rPr lang="en-US" sz="2400" dirty="0"/>
              <a:t> Boolean yang paling popular, </a:t>
            </a:r>
            <a:r>
              <a:rPr lang="en-US" sz="2400" dirty="0" err="1"/>
              <a:t>karena</a:t>
            </a:r>
            <a:r>
              <a:rPr lang="en-US" sz="2400" dirty="0"/>
              <a:t> </a:t>
            </a:r>
            <a:r>
              <a:rPr lang="en-US" sz="2400" dirty="0" err="1"/>
              <a:t>aplikasinya</a:t>
            </a:r>
            <a:r>
              <a:rPr lang="en-US" sz="2400" dirty="0"/>
              <a:t> </a:t>
            </a:r>
            <a:r>
              <a:rPr lang="en-US" sz="2400" dirty="0" err="1"/>
              <a:t>luas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aljabar</a:t>
            </a:r>
            <a:r>
              <a:rPr lang="en-US" sz="2400" dirty="0"/>
              <a:t> 2-nilai:</a:t>
            </a:r>
          </a:p>
          <a:p>
            <a:pPr marL="0" indent="0">
              <a:buNone/>
            </a:pPr>
            <a:r>
              <a:rPr lang="en-US" sz="2400" dirty="0"/>
              <a:t>	(</a:t>
            </a:r>
            <a:r>
              <a:rPr lang="en-US" sz="2400" dirty="0" err="1"/>
              <a:t>i</a:t>
            </a:r>
            <a:r>
              <a:rPr lang="en-US" sz="2400" dirty="0"/>
              <a:t>)  </a:t>
            </a:r>
            <a:r>
              <a:rPr lang="en-US" sz="2400" i="1" dirty="0"/>
              <a:t>B</a:t>
            </a:r>
            <a:r>
              <a:rPr lang="en-US" sz="2400" dirty="0"/>
              <a:t> = {0, 1}, </a:t>
            </a:r>
          </a:p>
          <a:p>
            <a:pPr marL="0" indent="0">
              <a:buNone/>
            </a:pPr>
            <a:r>
              <a:rPr lang="en-US" sz="2400" dirty="0"/>
              <a:t>	(ii) operator </a:t>
            </a:r>
            <a:r>
              <a:rPr lang="en-US" sz="2400" dirty="0" err="1"/>
              <a:t>biner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</a:t>
            </a:r>
            <a:r>
              <a:rPr lang="en-US" sz="2400" dirty="0">
                <a:sym typeface="Symbol" panose="05050102010706020507" pitchFamily="18" charset="2"/>
              </a:rPr>
              <a:t>,    </a:t>
            </a:r>
            <a:r>
              <a:rPr lang="en-US" sz="2400" dirty="0"/>
              <a:t>operator </a:t>
            </a:r>
            <a:r>
              <a:rPr lang="en-US" sz="2400" dirty="0" err="1"/>
              <a:t>uner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FF0000"/>
                </a:solidFill>
              </a:rPr>
              <a:t>’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	</a:t>
            </a:r>
            <a:r>
              <a:rPr lang="en-US" sz="2400" dirty="0"/>
              <a:t>(iii) </a:t>
            </a:r>
            <a:r>
              <a:rPr lang="en-US" sz="2400" dirty="0" err="1"/>
              <a:t>Kaidah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operator </a:t>
            </a:r>
            <a:r>
              <a:rPr lang="en-US" sz="2400" dirty="0" err="1"/>
              <a:t>biner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operator </a:t>
            </a:r>
            <a:r>
              <a:rPr lang="en-US" sz="2400" dirty="0" err="1"/>
              <a:t>uner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	</a:t>
            </a:r>
          </a:p>
          <a:p>
            <a:pPr marL="0" indent="0">
              <a:buNone/>
            </a:pPr>
            <a:r>
              <a:rPr lang="en-US" sz="2400" dirty="0"/>
              <a:t>	(iv) </a:t>
            </a:r>
            <a:r>
              <a:rPr lang="en-US" sz="2400" dirty="0" err="1"/>
              <a:t>Keempat</a:t>
            </a:r>
            <a:r>
              <a:rPr lang="en-US" sz="2400" dirty="0"/>
              <a:t> </a:t>
            </a:r>
            <a:r>
              <a:rPr lang="en-US" sz="2400" dirty="0" err="1"/>
              <a:t>aksioma</a:t>
            </a:r>
            <a:r>
              <a:rPr lang="en-US" sz="2400" dirty="0"/>
              <a:t> di </a:t>
            </a:r>
            <a:r>
              <a:rPr lang="en-US" sz="2400" dirty="0" err="1"/>
              <a:t>atas</a:t>
            </a:r>
            <a:r>
              <a:rPr lang="en-US" sz="2400" dirty="0"/>
              <a:t> </a:t>
            </a:r>
            <a:r>
              <a:rPr lang="en-US" sz="2400" dirty="0" err="1"/>
              <a:t>dipenuhi</a:t>
            </a:r>
            <a:r>
              <a:rPr lang="en-US" sz="2400" dirty="0"/>
              <a:t>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531" y="3660913"/>
            <a:ext cx="6648399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991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Ekspresi</a:t>
            </a:r>
            <a:r>
              <a:rPr lang="en-US" dirty="0"/>
              <a:t> Boolean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3913" y="1600200"/>
            <a:ext cx="10207487" cy="4756150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Ekspresi</a:t>
            </a:r>
            <a:r>
              <a:rPr lang="en-US" dirty="0"/>
              <a:t> Boolean </a:t>
            </a:r>
            <a:r>
              <a:rPr lang="en-US" dirty="0" err="1"/>
              <a:t>dibentuk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elemen-elemen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/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peubah-peubah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dikombinasikan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lain </a:t>
            </a:r>
            <a:r>
              <a:rPr lang="en-US" dirty="0" err="1"/>
              <a:t>dengan</a:t>
            </a:r>
            <a:r>
              <a:rPr lang="en-US" dirty="0"/>
              <a:t> operator +, </a:t>
            </a:r>
            <a:r>
              <a:rPr lang="en-US" dirty="0">
                <a:sym typeface="Symbol" panose="05050102010706020507" pitchFamily="18" charset="2"/>
              </a:rPr>
              <a:t>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’.</a:t>
            </a:r>
          </a:p>
          <a:p>
            <a:endParaRPr lang="en-US" dirty="0"/>
          </a:p>
          <a:p>
            <a:r>
              <a:rPr lang="en-US" b="1" dirty="0" err="1"/>
              <a:t>Contoh</a:t>
            </a:r>
            <a:r>
              <a:rPr lang="en-US" b="1" dirty="0"/>
              <a:t> 1: </a:t>
            </a:r>
          </a:p>
          <a:p>
            <a:pPr marL="0" indent="0">
              <a:buNone/>
            </a:pPr>
            <a:r>
              <a:rPr lang="en-US" dirty="0"/>
              <a:t>	0</a:t>
            </a:r>
          </a:p>
          <a:p>
            <a:pPr marL="0" indent="0">
              <a:buNone/>
            </a:pPr>
            <a:r>
              <a:rPr lang="en-US" dirty="0"/>
              <a:t>	1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b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	a</a:t>
            </a:r>
            <a:r>
              <a:rPr lang="en-US" dirty="0"/>
              <a:t> + </a:t>
            </a:r>
            <a:r>
              <a:rPr lang="en-US" i="1" dirty="0"/>
              <a:t>b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</a:t>
            </a:r>
            <a:r>
              <a:rPr lang="en-US" dirty="0"/>
              <a:t> </a:t>
            </a:r>
            <a:r>
              <a:rPr lang="en-US" i="1" dirty="0"/>
              <a:t>b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a</a:t>
            </a:r>
            <a:r>
              <a:rPr lang="en-US" dirty="0"/>
              <a:t>’</a:t>
            </a:r>
            <a:r>
              <a:rPr lang="en-US" dirty="0">
                <a:sym typeface="Symbol" panose="05050102010706020507" pitchFamily="18" charset="2"/>
              </a:rPr>
              <a:t></a:t>
            </a:r>
            <a:r>
              <a:rPr lang="en-US" dirty="0"/>
              <a:t> (</a:t>
            </a:r>
            <a:r>
              <a:rPr lang="en-US" i="1" dirty="0"/>
              <a:t>b</a:t>
            </a:r>
            <a:r>
              <a:rPr lang="en-US" dirty="0"/>
              <a:t> + </a:t>
            </a:r>
            <a:r>
              <a:rPr lang="en-US" i="1" dirty="0"/>
              <a:t>c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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’ + </a:t>
            </a:r>
            <a:r>
              <a:rPr lang="en-US" i="1" dirty="0"/>
              <a:t>a </a:t>
            </a:r>
            <a:r>
              <a:rPr lang="en-US" dirty="0">
                <a:sym typeface="Symbol" panose="05050102010706020507" pitchFamily="18" charset="2"/>
              </a:rPr>
              <a:t></a:t>
            </a:r>
            <a:r>
              <a:rPr lang="en-US" dirty="0"/>
              <a:t> </a:t>
            </a:r>
            <a:r>
              <a:rPr lang="en-US" i="1" dirty="0"/>
              <a:t>b </a:t>
            </a:r>
            <a:r>
              <a:rPr lang="en-US" dirty="0">
                <a:sym typeface="Symbol" panose="05050102010706020507" pitchFamily="18" charset="2"/>
              </a:rPr>
              <a:t></a:t>
            </a:r>
            <a:r>
              <a:rPr lang="en-US" dirty="0"/>
              <a:t> </a:t>
            </a:r>
            <a:r>
              <a:rPr lang="en-US" i="1" dirty="0"/>
              <a:t>c</a:t>
            </a:r>
            <a:r>
              <a:rPr lang="en-US" dirty="0"/>
              <a:t>’ + </a:t>
            </a:r>
            <a:r>
              <a:rPr lang="en-US" i="1" dirty="0"/>
              <a:t>b</a:t>
            </a:r>
            <a:r>
              <a:rPr lang="en-US" dirty="0"/>
              <a:t>’,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sebagainya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41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Hukum-hukum</a:t>
            </a:r>
            <a:r>
              <a:rPr lang="en-US" dirty="0"/>
              <a:t> </a:t>
            </a:r>
            <a:r>
              <a:rPr lang="en-US" dirty="0" err="1"/>
              <a:t>Aljabar</a:t>
            </a:r>
            <a:r>
              <a:rPr lang="en-US" dirty="0"/>
              <a:t> Boolean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387719"/>
            <a:ext cx="5562600" cy="51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527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62000"/>
            <a:ext cx="10515600" cy="55943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 err="1"/>
              <a:t>Contoh</a:t>
            </a:r>
            <a:r>
              <a:rPr lang="en-US" sz="2400" b="1" dirty="0"/>
              <a:t> 2</a:t>
            </a:r>
            <a:r>
              <a:rPr lang="en-US" sz="2400" dirty="0"/>
              <a:t>: </a:t>
            </a:r>
            <a:r>
              <a:rPr lang="en-US" sz="2400" dirty="0" err="1"/>
              <a:t>Buktikan</a:t>
            </a:r>
            <a:r>
              <a:rPr lang="en-US" sz="2400" dirty="0"/>
              <a:t> </a:t>
            </a:r>
            <a:r>
              <a:rPr lang="en-US" sz="2400" dirty="0" err="1"/>
              <a:t>bahwa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sembarang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r>
              <a:rPr lang="en-US" sz="2400" dirty="0"/>
              <a:t>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aljabar</a:t>
            </a:r>
            <a:r>
              <a:rPr lang="en-US" sz="2400" dirty="0"/>
              <a:t> Boolean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kesamaaan</a:t>
            </a:r>
            <a:r>
              <a:rPr lang="en-US" sz="2400" dirty="0"/>
              <a:t> </a:t>
            </a:r>
            <a:r>
              <a:rPr lang="en-US" sz="2400" dirty="0" err="1"/>
              <a:t>berikut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i="1" dirty="0"/>
              <a:t>	a</a:t>
            </a:r>
            <a:r>
              <a:rPr lang="en-US" sz="2400" dirty="0"/>
              <a:t> + </a:t>
            </a:r>
            <a:r>
              <a:rPr lang="en-US" sz="2400" i="1" dirty="0" err="1"/>
              <a:t>a</a:t>
            </a:r>
            <a:r>
              <a:rPr lang="en-US" sz="2400" dirty="0" err="1"/>
              <a:t>’</a:t>
            </a:r>
            <a:r>
              <a:rPr lang="en-US" sz="2400" i="1" dirty="0" err="1"/>
              <a:t>b</a:t>
            </a:r>
            <a:r>
              <a:rPr lang="en-US" sz="2400" dirty="0"/>
              <a:t> =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  </a:t>
            </a:r>
            <a:r>
              <a:rPr lang="en-US" sz="2400" dirty="0" err="1"/>
              <a:t>dan</a:t>
            </a:r>
            <a:r>
              <a:rPr lang="en-US" sz="2400" dirty="0"/>
              <a:t>   </a:t>
            </a:r>
            <a:r>
              <a:rPr lang="en-US" sz="2400" i="1" dirty="0"/>
              <a:t>a</a:t>
            </a:r>
            <a:r>
              <a:rPr lang="en-US" sz="2400" dirty="0"/>
              <a:t>(</a:t>
            </a:r>
            <a:r>
              <a:rPr lang="en-US" sz="2400" i="1" dirty="0"/>
              <a:t>a</a:t>
            </a:r>
            <a:r>
              <a:rPr lang="en-US" sz="2400" dirty="0"/>
              <a:t>’ + </a:t>
            </a:r>
            <a:r>
              <a:rPr lang="en-US" sz="2400" i="1" dirty="0"/>
              <a:t>b</a:t>
            </a:r>
            <a:r>
              <a:rPr lang="en-US" sz="2400" dirty="0"/>
              <a:t>) = </a:t>
            </a:r>
            <a:r>
              <a:rPr lang="en-US" sz="2400" i="1" dirty="0"/>
              <a:t>ab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benar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Penyelesaian</a:t>
            </a:r>
            <a:r>
              <a:rPr lang="en-US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	(</a:t>
            </a:r>
            <a:r>
              <a:rPr lang="en-US" sz="2400" dirty="0" err="1"/>
              <a:t>i</a:t>
            </a:r>
            <a:r>
              <a:rPr lang="en-US" sz="2400" dirty="0"/>
              <a:t>) 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 err="1"/>
              <a:t>a</a:t>
            </a:r>
            <a:r>
              <a:rPr lang="en-US" sz="2400" dirty="0" err="1"/>
              <a:t>’</a:t>
            </a:r>
            <a:r>
              <a:rPr lang="en-US" sz="2400" i="1" dirty="0" err="1"/>
              <a:t>b</a:t>
            </a:r>
            <a:r>
              <a:rPr lang="en-US" sz="2400" dirty="0"/>
              <a:t>  = (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ab</a:t>
            </a:r>
            <a:r>
              <a:rPr lang="en-US" sz="2400" dirty="0"/>
              <a:t>) + </a:t>
            </a:r>
            <a:r>
              <a:rPr lang="en-US" sz="2400" i="1" dirty="0" err="1"/>
              <a:t>a</a:t>
            </a:r>
            <a:r>
              <a:rPr lang="en-US" sz="2400" dirty="0" err="1"/>
              <a:t>’</a:t>
            </a:r>
            <a:r>
              <a:rPr lang="en-US" sz="2400" i="1" dirty="0" err="1"/>
              <a:t>b</a:t>
            </a:r>
            <a:r>
              <a:rPr lang="en-US" sz="2400" dirty="0"/>
              <a:t>	(</a:t>
            </a:r>
            <a:r>
              <a:rPr lang="en-US" sz="2400" dirty="0" err="1"/>
              <a:t>Hukum</a:t>
            </a:r>
            <a:r>
              <a:rPr lang="en-US" sz="2400" dirty="0"/>
              <a:t> </a:t>
            </a:r>
            <a:r>
              <a:rPr lang="en-US" sz="2400" dirty="0" err="1"/>
              <a:t>Penyerapan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		     = </a:t>
            </a:r>
            <a:r>
              <a:rPr lang="en-US" sz="2400" i="1" dirty="0"/>
              <a:t>a</a:t>
            </a:r>
            <a:r>
              <a:rPr lang="en-US" sz="2400" dirty="0"/>
              <a:t> + (</a:t>
            </a:r>
            <a:r>
              <a:rPr lang="en-US" sz="2400" i="1" dirty="0"/>
              <a:t>ab</a:t>
            </a:r>
            <a:r>
              <a:rPr lang="en-US" sz="2400" dirty="0"/>
              <a:t> + </a:t>
            </a:r>
            <a:r>
              <a:rPr lang="en-US" sz="2400" i="1" dirty="0" err="1"/>
              <a:t>a</a:t>
            </a:r>
            <a:r>
              <a:rPr lang="en-US" sz="2400" dirty="0" err="1"/>
              <a:t>’</a:t>
            </a:r>
            <a:r>
              <a:rPr lang="en-US" sz="2400" i="1" dirty="0" err="1"/>
              <a:t>b</a:t>
            </a:r>
            <a:r>
              <a:rPr lang="en-US" sz="2400" dirty="0"/>
              <a:t>)	(</a:t>
            </a:r>
            <a:r>
              <a:rPr lang="en-US" sz="2400" dirty="0" err="1"/>
              <a:t>Hukum</a:t>
            </a:r>
            <a:r>
              <a:rPr lang="en-US" sz="2400" dirty="0"/>
              <a:t> </a:t>
            </a:r>
            <a:r>
              <a:rPr lang="en-US" sz="2400" dirty="0" err="1"/>
              <a:t>Asosiatif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		     = </a:t>
            </a:r>
            <a:r>
              <a:rPr lang="en-US" sz="2400" i="1" dirty="0"/>
              <a:t>a</a:t>
            </a:r>
            <a:r>
              <a:rPr lang="en-US" sz="2400" dirty="0"/>
              <a:t> + (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a</a:t>
            </a:r>
            <a:r>
              <a:rPr lang="en-US" sz="2400" dirty="0"/>
              <a:t>’)</a:t>
            </a:r>
            <a:r>
              <a:rPr lang="en-US" sz="2400" i="1" dirty="0"/>
              <a:t>b</a:t>
            </a:r>
            <a:r>
              <a:rPr lang="en-US" sz="2400" dirty="0"/>
              <a:t>	(</a:t>
            </a:r>
            <a:r>
              <a:rPr lang="en-US" sz="2400" dirty="0" err="1"/>
              <a:t>Hukum</a:t>
            </a:r>
            <a:r>
              <a:rPr lang="en-US" sz="2400" dirty="0"/>
              <a:t> </a:t>
            </a:r>
            <a:r>
              <a:rPr lang="en-US" sz="2400" dirty="0" err="1"/>
              <a:t>Distributif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		     = </a:t>
            </a:r>
            <a:r>
              <a:rPr lang="en-US" sz="2400" i="1" dirty="0"/>
              <a:t>a</a:t>
            </a:r>
            <a:r>
              <a:rPr lang="en-US" sz="2400" dirty="0"/>
              <a:t> + 1 </a:t>
            </a:r>
            <a:r>
              <a:rPr lang="en-US" sz="2400" dirty="0">
                <a:sym typeface="Symbol" panose="05050102010706020507" pitchFamily="18" charset="2"/>
              </a:rPr>
              <a:t></a:t>
            </a:r>
            <a:r>
              <a:rPr lang="en-US" sz="2400" dirty="0"/>
              <a:t> </a:t>
            </a:r>
            <a:r>
              <a:rPr lang="en-US" sz="2400" i="1" dirty="0"/>
              <a:t>b</a:t>
            </a:r>
            <a:r>
              <a:rPr lang="en-US" sz="2400" dirty="0"/>
              <a:t> 		(</a:t>
            </a:r>
            <a:r>
              <a:rPr lang="en-US" sz="2400" dirty="0" err="1"/>
              <a:t>Hukum</a:t>
            </a:r>
            <a:r>
              <a:rPr lang="en-US" sz="2400" dirty="0"/>
              <a:t> </a:t>
            </a:r>
            <a:r>
              <a:rPr lang="en-US" sz="2400" dirty="0" err="1"/>
              <a:t>Komplemen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		     =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		(</a:t>
            </a:r>
            <a:r>
              <a:rPr lang="en-US" sz="2400" dirty="0" err="1"/>
              <a:t>Hukum</a:t>
            </a:r>
            <a:r>
              <a:rPr lang="en-US" sz="2400" dirty="0"/>
              <a:t> </a:t>
            </a:r>
            <a:r>
              <a:rPr lang="en-US" sz="2400" dirty="0" err="1"/>
              <a:t>Identitas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 </a:t>
            </a:r>
          </a:p>
          <a:p>
            <a:pPr marL="0" indent="0">
              <a:buNone/>
            </a:pPr>
            <a:r>
              <a:rPr lang="en-US" sz="2400" dirty="0"/>
              <a:t>	(ii)  </a:t>
            </a:r>
            <a:r>
              <a:rPr lang="en-US" sz="2400" i="1" dirty="0"/>
              <a:t>a</a:t>
            </a:r>
            <a:r>
              <a:rPr lang="en-US" sz="2400" dirty="0"/>
              <a:t>(</a:t>
            </a:r>
            <a:r>
              <a:rPr lang="en-US" sz="2400" i="1" dirty="0"/>
              <a:t>a</a:t>
            </a:r>
            <a:r>
              <a:rPr lang="en-US" sz="2400" dirty="0"/>
              <a:t>’ + </a:t>
            </a:r>
            <a:r>
              <a:rPr lang="en-US" sz="2400" i="1" dirty="0"/>
              <a:t>b</a:t>
            </a:r>
            <a:r>
              <a:rPr lang="en-US" sz="2400" dirty="0"/>
              <a:t>) = </a:t>
            </a:r>
            <a:r>
              <a:rPr lang="en-US" sz="2400" i="1" dirty="0"/>
              <a:t>a </a:t>
            </a:r>
            <a:r>
              <a:rPr lang="en-US" sz="2400" i="1" dirty="0" err="1"/>
              <a:t>a</a:t>
            </a:r>
            <a:r>
              <a:rPr lang="en-US" sz="2400" dirty="0"/>
              <a:t>’ + </a:t>
            </a:r>
            <a:r>
              <a:rPr lang="en-US" sz="2400" i="1" dirty="0"/>
              <a:t>ab</a:t>
            </a:r>
            <a:r>
              <a:rPr lang="en-US" sz="2400" dirty="0"/>
              <a:t>		(</a:t>
            </a:r>
            <a:r>
              <a:rPr lang="en-US" sz="2400" dirty="0" err="1"/>
              <a:t>Hukum</a:t>
            </a:r>
            <a:r>
              <a:rPr lang="en-US" sz="2400" dirty="0"/>
              <a:t> </a:t>
            </a:r>
            <a:r>
              <a:rPr lang="en-US" sz="2400" dirty="0" err="1"/>
              <a:t>Distributif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		        = 0 + </a:t>
            </a:r>
            <a:r>
              <a:rPr lang="en-US" sz="2400" i="1" dirty="0"/>
              <a:t>ab</a:t>
            </a:r>
            <a:r>
              <a:rPr lang="en-US" sz="2400" dirty="0"/>
              <a:t>		(</a:t>
            </a:r>
            <a:r>
              <a:rPr lang="en-US" sz="2400" dirty="0" err="1"/>
              <a:t>Hukum</a:t>
            </a:r>
            <a:r>
              <a:rPr lang="en-US" sz="2400" dirty="0"/>
              <a:t> </a:t>
            </a:r>
            <a:r>
              <a:rPr lang="en-US" sz="2400" dirty="0" err="1"/>
              <a:t>Komplemen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		        = </a:t>
            </a:r>
            <a:r>
              <a:rPr lang="en-US" sz="2400" i="1" dirty="0"/>
              <a:t>ab</a:t>
            </a:r>
            <a:r>
              <a:rPr lang="en-US" sz="2400" dirty="0"/>
              <a:t>		(</a:t>
            </a:r>
            <a:r>
              <a:rPr lang="en-US" sz="2400" dirty="0" err="1"/>
              <a:t>Hukum</a:t>
            </a:r>
            <a:r>
              <a:rPr lang="en-US" sz="2400" dirty="0"/>
              <a:t> </a:t>
            </a:r>
            <a:r>
              <a:rPr lang="en-US" sz="2400" dirty="0" err="1"/>
              <a:t>Identitas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02C41B-5AFB-5D0A-728C-66B3A9556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596" y="2686407"/>
            <a:ext cx="3826626" cy="351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514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Fungsi</a:t>
            </a:r>
            <a:r>
              <a:rPr lang="en-US" dirty="0"/>
              <a:t> Boolean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487" y="1600200"/>
            <a:ext cx="10290313" cy="4756150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Contoh-contoh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Boolean:</a:t>
            </a:r>
          </a:p>
          <a:p>
            <a:pPr marL="0" indent="685800">
              <a:buNone/>
            </a:pP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= </a:t>
            </a:r>
            <a:r>
              <a:rPr lang="en-US" i="1" dirty="0"/>
              <a:t>x</a:t>
            </a:r>
            <a:r>
              <a:rPr lang="en-US" dirty="0"/>
              <a:t> </a:t>
            </a:r>
          </a:p>
          <a:p>
            <a:pPr marL="0" indent="685800">
              <a:buNone/>
            </a:pP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) = </a:t>
            </a:r>
            <a:r>
              <a:rPr lang="en-US" i="1" dirty="0" err="1"/>
              <a:t>x</a:t>
            </a:r>
            <a:r>
              <a:rPr lang="en-US" dirty="0" err="1"/>
              <a:t>’</a:t>
            </a:r>
            <a:r>
              <a:rPr lang="en-US" i="1" dirty="0" err="1"/>
              <a:t>y</a:t>
            </a:r>
            <a:r>
              <a:rPr lang="en-US" dirty="0"/>
              <a:t> + </a:t>
            </a:r>
            <a:r>
              <a:rPr lang="en-US" i="1" dirty="0" err="1"/>
              <a:t>xy</a:t>
            </a:r>
            <a:r>
              <a:rPr lang="en-US" dirty="0"/>
              <a:t>’+ </a:t>
            </a:r>
            <a:r>
              <a:rPr lang="en-US" i="1" dirty="0"/>
              <a:t>y</a:t>
            </a:r>
            <a:r>
              <a:rPr lang="en-US" dirty="0"/>
              <a:t>’</a:t>
            </a:r>
          </a:p>
          <a:p>
            <a:pPr marL="0" indent="685800">
              <a:buNone/>
            </a:pP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) = </a:t>
            </a:r>
            <a:r>
              <a:rPr lang="en-US" i="1" dirty="0"/>
              <a:t>x</a:t>
            </a:r>
            <a:r>
              <a:rPr lang="en-US" dirty="0"/>
              <a:t>’</a:t>
            </a:r>
            <a:r>
              <a:rPr lang="en-US" i="1" dirty="0"/>
              <a:t> y</a:t>
            </a:r>
            <a:r>
              <a:rPr lang="en-US" dirty="0"/>
              <a:t>’</a:t>
            </a:r>
          </a:p>
          <a:p>
            <a:pPr marL="0" indent="685800">
              <a:buNone/>
            </a:pP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) = 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)’ </a:t>
            </a:r>
          </a:p>
          <a:p>
            <a:pPr marL="0" indent="685800">
              <a:buNone/>
            </a:pP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</a:t>
            </a:r>
            <a:r>
              <a:rPr lang="en-US" i="1" dirty="0"/>
              <a:t>xyz</a:t>
            </a:r>
            <a:r>
              <a:rPr lang="en-US" dirty="0"/>
              <a:t>’</a:t>
            </a:r>
          </a:p>
          <a:p>
            <a:endParaRPr lang="en-US" dirty="0"/>
          </a:p>
          <a:p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peubah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Boolean, </a:t>
            </a:r>
            <a:r>
              <a:rPr lang="en-US" dirty="0" err="1"/>
              <a:t>termasuk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komplemennya</a:t>
            </a:r>
            <a:r>
              <a:rPr lang="en-US" dirty="0"/>
              <a:t>,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b="1" dirty="0"/>
              <a:t>literal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i="1" dirty="0"/>
              <a:t>h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</a:t>
            </a:r>
            <a:r>
              <a:rPr lang="en-US" i="1" dirty="0"/>
              <a:t>xyz</a:t>
            </a:r>
            <a:r>
              <a:rPr lang="en-US" dirty="0"/>
              <a:t>’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3 </a:t>
            </a:r>
            <a:r>
              <a:rPr lang="en-US" dirty="0" err="1"/>
              <a:t>buah</a:t>
            </a:r>
            <a:r>
              <a:rPr lang="en-US" dirty="0"/>
              <a:t> literal,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z</a:t>
            </a:r>
            <a:r>
              <a:rPr lang="en-US" dirty="0"/>
              <a:t>’. </a:t>
            </a:r>
          </a:p>
          <a:p>
            <a:endParaRPr lang="en-US" dirty="0"/>
          </a:p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dirty="0"/>
              <a:t> = 1, </a:t>
            </a:r>
            <a:r>
              <a:rPr lang="en-US" i="1" dirty="0"/>
              <a:t>y</a:t>
            </a:r>
            <a:r>
              <a:rPr lang="en-US" dirty="0"/>
              <a:t> = 1, </a:t>
            </a:r>
            <a:r>
              <a:rPr lang="en-US" i="1" dirty="0"/>
              <a:t>z</a:t>
            </a:r>
            <a:r>
              <a:rPr lang="en-US" dirty="0"/>
              <a:t> = 0,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fungsinya</a:t>
            </a:r>
            <a:r>
              <a:rPr lang="en-US" dirty="0"/>
              <a:t>:  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h</a:t>
            </a:r>
            <a:r>
              <a:rPr lang="en-US" dirty="0"/>
              <a:t>(1, 1, 0) = 1 </a:t>
            </a:r>
            <a:r>
              <a:rPr lang="en-US" dirty="0">
                <a:sym typeface="Symbol" panose="05050102010706020507" pitchFamily="18" charset="2"/>
              </a:rPr>
              <a:t></a:t>
            </a:r>
            <a:r>
              <a:rPr lang="en-US" dirty="0"/>
              <a:t>1 </a:t>
            </a:r>
            <a:r>
              <a:rPr lang="en-US" dirty="0">
                <a:sym typeface="Symbol" panose="05050102010706020507" pitchFamily="18" charset="2"/>
              </a:rPr>
              <a:t></a:t>
            </a:r>
            <a:r>
              <a:rPr lang="en-US" dirty="0"/>
              <a:t> 0’ = (1 </a:t>
            </a:r>
            <a:r>
              <a:rPr lang="en-US" dirty="0">
                <a:sym typeface="Symbol" panose="05050102010706020507" pitchFamily="18" charset="2"/>
              </a:rPr>
              <a:t></a:t>
            </a:r>
            <a:r>
              <a:rPr lang="en-US" dirty="0"/>
              <a:t> 1) </a:t>
            </a:r>
            <a:r>
              <a:rPr lang="en-US" dirty="0">
                <a:sym typeface="Symbol" panose="05050102010706020507" pitchFamily="18" charset="2"/>
              </a:rPr>
              <a:t></a:t>
            </a:r>
            <a:r>
              <a:rPr lang="en-US" dirty="0"/>
              <a:t> 1 = 1 </a:t>
            </a:r>
            <a:r>
              <a:rPr lang="en-US" dirty="0">
                <a:sym typeface="Symbol" panose="05050102010706020507" pitchFamily="18" charset="2"/>
              </a:rPr>
              <a:t></a:t>
            </a:r>
            <a:r>
              <a:rPr lang="en-US" dirty="0"/>
              <a:t> 1 =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05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EE834-7F6A-6551-C30A-A41C75C1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D5AB2-102C-0537-5623-29DB4222D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hukum-hukum</a:t>
            </a:r>
            <a:r>
              <a:rPr lang="en-US" sz="2400" dirty="0"/>
              <a:t> </a:t>
            </a:r>
            <a:r>
              <a:rPr lang="en-US" sz="2400" dirty="0" err="1"/>
              <a:t>aljabar</a:t>
            </a:r>
            <a:r>
              <a:rPr lang="en-US" sz="2400" dirty="0"/>
              <a:t> Boolean, </a:t>
            </a:r>
            <a:r>
              <a:rPr lang="en-US" sz="2400" dirty="0" err="1"/>
              <a:t>tentukan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</a:t>
            </a:r>
            <a:r>
              <a:rPr lang="en-US" sz="2400" dirty="0" err="1"/>
              <a:t>komplemen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Boolean f(</a:t>
            </a:r>
            <a:r>
              <a:rPr lang="en-US" sz="2400" dirty="0" err="1"/>
              <a:t>x,y,z</a:t>
            </a:r>
            <a:r>
              <a:rPr lang="en-US" sz="2400" dirty="0"/>
              <a:t>) = </a:t>
            </a:r>
            <a:r>
              <a:rPr lang="en-US" sz="2400" dirty="0" err="1"/>
              <a:t>x'y</a:t>
            </a:r>
            <a:r>
              <a:rPr lang="en-US" sz="2400" dirty="0"/>
              <a:t>(x + z + </a:t>
            </a:r>
            <a:r>
              <a:rPr lang="en-US" sz="2400" dirty="0" err="1"/>
              <a:t>yz</a:t>
            </a:r>
            <a:r>
              <a:rPr lang="en-US" sz="2400" dirty="0"/>
              <a:t>’)</a:t>
            </a:r>
          </a:p>
          <a:p>
            <a:pPr marL="0" indent="0">
              <a:buNone/>
            </a:pPr>
            <a:r>
              <a:rPr lang="en-US" sz="2400" b="1" dirty="0" err="1"/>
              <a:t>Jawaban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dirty="0"/>
              <a:t>f'(</a:t>
            </a:r>
            <a:r>
              <a:rPr lang="en-US" dirty="0" err="1"/>
              <a:t>x,y,z</a:t>
            </a:r>
            <a:r>
              <a:rPr lang="en-US" dirty="0"/>
              <a:t>) = (</a:t>
            </a:r>
            <a:r>
              <a:rPr lang="en-US" dirty="0" err="1"/>
              <a:t>x’y</a:t>
            </a:r>
            <a:r>
              <a:rPr lang="en-US" dirty="0"/>
              <a:t> (x + z + </a:t>
            </a:r>
            <a:r>
              <a:rPr lang="en-US" dirty="0" err="1"/>
              <a:t>yz</a:t>
            </a:r>
            <a:r>
              <a:rPr lang="en-US" dirty="0"/>
              <a:t>’))’</a:t>
            </a:r>
          </a:p>
          <a:p>
            <a:pPr marL="0" indent="0">
              <a:buNone/>
            </a:pPr>
            <a:r>
              <a:rPr lang="en-US" dirty="0"/>
              <a:t>	 = (</a:t>
            </a:r>
            <a:r>
              <a:rPr lang="en-US" dirty="0" err="1"/>
              <a:t>x’y</a:t>
            </a:r>
            <a:r>
              <a:rPr lang="en-US" dirty="0"/>
              <a:t>)’+ (x + z + </a:t>
            </a:r>
            <a:r>
              <a:rPr lang="en-US" dirty="0" err="1"/>
              <a:t>yz</a:t>
            </a:r>
            <a:r>
              <a:rPr lang="en-US" dirty="0"/>
              <a:t>’)’ 	(Hukum De Morgan)</a:t>
            </a:r>
          </a:p>
          <a:p>
            <a:pPr marL="0" indent="0">
              <a:buNone/>
            </a:pPr>
            <a:r>
              <a:rPr lang="en-US" dirty="0"/>
              <a:t>             = (x + y’) + </a:t>
            </a:r>
            <a:r>
              <a:rPr lang="en-US" dirty="0" err="1"/>
              <a:t>x’z</a:t>
            </a:r>
            <a:r>
              <a:rPr lang="en-US" dirty="0"/>
              <a:t>'(</a:t>
            </a:r>
            <a:r>
              <a:rPr lang="en-US" dirty="0" err="1"/>
              <a:t>yz</a:t>
            </a:r>
            <a:r>
              <a:rPr lang="en-US" dirty="0"/>
              <a:t>’)’		(Hukum De Morgan)</a:t>
            </a:r>
          </a:p>
          <a:p>
            <a:pPr marL="0" indent="0">
              <a:buNone/>
            </a:pPr>
            <a:r>
              <a:rPr lang="en-US" dirty="0"/>
              <a:t>             = x + y’ + </a:t>
            </a:r>
            <a:r>
              <a:rPr lang="en-US" dirty="0" err="1"/>
              <a:t>x’z</a:t>
            </a:r>
            <a:r>
              <a:rPr lang="en-US" dirty="0"/>
              <a:t>’(y’ + z)		(Hukum De Morgan)</a:t>
            </a:r>
          </a:p>
          <a:p>
            <a:pPr marL="0" indent="0">
              <a:buNone/>
            </a:pPr>
            <a:r>
              <a:rPr lang="en-US" dirty="0"/>
              <a:t>              = x + y’+ </a:t>
            </a:r>
            <a:r>
              <a:rPr lang="en-US" dirty="0" err="1"/>
              <a:t>x’y’z</a:t>
            </a:r>
            <a:r>
              <a:rPr lang="en-US" dirty="0"/>
              <a:t>’ + </a:t>
            </a:r>
            <a:r>
              <a:rPr lang="en-US" dirty="0" err="1"/>
              <a:t>x’z’z</a:t>
            </a:r>
            <a:r>
              <a:rPr lang="en-US" dirty="0"/>
              <a:t>	(Hukum </a:t>
            </a:r>
            <a:r>
              <a:rPr lang="en-US" dirty="0" err="1"/>
              <a:t>Distributif</a:t>
            </a:r>
            <a:r>
              <a:rPr lang="en-US" dirty="0"/>
              <a:t>)           </a:t>
            </a:r>
          </a:p>
          <a:p>
            <a:pPr marL="0" indent="0">
              <a:buNone/>
            </a:pPr>
            <a:r>
              <a:rPr lang="en-US" dirty="0"/>
              <a:t>              = x + y’+ </a:t>
            </a:r>
            <a:r>
              <a:rPr lang="en-US" dirty="0" err="1"/>
              <a:t>x’y’z</a:t>
            </a:r>
            <a:r>
              <a:rPr lang="en-US" dirty="0"/>
              <a:t>’ + 0          </a:t>
            </a:r>
          </a:p>
          <a:p>
            <a:pPr marL="0" indent="0">
              <a:buNone/>
            </a:pPr>
            <a:r>
              <a:rPr lang="en-US" dirty="0"/>
              <a:t>	  = x + y’+ </a:t>
            </a:r>
            <a:r>
              <a:rPr lang="en-US" dirty="0" err="1"/>
              <a:t>x’y’z</a:t>
            </a:r>
            <a:r>
              <a:rPr lang="en-US" dirty="0"/>
              <a:t>’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8E597-C649-FFDE-B88F-7987B092B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56FF95-DE1E-78E4-ED21-C2E1C4DE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963" y="3347316"/>
            <a:ext cx="3819037" cy="351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56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A3CFB-C34C-6D3A-1F2B-BA8747819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7384C-D9C0-198D-2F4E-370834047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Nyatakan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Boolean f(</a:t>
            </a:r>
            <a:r>
              <a:rPr lang="en-US" sz="2400" dirty="0" err="1"/>
              <a:t>x,y,z</a:t>
            </a:r>
            <a:r>
              <a:rPr lang="en-US" sz="2400" dirty="0"/>
              <a:t>) = x’(x + y’ + z’)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operator + dan </a:t>
            </a:r>
            <a:r>
              <a:rPr lang="en-US" sz="2400" dirty="0" err="1"/>
              <a:t>komplemen</a:t>
            </a:r>
            <a:r>
              <a:rPr lang="en-US" sz="2400" dirty="0"/>
              <a:t> (‘) </a:t>
            </a:r>
            <a:r>
              <a:rPr lang="en-US" sz="2400" dirty="0" err="1"/>
              <a:t>saja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 err="1"/>
              <a:t>Jawaban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f(</a:t>
            </a:r>
            <a:r>
              <a:rPr lang="en-US" sz="2400" dirty="0" err="1"/>
              <a:t>x,y</a:t>
            </a:r>
            <a:r>
              <a:rPr lang="en-US" sz="2400" dirty="0"/>
              <a:t>) = x’(</a:t>
            </a:r>
            <a:r>
              <a:rPr lang="en-US" sz="2400" dirty="0" err="1"/>
              <a:t>x+y</a:t>
            </a:r>
            <a:r>
              <a:rPr lang="en-US" sz="2400" dirty="0"/>
              <a:t>’+z’)</a:t>
            </a:r>
          </a:p>
          <a:p>
            <a:pPr marL="0" indent="0">
              <a:buNone/>
            </a:pPr>
            <a:r>
              <a:rPr lang="en-US" sz="2400" dirty="0"/>
              <a:t>          = </a:t>
            </a:r>
            <a:r>
              <a:rPr lang="en-US" sz="2400" dirty="0" err="1"/>
              <a:t>x’x</a:t>
            </a:r>
            <a:r>
              <a:rPr lang="en-US" sz="2400" dirty="0"/>
              <a:t> + </a:t>
            </a:r>
            <a:r>
              <a:rPr lang="en-US" sz="2400" dirty="0" err="1"/>
              <a:t>x’y</a:t>
            </a:r>
            <a:r>
              <a:rPr lang="en-US" sz="2400" dirty="0"/>
              <a:t>’ + </a:t>
            </a:r>
            <a:r>
              <a:rPr lang="en-US" sz="2400" dirty="0" err="1"/>
              <a:t>x’z</a:t>
            </a:r>
            <a:r>
              <a:rPr lang="en-US" sz="2400" dirty="0"/>
              <a:t>’</a:t>
            </a:r>
          </a:p>
          <a:p>
            <a:pPr marL="0" indent="0">
              <a:buNone/>
            </a:pPr>
            <a:r>
              <a:rPr lang="en-US" sz="2400" dirty="0"/>
              <a:t>          = 0 + </a:t>
            </a:r>
            <a:r>
              <a:rPr lang="en-US" sz="2400" dirty="0" err="1"/>
              <a:t>x’y</a:t>
            </a:r>
            <a:r>
              <a:rPr lang="en-US" sz="2400" dirty="0"/>
              <a:t>’ + </a:t>
            </a:r>
            <a:r>
              <a:rPr lang="en-US" sz="2400" dirty="0" err="1"/>
              <a:t>x’z</a:t>
            </a:r>
            <a:r>
              <a:rPr lang="en-US" sz="2400" dirty="0"/>
              <a:t>’</a:t>
            </a:r>
          </a:p>
          <a:p>
            <a:pPr marL="0" indent="0">
              <a:buNone/>
            </a:pPr>
            <a:r>
              <a:rPr lang="en-US" sz="2400" dirty="0"/>
              <a:t>          = </a:t>
            </a:r>
            <a:r>
              <a:rPr lang="en-US" sz="2400" dirty="0" err="1"/>
              <a:t>x’y</a:t>
            </a:r>
            <a:r>
              <a:rPr lang="en-US" sz="2400" dirty="0"/>
              <a:t>’ + </a:t>
            </a:r>
            <a:r>
              <a:rPr lang="en-US" sz="2400" dirty="0" err="1"/>
              <a:t>x’z</a:t>
            </a:r>
            <a:r>
              <a:rPr lang="en-US" sz="2400" dirty="0"/>
              <a:t>’</a:t>
            </a:r>
          </a:p>
          <a:p>
            <a:pPr marL="0" indent="0">
              <a:buNone/>
            </a:pPr>
            <a:r>
              <a:rPr lang="en-US" sz="2400" dirty="0"/>
              <a:t>          = (</a:t>
            </a:r>
            <a:r>
              <a:rPr lang="en-US" sz="2400" dirty="0" err="1"/>
              <a:t>x+y</a:t>
            </a:r>
            <a:r>
              <a:rPr lang="en-US" sz="2400" dirty="0"/>
              <a:t>)’ + (</a:t>
            </a:r>
            <a:r>
              <a:rPr lang="en-US" sz="2400" dirty="0" err="1"/>
              <a:t>x+z</a:t>
            </a:r>
            <a:r>
              <a:rPr lang="en-US" sz="2400" dirty="0"/>
              <a:t>)’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C58C4-B420-EB04-B3A9-D0341083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1C5BE6-4A58-06C2-BD22-81352E342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923" y="2801216"/>
            <a:ext cx="3819037" cy="351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953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Kanonik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3729" y="1600200"/>
            <a:ext cx="10605053" cy="475615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Ekspresi</a:t>
            </a:r>
            <a:r>
              <a:rPr lang="en-US" dirty="0"/>
              <a:t> Boolean yang </a:t>
            </a:r>
            <a:r>
              <a:rPr lang="en-US" dirty="0" err="1"/>
              <a:t>menspesifikasikan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disajikan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Pertama</a:t>
            </a:r>
            <a:r>
              <a:rPr lang="en-US" dirty="0"/>
              <a:t>,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b="1" dirty="0" err="1"/>
              <a:t>penjumlahan</a:t>
            </a:r>
            <a:r>
              <a:rPr lang="en-US" b="1" dirty="0"/>
              <a:t> </a:t>
            </a:r>
            <a:r>
              <a:rPr lang="en-US" b="1" dirty="0" err="1"/>
              <a:t>dari</a:t>
            </a:r>
            <a:r>
              <a:rPr lang="en-US" b="1" dirty="0"/>
              <a:t> </a:t>
            </a:r>
            <a:r>
              <a:rPr lang="en-US" b="1" dirty="0" err="1"/>
              <a:t>hasil</a:t>
            </a:r>
            <a:r>
              <a:rPr lang="en-US" b="1" dirty="0"/>
              <a:t> kali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b="1" dirty="0" err="1"/>
              <a:t>perkalian</a:t>
            </a:r>
            <a:r>
              <a:rPr lang="en-US" b="1" dirty="0"/>
              <a:t> </a:t>
            </a:r>
            <a:r>
              <a:rPr lang="en-US" b="1" dirty="0" err="1"/>
              <a:t>dari</a:t>
            </a:r>
            <a:r>
              <a:rPr lang="en-US" b="1" dirty="0"/>
              <a:t> </a:t>
            </a:r>
            <a:r>
              <a:rPr lang="en-US" b="1" dirty="0" err="1"/>
              <a:t>hasil</a:t>
            </a:r>
            <a:r>
              <a:rPr lang="en-US" b="1" dirty="0"/>
              <a:t> </a:t>
            </a:r>
            <a:r>
              <a:rPr lang="en-US" b="1" dirty="0" err="1"/>
              <a:t>jumlah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b="1" dirty="0" err="1"/>
              <a:t>Contoh</a:t>
            </a:r>
            <a:r>
              <a:rPr lang="en-US" b="1" dirty="0"/>
              <a:t> 3: </a:t>
            </a:r>
          </a:p>
          <a:p>
            <a:pPr marL="0" indent="0">
              <a:buNone/>
            </a:pPr>
            <a:r>
              <a:rPr lang="en-US" i="1" dirty="0"/>
              <a:t>       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</a:t>
            </a:r>
            <a:r>
              <a:rPr lang="en-US" i="1" dirty="0" err="1"/>
              <a:t>x</a:t>
            </a:r>
            <a:r>
              <a:rPr lang="en-US" dirty="0" err="1"/>
              <a:t>’</a:t>
            </a:r>
            <a:r>
              <a:rPr lang="en-US" i="1" dirty="0" err="1"/>
              <a:t>y</a:t>
            </a:r>
            <a:r>
              <a:rPr lang="en-US" dirty="0" err="1"/>
              <a:t>’</a:t>
            </a:r>
            <a:r>
              <a:rPr lang="en-US" i="1" dirty="0" err="1"/>
              <a:t>z</a:t>
            </a:r>
            <a:r>
              <a:rPr lang="en-US" dirty="0"/>
              <a:t> + </a:t>
            </a:r>
            <a:r>
              <a:rPr lang="en-US" i="1" dirty="0" err="1"/>
              <a:t>xy</a:t>
            </a:r>
            <a:r>
              <a:rPr lang="en-US" dirty="0" err="1"/>
              <a:t>’</a:t>
            </a:r>
            <a:r>
              <a:rPr lang="en-US" i="1" dirty="0" err="1"/>
              <a:t>z</a:t>
            </a:r>
            <a:r>
              <a:rPr lang="en-US" dirty="0"/>
              <a:t>’ + </a:t>
            </a:r>
            <a:r>
              <a:rPr lang="en-US" i="1" dirty="0"/>
              <a:t>xyz</a:t>
            </a: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dan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      g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 + </a:t>
            </a:r>
            <a:r>
              <a:rPr lang="en-US" i="1" dirty="0"/>
              <a:t>z</a:t>
            </a:r>
            <a:r>
              <a:rPr lang="en-US" dirty="0"/>
              <a:t>)(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’ + </a:t>
            </a:r>
            <a:r>
              <a:rPr lang="en-US" i="1" dirty="0"/>
              <a:t>z</a:t>
            </a:r>
            <a:r>
              <a:rPr lang="en-US" dirty="0"/>
              <a:t>)(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’ + </a:t>
            </a:r>
            <a:r>
              <a:rPr lang="en-US" i="1" dirty="0"/>
              <a:t>z</a:t>
            </a:r>
            <a:r>
              <a:rPr lang="en-US" dirty="0"/>
              <a:t>’)(</a:t>
            </a:r>
            <a:r>
              <a:rPr lang="en-US" i="1" dirty="0"/>
              <a:t>x</a:t>
            </a:r>
            <a:r>
              <a:rPr lang="en-US" dirty="0"/>
              <a:t>’ + </a:t>
            </a:r>
            <a:r>
              <a:rPr lang="en-US" i="1" dirty="0"/>
              <a:t>y</a:t>
            </a:r>
            <a:r>
              <a:rPr lang="en-US" dirty="0"/>
              <a:t> + </a:t>
            </a:r>
            <a:r>
              <a:rPr lang="en-US" i="1" dirty="0"/>
              <a:t>z</a:t>
            </a:r>
            <a:r>
              <a:rPr lang="en-US" dirty="0"/>
              <a:t>’)(</a:t>
            </a:r>
            <a:r>
              <a:rPr lang="en-US" i="1" dirty="0"/>
              <a:t>x</a:t>
            </a:r>
            <a:r>
              <a:rPr lang="en-US" dirty="0"/>
              <a:t>’ + </a:t>
            </a:r>
            <a:r>
              <a:rPr lang="en-US" i="1" dirty="0"/>
              <a:t>y</a:t>
            </a:r>
            <a:r>
              <a:rPr lang="en-US" dirty="0"/>
              <a:t>’ + </a:t>
            </a:r>
            <a:r>
              <a:rPr lang="en-US" i="1" dirty="0"/>
              <a:t>z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23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4278" y="762001"/>
            <a:ext cx="10177670" cy="5364163"/>
          </a:xfrm>
        </p:spPr>
        <p:txBody>
          <a:bodyPr>
            <a:normAutofit/>
          </a:bodyPr>
          <a:lstStyle/>
          <a:p>
            <a:r>
              <a:rPr lang="en-US" sz="2400" i="1" dirty="0" err="1"/>
              <a:t>Minterm</a:t>
            </a:r>
            <a:r>
              <a:rPr lang="en-US" sz="2400" dirty="0"/>
              <a:t>: </a:t>
            </a:r>
            <a:r>
              <a:rPr lang="en-US" sz="2400" dirty="0" err="1"/>
              <a:t>suku</a:t>
            </a:r>
            <a:r>
              <a:rPr lang="en-US" sz="2400" dirty="0"/>
              <a:t> (</a:t>
            </a:r>
            <a:r>
              <a:rPr lang="en-US" sz="2400" i="1" dirty="0"/>
              <a:t>term</a:t>
            </a:r>
            <a:r>
              <a:rPr lang="en-US" sz="2400" dirty="0"/>
              <a:t>) di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ekspresi</a:t>
            </a:r>
            <a:r>
              <a:rPr lang="en-US" sz="2400" dirty="0"/>
              <a:t> </a:t>
            </a:r>
            <a:r>
              <a:rPr lang="en-US" sz="2400" dirty="0" err="1"/>
              <a:t>boolean</a:t>
            </a:r>
            <a:r>
              <a:rPr lang="en-US" sz="2400" dirty="0"/>
              <a:t> </a:t>
            </a:r>
            <a:r>
              <a:rPr lang="en-US" sz="2400" dirty="0" err="1"/>
              <a:t>mengandung</a:t>
            </a:r>
            <a:r>
              <a:rPr lang="en-US" sz="2400" dirty="0"/>
              <a:t> literal yang </a:t>
            </a:r>
            <a:r>
              <a:rPr lang="en-US" sz="2400" dirty="0" err="1"/>
              <a:t>lengkap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</a:t>
            </a:r>
            <a:r>
              <a:rPr lang="en-US" sz="2400" dirty="0" err="1"/>
              <a:t>hasil</a:t>
            </a:r>
            <a:r>
              <a:rPr lang="en-US" sz="2400" dirty="0"/>
              <a:t> kali</a:t>
            </a:r>
          </a:p>
          <a:p>
            <a:endParaRPr lang="en-US" sz="2400" dirty="0"/>
          </a:p>
          <a:p>
            <a:r>
              <a:rPr lang="en-US" sz="2400" i="1" dirty="0" err="1"/>
              <a:t>Maxterm</a:t>
            </a:r>
            <a:r>
              <a:rPr lang="en-US" sz="2400" dirty="0"/>
              <a:t>: </a:t>
            </a:r>
            <a:r>
              <a:rPr lang="en-US" sz="2400" dirty="0" err="1"/>
              <a:t>suku</a:t>
            </a:r>
            <a:r>
              <a:rPr lang="en-US" sz="2400" dirty="0"/>
              <a:t> (</a:t>
            </a:r>
            <a:r>
              <a:rPr lang="en-US" sz="2400" i="1" dirty="0"/>
              <a:t>term</a:t>
            </a:r>
            <a:r>
              <a:rPr lang="en-US" sz="2400" dirty="0"/>
              <a:t>) di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ekspresi</a:t>
            </a:r>
            <a:r>
              <a:rPr lang="en-US" sz="2400" dirty="0"/>
              <a:t> </a:t>
            </a:r>
            <a:r>
              <a:rPr lang="en-US" sz="2400" dirty="0" err="1"/>
              <a:t>boolean</a:t>
            </a:r>
            <a:r>
              <a:rPr lang="en-US" sz="2400" dirty="0"/>
              <a:t> </a:t>
            </a:r>
            <a:r>
              <a:rPr lang="en-US" sz="2400" dirty="0" err="1"/>
              <a:t>mengandung</a:t>
            </a:r>
            <a:r>
              <a:rPr lang="en-US" sz="2400" dirty="0"/>
              <a:t> literal yang </a:t>
            </a:r>
            <a:r>
              <a:rPr lang="en-US" sz="2400" dirty="0" err="1"/>
              <a:t>lengkap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</a:t>
            </a:r>
            <a:r>
              <a:rPr lang="en-US" sz="2400" dirty="0" err="1"/>
              <a:t>hasil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b="1" dirty="0" err="1"/>
              <a:t>Contoh</a:t>
            </a:r>
            <a:r>
              <a:rPr lang="en-US" sz="2400" b="1" dirty="0"/>
              <a:t> 4: </a:t>
            </a:r>
          </a:p>
          <a:p>
            <a:pPr marL="0" indent="0">
              <a:buNone/>
            </a:pPr>
            <a:r>
              <a:rPr lang="en-US" sz="2300" i="1" dirty="0"/>
              <a:t>       f</a:t>
            </a:r>
            <a:r>
              <a:rPr lang="en-US" sz="2300" dirty="0"/>
              <a:t>(</a:t>
            </a:r>
            <a:r>
              <a:rPr lang="en-US" sz="2300" i="1" dirty="0"/>
              <a:t>x</a:t>
            </a:r>
            <a:r>
              <a:rPr lang="en-US" sz="2300" dirty="0"/>
              <a:t>, </a:t>
            </a:r>
            <a:r>
              <a:rPr lang="en-US" sz="2300" i="1" dirty="0"/>
              <a:t>y</a:t>
            </a:r>
            <a:r>
              <a:rPr lang="en-US" sz="2300" dirty="0"/>
              <a:t>, </a:t>
            </a:r>
            <a:r>
              <a:rPr lang="en-US" sz="2300" i="1" dirty="0"/>
              <a:t>z</a:t>
            </a:r>
            <a:r>
              <a:rPr lang="en-US" sz="2300" dirty="0"/>
              <a:t>) = </a:t>
            </a:r>
            <a:r>
              <a:rPr lang="en-US" sz="2300" i="1" dirty="0" err="1"/>
              <a:t>x</a:t>
            </a:r>
            <a:r>
              <a:rPr lang="en-US" sz="2300" dirty="0" err="1"/>
              <a:t>’</a:t>
            </a:r>
            <a:r>
              <a:rPr lang="en-US" sz="2300" i="1" dirty="0" err="1"/>
              <a:t>y</a:t>
            </a:r>
            <a:r>
              <a:rPr lang="en-US" sz="2300" dirty="0" err="1"/>
              <a:t>’</a:t>
            </a:r>
            <a:r>
              <a:rPr lang="en-US" sz="2300" i="1" dirty="0" err="1"/>
              <a:t>z</a:t>
            </a:r>
            <a:r>
              <a:rPr lang="en-US" sz="2300" dirty="0"/>
              <a:t> + </a:t>
            </a:r>
            <a:r>
              <a:rPr lang="en-US" sz="2300" i="1" dirty="0" err="1"/>
              <a:t>xy</a:t>
            </a:r>
            <a:r>
              <a:rPr lang="en-US" sz="2300" dirty="0" err="1"/>
              <a:t>’</a:t>
            </a:r>
            <a:r>
              <a:rPr lang="en-US" sz="2300" i="1" dirty="0" err="1"/>
              <a:t>z</a:t>
            </a:r>
            <a:r>
              <a:rPr lang="en-US" sz="2300" dirty="0"/>
              <a:t>’ + </a:t>
            </a:r>
            <a:r>
              <a:rPr lang="en-US" sz="2300" i="1" dirty="0" err="1"/>
              <a:t>xyz</a:t>
            </a:r>
            <a:r>
              <a:rPr lang="en-US" sz="2300" dirty="0"/>
              <a:t>   </a:t>
            </a:r>
            <a:r>
              <a:rPr lang="en-US" sz="2300" dirty="0">
                <a:sym typeface="Wingdings" panose="05000000000000000000" pitchFamily="2" charset="2"/>
              </a:rPr>
              <a:t> 3 </a:t>
            </a:r>
            <a:r>
              <a:rPr lang="en-US" sz="2300" dirty="0" err="1">
                <a:sym typeface="Wingdings" panose="05000000000000000000" pitchFamily="2" charset="2"/>
              </a:rPr>
              <a:t>buah</a:t>
            </a:r>
            <a:r>
              <a:rPr lang="en-US" sz="2300" dirty="0">
                <a:sym typeface="Wingdings" panose="05000000000000000000" pitchFamily="2" charset="2"/>
              </a:rPr>
              <a:t> </a:t>
            </a:r>
            <a:r>
              <a:rPr lang="en-US" sz="2300" i="1" dirty="0" err="1">
                <a:sym typeface="Wingdings" panose="05000000000000000000" pitchFamily="2" charset="2"/>
              </a:rPr>
              <a:t>minterm</a:t>
            </a:r>
            <a:r>
              <a:rPr lang="en-US" sz="2300" dirty="0">
                <a:sym typeface="Wingdings" panose="05000000000000000000" pitchFamily="2" charset="2"/>
              </a:rPr>
              <a:t>: </a:t>
            </a:r>
            <a:r>
              <a:rPr lang="en-US" sz="2300" i="1" dirty="0" err="1"/>
              <a:t>x</a:t>
            </a:r>
            <a:r>
              <a:rPr lang="en-US" sz="2300" dirty="0" err="1"/>
              <a:t>’</a:t>
            </a:r>
            <a:r>
              <a:rPr lang="en-US" sz="2300" i="1" dirty="0" err="1"/>
              <a:t>y</a:t>
            </a:r>
            <a:r>
              <a:rPr lang="en-US" sz="2300" dirty="0" err="1"/>
              <a:t>’</a:t>
            </a:r>
            <a:r>
              <a:rPr lang="en-US" sz="2300" i="1" dirty="0" err="1"/>
              <a:t>z</a:t>
            </a:r>
            <a:r>
              <a:rPr lang="en-US" sz="2300" i="1" dirty="0"/>
              <a:t>, </a:t>
            </a:r>
            <a:r>
              <a:rPr lang="en-US" sz="2300" i="1" dirty="0" err="1"/>
              <a:t>xy</a:t>
            </a:r>
            <a:r>
              <a:rPr lang="en-US" sz="2300" dirty="0" err="1"/>
              <a:t>’</a:t>
            </a:r>
            <a:r>
              <a:rPr lang="en-US" sz="2300" i="1" dirty="0" err="1"/>
              <a:t>z</a:t>
            </a:r>
            <a:r>
              <a:rPr lang="en-US" sz="2300" dirty="0"/>
              <a:t>’, </a:t>
            </a:r>
            <a:r>
              <a:rPr lang="en-US" sz="2300" i="1" dirty="0"/>
              <a:t>xyz</a:t>
            </a:r>
            <a:r>
              <a:rPr lang="en-US" sz="2300" dirty="0"/>
              <a:t> </a:t>
            </a:r>
          </a:p>
          <a:p>
            <a:pPr marL="0" indent="0">
              <a:buNone/>
            </a:pPr>
            <a:endParaRPr lang="en-US" sz="2300" i="1" dirty="0"/>
          </a:p>
          <a:p>
            <a:pPr marL="0" indent="0">
              <a:buNone/>
            </a:pPr>
            <a:r>
              <a:rPr lang="en-US" sz="2300" i="1" dirty="0"/>
              <a:t>      g</a:t>
            </a:r>
            <a:r>
              <a:rPr lang="en-US" sz="2300" dirty="0"/>
              <a:t>(</a:t>
            </a:r>
            <a:r>
              <a:rPr lang="en-US" sz="2300" i="1" dirty="0"/>
              <a:t>x</a:t>
            </a:r>
            <a:r>
              <a:rPr lang="en-US" sz="2300" dirty="0"/>
              <a:t>, </a:t>
            </a:r>
            <a:r>
              <a:rPr lang="en-US" sz="2300" i="1" dirty="0"/>
              <a:t>y</a:t>
            </a:r>
            <a:r>
              <a:rPr lang="en-US" sz="2300" dirty="0"/>
              <a:t>, </a:t>
            </a:r>
            <a:r>
              <a:rPr lang="en-US" sz="2300" i="1" dirty="0"/>
              <a:t>z</a:t>
            </a:r>
            <a:r>
              <a:rPr lang="en-US" sz="2300" dirty="0"/>
              <a:t>) = (</a:t>
            </a:r>
            <a:r>
              <a:rPr lang="en-US" sz="2300" i="1" dirty="0"/>
              <a:t>x</a:t>
            </a:r>
            <a:r>
              <a:rPr lang="en-US" sz="2300" dirty="0"/>
              <a:t> + </a:t>
            </a:r>
            <a:r>
              <a:rPr lang="en-US" sz="2300" i="1" dirty="0"/>
              <a:t>y</a:t>
            </a:r>
            <a:r>
              <a:rPr lang="en-US" sz="2300" dirty="0"/>
              <a:t> + </a:t>
            </a:r>
            <a:r>
              <a:rPr lang="en-US" sz="2300" i="1" dirty="0"/>
              <a:t>z</a:t>
            </a:r>
            <a:r>
              <a:rPr lang="en-US" sz="2300" dirty="0"/>
              <a:t>)(</a:t>
            </a:r>
            <a:r>
              <a:rPr lang="en-US" sz="2300" i="1" dirty="0"/>
              <a:t>x</a:t>
            </a:r>
            <a:r>
              <a:rPr lang="en-US" sz="2300" dirty="0"/>
              <a:t> + </a:t>
            </a:r>
            <a:r>
              <a:rPr lang="en-US" sz="2300" i="1" dirty="0"/>
              <a:t>y</a:t>
            </a:r>
            <a:r>
              <a:rPr lang="en-US" sz="2300" dirty="0"/>
              <a:t>’ + </a:t>
            </a:r>
            <a:r>
              <a:rPr lang="en-US" sz="2300" i="1" dirty="0"/>
              <a:t>z</a:t>
            </a:r>
            <a:r>
              <a:rPr lang="en-US" sz="2300" dirty="0"/>
              <a:t>)(</a:t>
            </a:r>
            <a:r>
              <a:rPr lang="en-US" sz="2300" i="1" dirty="0"/>
              <a:t>x</a:t>
            </a:r>
            <a:r>
              <a:rPr lang="en-US" sz="2300" dirty="0"/>
              <a:t> + </a:t>
            </a:r>
            <a:r>
              <a:rPr lang="en-US" sz="2300" i="1" dirty="0"/>
              <a:t>y</a:t>
            </a:r>
            <a:r>
              <a:rPr lang="en-US" sz="2300" dirty="0"/>
              <a:t>’ + </a:t>
            </a:r>
            <a:r>
              <a:rPr lang="en-US" sz="2300" i="1" dirty="0"/>
              <a:t>z</a:t>
            </a:r>
            <a:r>
              <a:rPr lang="en-US" sz="2300" dirty="0"/>
              <a:t>’)(</a:t>
            </a:r>
            <a:r>
              <a:rPr lang="en-US" sz="2300" i="1" dirty="0"/>
              <a:t>x</a:t>
            </a:r>
            <a:r>
              <a:rPr lang="en-US" sz="2300" dirty="0"/>
              <a:t>’ + </a:t>
            </a:r>
            <a:r>
              <a:rPr lang="en-US" sz="2300" i="1" dirty="0"/>
              <a:t>y</a:t>
            </a:r>
            <a:r>
              <a:rPr lang="en-US" sz="2300" dirty="0"/>
              <a:t> + </a:t>
            </a:r>
            <a:r>
              <a:rPr lang="en-US" sz="2300" i="1" dirty="0"/>
              <a:t>z</a:t>
            </a:r>
            <a:r>
              <a:rPr lang="en-US" sz="2300" dirty="0"/>
              <a:t>’)(</a:t>
            </a:r>
            <a:r>
              <a:rPr lang="en-US" sz="2300" i="1" dirty="0"/>
              <a:t>x</a:t>
            </a:r>
            <a:r>
              <a:rPr lang="en-US" sz="2300" dirty="0"/>
              <a:t>’ + </a:t>
            </a:r>
            <a:r>
              <a:rPr lang="en-US" sz="2300" i="1" dirty="0"/>
              <a:t>y</a:t>
            </a:r>
            <a:r>
              <a:rPr lang="en-US" sz="2300" dirty="0"/>
              <a:t>’ + </a:t>
            </a:r>
            <a:r>
              <a:rPr lang="en-US" sz="2300" i="1" dirty="0"/>
              <a:t>z</a:t>
            </a:r>
            <a:r>
              <a:rPr lang="en-US" sz="2300" dirty="0"/>
              <a:t>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>
                <a:sym typeface="Wingdings" panose="05000000000000000000" pitchFamily="2" charset="2"/>
              </a:rPr>
              <a:t> 5 </a:t>
            </a:r>
            <a:r>
              <a:rPr lang="en-US" sz="2400" dirty="0" err="1">
                <a:sym typeface="Wingdings" panose="05000000000000000000" pitchFamily="2" charset="2"/>
              </a:rPr>
              <a:t>buah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ym typeface="Wingdings" panose="05000000000000000000" pitchFamily="2" charset="2"/>
              </a:rPr>
              <a:t>maxterm</a:t>
            </a:r>
            <a:r>
              <a:rPr lang="en-US" sz="2400" dirty="0">
                <a:sym typeface="Wingdings" panose="05000000000000000000" pitchFamily="2" charset="2"/>
              </a:rPr>
              <a:t>: 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dirty="0"/>
              <a:t> + </a:t>
            </a:r>
            <a:r>
              <a:rPr lang="en-US" sz="2400" i="1" dirty="0"/>
              <a:t>y</a:t>
            </a:r>
            <a:r>
              <a:rPr lang="en-US" sz="2400" dirty="0"/>
              <a:t> + </a:t>
            </a:r>
            <a:r>
              <a:rPr lang="en-US" sz="2400" i="1" dirty="0"/>
              <a:t>z</a:t>
            </a:r>
            <a:r>
              <a:rPr lang="en-US" sz="2400" dirty="0"/>
              <a:t>), (</a:t>
            </a:r>
            <a:r>
              <a:rPr lang="en-US" sz="2400" i="1" dirty="0"/>
              <a:t>x</a:t>
            </a:r>
            <a:r>
              <a:rPr lang="en-US" sz="2400" dirty="0"/>
              <a:t> + </a:t>
            </a:r>
            <a:r>
              <a:rPr lang="en-US" sz="2400" i="1" dirty="0"/>
              <a:t>y</a:t>
            </a:r>
            <a:r>
              <a:rPr lang="en-US" sz="2400" dirty="0"/>
              <a:t>’ + </a:t>
            </a:r>
            <a:r>
              <a:rPr lang="en-US" sz="2400" i="1" dirty="0"/>
              <a:t>z</a:t>
            </a:r>
            <a:r>
              <a:rPr lang="en-US" sz="2400" dirty="0"/>
              <a:t>), (</a:t>
            </a:r>
            <a:r>
              <a:rPr lang="en-US" sz="2400" i="1" dirty="0"/>
              <a:t>x</a:t>
            </a:r>
            <a:r>
              <a:rPr lang="en-US" sz="2400" dirty="0"/>
              <a:t> + </a:t>
            </a:r>
            <a:r>
              <a:rPr lang="en-US" sz="2400" i="1" dirty="0"/>
              <a:t>y</a:t>
            </a:r>
            <a:r>
              <a:rPr lang="en-US" sz="2400" dirty="0"/>
              <a:t>’ + </a:t>
            </a:r>
            <a:r>
              <a:rPr lang="en-US" sz="2400" i="1" dirty="0"/>
              <a:t>z</a:t>
            </a:r>
            <a:r>
              <a:rPr lang="en-US" sz="2400" dirty="0"/>
              <a:t>’), </a:t>
            </a:r>
          </a:p>
          <a:p>
            <a:pPr marL="0" indent="0">
              <a:buNone/>
            </a:pPr>
            <a:r>
              <a:rPr lang="en-US" sz="2400" dirty="0"/>
              <a:t>			           (</a:t>
            </a:r>
            <a:r>
              <a:rPr lang="en-US" sz="2400" i="1" dirty="0"/>
              <a:t>x</a:t>
            </a:r>
            <a:r>
              <a:rPr lang="en-US" sz="2400" dirty="0"/>
              <a:t>’ + </a:t>
            </a:r>
            <a:r>
              <a:rPr lang="en-US" sz="2400" i="1" dirty="0"/>
              <a:t>y</a:t>
            </a:r>
            <a:r>
              <a:rPr lang="en-US" sz="2400" dirty="0"/>
              <a:t> + </a:t>
            </a:r>
            <a:r>
              <a:rPr lang="en-US" sz="2400" i="1" dirty="0"/>
              <a:t>z</a:t>
            </a:r>
            <a:r>
              <a:rPr lang="en-US" sz="2400" dirty="0"/>
              <a:t>’), </a:t>
            </a:r>
            <a:r>
              <a:rPr lang="en-US" sz="2400" dirty="0" err="1"/>
              <a:t>dan</a:t>
            </a:r>
            <a:r>
              <a:rPr lang="en-US" sz="2400" dirty="0"/>
              <a:t> (</a:t>
            </a:r>
            <a:r>
              <a:rPr lang="en-US" sz="2400" i="1" dirty="0"/>
              <a:t>x</a:t>
            </a:r>
            <a:r>
              <a:rPr lang="en-US" sz="2400" dirty="0"/>
              <a:t>’ + </a:t>
            </a:r>
            <a:r>
              <a:rPr lang="en-US" sz="2400" i="1" dirty="0"/>
              <a:t>y</a:t>
            </a:r>
            <a:r>
              <a:rPr lang="en-US" sz="2400" dirty="0"/>
              <a:t>’ + </a:t>
            </a:r>
            <a:r>
              <a:rPr lang="en-US" sz="2400" i="1" dirty="0"/>
              <a:t>z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17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38200"/>
            <a:ext cx="10939670" cy="5518150"/>
          </a:xfrm>
        </p:spPr>
        <p:txBody>
          <a:bodyPr>
            <a:normAutofit/>
          </a:bodyPr>
          <a:lstStyle/>
          <a:p>
            <a:r>
              <a:rPr lang="en-US" sz="2400" dirty="0" err="1"/>
              <a:t>Misalkan</a:t>
            </a:r>
            <a:r>
              <a:rPr lang="en-US" sz="2400" dirty="0"/>
              <a:t> </a:t>
            </a:r>
            <a:r>
              <a:rPr lang="en-US" sz="2400" dirty="0" err="1"/>
              <a:t>peubah</a:t>
            </a:r>
            <a:r>
              <a:rPr lang="en-US" sz="2400" dirty="0"/>
              <a:t> (</a:t>
            </a:r>
            <a:r>
              <a:rPr lang="en-US" sz="2400" i="1" dirty="0"/>
              <a:t>variable</a:t>
            </a:r>
            <a:r>
              <a:rPr lang="en-US" sz="2400" dirty="0"/>
              <a:t>) </a:t>
            </a:r>
            <a:r>
              <a:rPr lang="en-US" sz="2400" dirty="0" err="1"/>
              <a:t>fungsi</a:t>
            </a:r>
            <a:r>
              <a:rPr lang="en-US" sz="2400" dirty="0"/>
              <a:t> Boolean </a:t>
            </a:r>
            <a:r>
              <a:rPr lang="en-US" sz="2400" dirty="0" err="1"/>
              <a:t>adalah</a:t>
            </a:r>
            <a:r>
              <a:rPr lang="en-US" sz="2400" dirty="0"/>
              <a:t> x, y, </a:t>
            </a:r>
            <a:r>
              <a:rPr lang="en-US" sz="2400" dirty="0" err="1"/>
              <a:t>dan</a:t>
            </a:r>
            <a:r>
              <a:rPr lang="en-US" sz="2400" dirty="0"/>
              <a:t> z</a:t>
            </a:r>
          </a:p>
          <a:p>
            <a:pPr marL="0" indent="0">
              <a:buNone/>
            </a:pPr>
            <a:r>
              <a:rPr lang="en-US" sz="2400" dirty="0"/>
              <a:t>     </a:t>
            </a:r>
            <a:r>
              <a:rPr lang="en-US" sz="2400" dirty="0" err="1"/>
              <a:t>Maka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x’y</a:t>
            </a:r>
            <a:r>
              <a:rPr lang="en-US" sz="2400" dirty="0"/>
              <a:t> 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 err="1">
                <a:sym typeface="Wingdings" panose="05000000000000000000" pitchFamily="2" charset="2"/>
              </a:rPr>
              <a:t>bukan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ym typeface="Wingdings" panose="05000000000000000000" pitchFamily="2" charset="2"/>
              </a:rPr>
              <a:t>minterm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karena</a:t>
            </a:r>
            <a:r>
              <a:rPr lang="en-US" sz="2400" dirty="0">
                <a:sym typeface="Wingdings" panose="05000000000000000000" pitchFamily="2" charset="2"/>
              </a:rPr>
              <a:t> literal </a:t>
            </a:r>
            <a:r>
              <a:rPr lang="en-US" sz="2400" dirty="0" err="1">
                <a:sym typeface="Wingdings" panose="05000000000000000000" pitchFamily="2" charset="2"/>
              </a:rPr>
              <a:t>tidak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lengkap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dirty="0" err="1">
                <a:sym typeface="Wingdings" panose="05000000000000000000" pitchFamily="2" charset="2"/>
              </a:rPr>
              <a:t>y’z</a:t>
            </a:r>
            <a:r>
              <a:rPr lang="en-US" sz="2400" dirty="0">
                <a:sym typeface="Wingdings" panose="05000000000000000000" pitchFamily="2" charset="2"/>
              </a:rPr>
              <a:t>’  </a:t>
            </a:r>
            <a:r>
              <a:rPr lang="en-US" sz="2400" dirty="0" err="1">
                <a:sym typeface="Wingdings" panose="05000000000000000000" pitchFamily="2" charset="2"/>
              </a:rPr>
              <a:t>bukan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minterm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karena</a:t>
            </a:r>
            <a:r>
              <a:rPr lang="en-US" sz="2400" dirty="0">
                <a:sym typeface="Wingdings" panose="05000000000000000000" pitchFamily="2" charset="2"/>
              </a:rPr>
              <a:t> literal </a:t>
            </a:r>
            <a:r>
              <a:rPr lang="en-US" sz="2400" dirty="0" err="1">
                <a:sym typeface="Wingdings" panose="05000000000000000000" pitchFamily="2" charset="2"/>
              </a:rPr>
              <a:t>tidak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lengkap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dirty="0" err="1">
                <a:sym typeface="Wingdings" panose="05000000000000000000" pitchFamily="2" charset="2"/>
              </a:rPr>
              <a:t>xy’z</a:t>
            </a:r>
            <a:r>
              <a:rPr lang="en-US" sz="2400" dirty="0">
                <a:sym typeface="Wingdings" panose="05000000000000000000" pitchFamily="2" charset="2"/>
              </a:rPr>
              <a:t>, xyz’, </a:t>
            </a:r>
            <a:r>
              <a:rPr lang="en-US" sz="2400" dirty="0" err="1">
                <a:sym typeface="Wingdings" panose="05000000000000000000" pitchFamily="2" charset="2"/>
              </a:rPr>
              <a:t>x’y’z</a:t>
            </a:r>
            <a:r>
              <a:rPr lang="en-US" sz="2400" dirty="0">
                <a:sym typeface="Wingdings" panose="05000000000000000000" pitchFamily="2" charset="2"/>
              </a:rPr>
              <a:t>  </a:t>
            </a:r>
            <a:r>
              <a:rPr lang="en-US" sz="2400" i="1" dirty="0" err="1">
                <a:sym typeface="Wingdings" panose="05000000000000000000" pitchFamily="2" charset="2"/>
              </a:rPr>
              <a:t>minterm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karena</a:t>
            </a:r>
            <a:r>
              <a:rPr lang="en-US" sz="2400" dirty="0">
                <a:sym typeface="Wingdings" panose="05000000000000000000" pitchFamily="2" charset="2"/>
              </a:rPr>
              <a:t> literal </a:t>
            </a:r>
            <a:r>
              <a:rPr lang="en-US" sz="2400" dirty="0" err="1">
                <a:sym typeface="Wingdings" panose="05000000000000000000" pitchFamily="2" charset="2"/>
              </a:rPr>
              <a:t>lengkap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(x + z)  </a:t>
            </a:r>
            <a:r>
              <a:rPr lang="en-US" sz="2400" dirty="0" err="1">
                <a:sym typeface="Wingdings" panose="05000000000000000000" pitchFamily="2" charset="2"/>
              </a:rPr>
              <a:t>bukan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maxterm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karena</a:t>
            </a:r>
            <a:r>
              <a:rPr lang="en-US" sz="2400" dirty="0">
                <a:sym typeface="Wingdings" panose="05000000000000000000" pitchFamily="2" charset="2"/>
              </a:rPr>
              <a:t> literal </a:t>
            </a:r>
            <a:r>
              <a:rPr lang="en-US" sz="2400" dirty="0" err="1">
                <a:sym typeface="Wingdings" panose="05000000000000000000" pitchFamily="2" charset="2"/>
              </a:rPr>
              <a:t>tidak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lengkap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(x’ + y + z’)  </a:t>
            </a:r>
            <a:r>
              <a:rPr lang="en-US" sz="2400" i="1" dirty="0" err="1">
                <a:sym typeface="Wingdings" panose="05000000000000000000" pitchFamily="2" charset="2"/>
              </a:rPr>
              <a:t>maxterm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karena</a:t>
            </a:r>
            <a:r>
              <a:rPr lang="en-US" sz="2400" dirty="0">
                <a:sym typeface="Wingdings" panose="05000000000000000000" pitchFamily="2" charset="2"/>
              </a:rPr>
              <a:t> literal </a:t>
            </a:r>
            <a:r>
              <a:rPr lang="en-US" sz="2400" dirty="0" err="1">
                <a:sym typeface="Wingdings" panose="05000000000000000000" pitchFamily="2" charset="2"/>
              </a:rPr>
              <a:t>lengkap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(</a:t>
            </a:r>
            <a:r>
              <a:rPr lang="en-US" sz="2400" dirty="0" err="1">
                <a:sym typeface="Wingdings" panose="05000000000000000000" pitchFamily="2" charset="2"/>
              </a:rPr>
              <a:t>xy</a:t>
            </a:r>
            <a:r>
              <a:rPr lang="en-US" sz="2400" dirty="0">
                <a:sym typeface="Wingdings" panose="05000000000000000000" pitchFamily="2" charset="2"/>
              </a:rPr>
              <a:t>’ + y’ + z)  </a:t>
            </a:r>
            <a:r>
              <a:rPr lang="en-US" sz="2400" dirty="0" err="1">
                <a:sym typeface="Wingdings" panose="05000000000000000000" pitchFamily="2" charset="2"/>
              </a:rPr>
              <a:t>bukan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ym typeface="Wingdings" panose="05000000000000000000" pitchFamily="2" charset="2"/>
              </a:rPr>
              <a:t>maxterm</a:t>
            </a:r>
            <a:r>
              <a:rPr lang="en-US" sz="2400" dirty="0"/>
              <a:t>	</a:t>
            </a:r>
          </a:p>
          <a:p>
            <a:endParaRPr lang="en-US" sz="2400" dirty="0"/>
          </a:p>
          <a:p>
            <a:r>
              <a:rPr lang="en-US" sz="2400" dirty="0" err="1"/>
              <a:t>Ekspresi</a:t>
            </a:r>
            <a:r>
              <a:rPr lang="en-US" sz="2400" dirty="0"/>
              <a:t> Boolean yang </a:t>
            </a:r>
            <a:r>
              <a:rPr lang="en-US" sz="2400" dirty="0" err="1"/>
              <a:t>dinyatakan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penjumlahan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i="1" dirty="0" err="1"/>
              <a:t>minterm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perkalian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i="1" dirty="0" err="1"/>
              <a:t>maxterm</a:t>
            </a:r>
            <a:r>
              <a:rPr lang="en-US" sz="2400" dirty="0"/>
              <a:t> </a:t>
            </a:r>
            <a:r>
              <a:rPr lang="en-US" sz="2400" dirty="0" err="1"/>
              <a:t>disebut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b="1" dirty="0" err="1"/>
              <a:t>bentuk</a:t>
            </a:r>
            <a:r>
              <a:rPr lang="en-US" sz="2400" b="1" dirty="0"/>
              <a:t> </a:t>
            </a:r>
            <a:r>
              <a:rPr lang="en-US" sz="2400" b="1" dirty="0" err="1"/>
              <a:t>kanonik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33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2938" y="685801"/>
            <a:ext cx="10525539" cy="5440363"/>
          </a:xfrm>
        </p:spPr>
        <p:txBody>
          <a:bodyPr>
            <a:normAutofit/>
          </a:bodyPr>
          <a:lstStyle/>
          <a:p>
            <a:r>
              <a:rPr lang="en-US" dirty="0" err="1"/>
              <a:t>Jadi</a:t>
            </a:r>
            <a:r>
              <a:rPr lang="en-US" dirty="0"/>
              <a:t>,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macam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kanonik</a:t>
            </a:r>
            <a:r>
              <a:rPr lang="en-US" dirty="0"/>
              <a:t>:</a:t>
            </a:r>
          </a:p>
          <a:p>
            <a:pPr marL="685800">
              <a:buFont typeface="+mj-lt"/>
              <a:buAutoNum type="arabicPeriod"/>
            </a:pPr>
            <a:r>
              <a:rPr lang="en-US" dirty="0" err="1"/>
              <a:t>Penjumlahan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kali (</a:t>
            </a:r>
            <a:r>
              <a:rPr lang="en-US" i="1" dirty="0"/>
              <a:t>sum-of-product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SOP)</a:t>
            </a:r>
          </a:p>
          <a:p>
            <a:pPr marL="685800">
              <a:buFont typeface="+mj-lt"/>
              <a:buAutoNum type="arabicPeriod"/>
            </a:pPr>
            <a:r>
              <a:rPr lang="en-US" dirty="0" err="1"/>
              <a:t>Perkalian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(</a:t>
            </a:r>
            <a:r>
              <a:rPr lang="en-US" i="1" dirty="0"/>
              <a:t>product-of-sum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POS)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dirty="0" err="1"/>
              <a:t>Fungsi</a:t>
            </a:r>
            <a:r>
              <a:rPr lang="en-US" dirty="0"/>
              <a:t> 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</a:t>
            </a:r>
            <a:r>
              <a:rPr lang="en-US" i="1" dirty="0" err="1"/>
              <a:t>x</a:t>
            </a:r>
            <a:r>
              <a:rPr lang="en-US" dirty="0" err="1"/>
              <a:t>’</a:t>
            </a:r>
            <a:r>
              <a:rPr lang="en-US" i="1" dirty="0" err="1"/>
              <a:t>y</a:t>
            </a:r>
            <a:r>
              <a:rPr lang="en-US" dirty="0" err="1"/>
              <a:t>’</a:t>
            </a:r>
            <a:r>
              <a:rPr lang="en-US" i="1" dirty="0" err="1"/>
              <a:t>z</a:t>
            </a:r>
            <a:r>
              <a:rPr lang="en-US" dirty="0"/>
              <a:t> + </a:t>
            </a:r>
            <a:r>
              <a:rPr lang="en-US" i="1" dirty="0" err="1"/>
              <a:t>xy</a:t>
            </a:r>
            <a:r>
              <a:rPr lang="en-US" dirty="0" err="1"/>
              <a:t>’</a:t>
            </a:r>
            <a:r>
              <a:rPr lang="en-US" i="1" dirty="0" err="1"/>
              <a:t>z</a:t>
            </a:r>
            <a:r>
              <a:rPr lang="en-US" dirty="0"/>
              <a:t>’ + </a:t>
            </a:r>
            <a:r>
              <a:rPr lang="en-US" i="1" dirty="0"/>
              <a:t>xyz</a:t>
            </a:r>
            <a:r>
              <a:rPr lang="en-US" dirty="0"/>
              <a:t>  </a:t>
            </a:r>
            <a:r>
              <a:rPr lang="en-US" dirty="0" err="1"/>
              <a:t>dikatakan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SOP </a:t>
            </a:r>
          </a:p>
          <a:p>
            <a:endParaRPr lang="en-US" dirty="0"/>
          </a:p>
          <a:p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i="1" dirty="0"/>
              <a:t>g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 + </a:t>
            </a:r>
            <a:r>
              <a:rPr lang="en-US" i="1" dirty="0"/>
              <a:t>z</a:t>
            </a:r>
            <a:r>
              <a:rPr lang="en-US" dirty="0"/>
              <a:t>)(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’ + </a:t>
            </a:r>
            <a:r>
              <a:rPr lang="en-US" i="1" dirty="0"/>
              <a:t>z</a:t>
            </a:r>
            <a:r>
              <a:rPr lang="en-US" dirty="0"/>
              <a:t>)(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’ + </a:t>
            </a:r>
            <a:r>
              <a:rPr lang="en-US" i="1" dirty="0"/>
              <a:t>z</a:t>
            </a:r>
            <a:r>
              <a:rPr lang="en-US" dirty="0"/>
              <a:t>’)(</a:t>
            </a:r>
            <a:r>
              <a:rPr lang="en-US" i="1" dirty="0"/>
              <a:t>x</a:t>
            </a:r>
            <a:r>
              <a:rPr lang="en-US" dirty="0"/>
              <a:t>’ + </a:t>
            </a:r>
            <a:r>
              <a:rPr lang="en-US" i="1" dirty="0"/>
              <a:t>y</a:t>
            </a:r>
            <a:r>
              <a:rPr lang="en-US" dirty="0"/>
              <a:t> + </a:t>
            </a:r>
            <a:r>
              <a:rPr lang="en-US" i="1" dirty="0"/>
              <a:t>z</a:t>
            </a:r>
            <a:r>
              <a:rPr lang="en-US" dirty="0"/>
              <a:t>’)(</a:t>
            </a:r>
            <a:r>
              <a:rPr lang="en-US" i="1" dirty="0"/>
              <a:t>x</a:t>
            </a:r>
            <a:r>
              <a:rPr lang="en-US" dirty="0"/>
              <a:t>’ + </a:t>
            </a:r>
            <a:r>
              <a:rPr lang="en-US" i="1" dirty="0"/>
              <a:t>y</a:t>
            </a:r>
            <a:r>
              <a:rPr lang="en-US" dirty="0"/>
              <a:t>’ + </a:t>
            </a:r>
            <a:r>
              <a:rPr lang="en-US" i="1" dirty="0"/>
              <a:t>z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dikatakan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POS </a:t>
            </a:r>
          </a:p>
          <a:p>
            <a:pPr marL="0" indent="0">
              <a:buNone/>
            </a:pPr>
            <a:endParaRPr lang="en-US" dirty="0"/>
          </a:p>
          <a:p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368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270" y="914401"/>
            <a:ext cx="10091530" cy="521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Cara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i="1" dirty="0" err="1"/>
              <a:t>minterm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 err="1"/>
              <a:t>maxterm</a:t>
            </a:r>
            <a:r>
              <a:rPr lang="en-US" dirty="0"/>
              <a:t>:</a:t>
            </a:r>
          </a:p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i="1" dirty="0" err="1"/>
              <a:t>minterm</a:t>
            </a:r>
            <a:r>
              <a:rPr lang="en-US" dirty="0"/>
              <a:t>,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peubah</a:t>
            </a:r>
            <a:r>
              <a:rPr lang="en-US" dirty="0"/>
              <a:t> yang </a:t>
            </a:r>
            <a:r>
              <a:rPr lang="en-US" dirty="0" err="1"/>
              <a:t>bernilai</a:t>
            </a:r>
            <a:r>
              <a:rPr lang="en-US" dirty="0"/>
              <a:t> 0 </a:t>
            </a:r>
            <a:r>
              <a:rPr lang="en-US" dirty="0" err="1"/>
              <a:t>dinyatakan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komplemen</a:t>
            </a:r>
            <a:r>
              <a:rPr lang="en-US" dirty="0"/>
              <a:t>,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peubah</a:t>
            </a:r>
            <a:r>
              <a:rPr lang="en-US" dirty="0"/>
              <a:t> yang </a:t>
            </a:r>
            <a:r>
              <a:rPr lang="en-US" dirty="0" err="1"/>
              <a:t>bernilai</a:t>
            </a:r>
            <a:r>
              <a:rPr lang="en-US" dirty="0"/>
              <a:t> 1 </a:t>
            </a:r>
            <a:r>
              <a:rPr lang="en-US" dirty="0" err="1"/>
              <a:t>dinyatakan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komplemen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Sebaliknya</a:t>
            </a:r>
            <a:r>
              <a:rPr lang="en-US" dirty="0"/>
              <a:t>,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i="1" dirty="0" err="1"/>
              <a:t>maxterm</a:t>
            </a:r>
            <a:r>
              <a:rPr lang="en-US" dirty="0"/>
              <a:t>,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peubah</a:t>
            </a:r>
            <a:r>
              <a:rPr lang="en-US" dirty="0"/>
              <a:t> yang </a:t>
            </a:r>
            <a:r>
              <a:rPr lang="en-US" dirty="0" err="1"/>
              <a:t>bernilai</a:t>
            </a:r>
            <a:r>
              <a:rPr lang="en-US" dirty="0"/>
              <a:t> 0 </a:t>
            </a:r>
            <a:r>
              <a:rPr lang="en-US" dirty="0" err="1"/>
              <a:t>dinyatakan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komplemen</a:t>
            </a:r>
            <a:r>
              <a:rPr lang="en-US" dirty="0"/>
              <a:t>,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peubah</a:t>
            </a:r>
            <a:r>
              <a:rPr lang="en-US" dirty="0"/>
              <a:t> yang </a:t>
            </a:r>
            <a:r>
              <a:rPr lang="en-US" dirty="0" err="1"/>
              <a:t>bernilai</a:t>
            </a:r>
            <a:r>
              <a:rPr lang="en-US" dirty="0"/>
              <a:t> 1 </a:t>
            </a:r>
            <a:r>
              <a:rPr lang="en-US" dirty="0" err="1"/>
              <a:t>dinyatakan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komplemen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60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1"/>
            <a:ext cx="10147852" cy="5211763"/>
          </a:xfrm>
        </p:spPr>
        <p:txBody>
          <a:bodyPr>
            <a:normAutofit/>
          </a:bodyPr>
          <a:lstStyle/>
          <a:p>
            <a:r>
              <a:rPr lang="en-US" dirty="0"/>
              <a:t>Cara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i="1" dirty="0" err="1"/>
              <a:t>minterm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 err="1"/>
              <a:t>maxterm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kebenaran</a:t>
            </a:r>
            <a:r>
              <a:rPr lang="en-US" dirty="0"/>
              <a:t> 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peubah</a:t>
            </a:r>
            <a:r>
              <a:rPr lang="en-US" dirty="0"/>
              <a:t>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02218"/>
            <a:ext cx="9918986" cy="282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655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4157" y="762001"/>
            <a:ext cx="10127973" cy="5364163"/>
          </a:xfrm>
        </p:spPr>
        <p:txBody>
          <a:bodyPr>
            <a:normAutofit/>
          </a:bodyPr>
          <a:lstStyle/>
          <a:p>
            <a:r>
              <a:rPr lang="en-US" dirty="0"/>
              <a:t>Cara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i="1" dirty="0" err="1"/>
              <a:t>minterm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 err="1"/>
              <a:t>maxterm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kebenaran</a:t>
            </a:r>
            <a:r>
              <a:rPr lang="en-US" dirty="0"/>
              <a:t> 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peubah</a:t>
            </a:r>
            <a:r>
              <a:rPr lang="en-US" dirty="0"/>
              <a:t>: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514" y="1553817"/>
            <a:ext cx="8508710" cy="375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19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557" y="609601"/>
            <a:ext cx="11072191" cy="5516563"/>
          </a:xfrm>
        </p:spPr>
        <p:txBody>
          <a:bodyPr/>
          <a:lstStyle/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kebenaran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Boolean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kanonik</a:t>
            </a:r>
            <a:r>
              <a:rPr lang="en-US" dirty="0"/>
              <a:t> (SOP </a:t>
            </a:r>
            <a:r>
              <a:rPr lang="en-US" dirty="0" err="1"/>
              <a:t>atau</a:t>
            </a:r>
            <a:r>
              <a:rPr lang="en-US" dirty="0"/>
              <a:t> POS)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:</a:t>
            </a:r>
          </a:p>
          <a:p>
            <a:endParaRPr lang="en-US" dirty="0"/>
          </a:p>
          <a:p>
            <a:pPr marL="685800" indent="-685800">
              <a:buNone/>
            </a:pPr>
            <a:r>
              <a:rPr lang="en-US" dirty="0"/>
              <a:t>     -  </a:t>
            </a:r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i="1" dirty="0" err="1"/>
              <a:t>minterm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yang </a:t>
            </a:r>
            <a:r>
              <a:rPr lang="en-US" dirty="0" err="1"/>
              <a:t>bernilai</a:t>
            </a:r>
            <a:r>
              <a:rPr lang="en-US" dirty="0"/>
              <a:t> 1 (</a:t>
            </a:r>
            <a:r>
              <a:rPr lang="en-US" dirty="0" err="1"/>
              <a:t>untuk</a:t>
            </a:r>
            <a:r>
              <a:rPr lang="en-US" dirty="0"/>
              <a:t> SOP) 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atau</a:t>
            </a:r>
            <a:r>
              <a:rPr lang="en-US" dirty="0"/>
              <a:t>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- </a:t>
            </a:r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i="1" dirty="0"/>
              <a:t>maxterm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yang </a:t>
            </a:r>
            <a:r>
              <a:rPr lang="en-US" dirty="0" err="1"/>
              <a:t>bernilai</a:t>
            </a:r>
            <a:r>
              <a:rPr lang="en-US" dirty="0"/>
              <a:t> 0 (</a:t>
            </a:r>
            <a:r>
              <a:rPr lang="en-US" dirty="0" err="1"/>
              <a:t>untuk</a:t>
            </a:r>
            <a:r>
              <a:rPr lang="en-US" dirty="0"/>
              <a:t> POS).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72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586077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100" b="1" dirty="0" err="1"/>
              <a:t>Contoh</a:t>
            </a:r>
            <a:r>
              <a:rPr lang="en-US" sz="3100" b="1" dirty="0"/>
              <a:t> 5</a:t>
            </a:r>
            <a:r>
              <a:rPr lang="en-US" sz="3100" dirty="0"/>
              <a:t>: </a:t>
            </a:r>
            <a:r>
              <a:rPr lang="en-US" sz="3100" dirty="0" err="1"/>
              <a:t>Tinjau</a:t>
            </a:r>
            <a:r>
              <a:rPr lang="en-US" sz="3100" dirty="0"/>
              <a:t> </a:t>
            </a:r>
            <a:r>
              <a:rPr lang="en-US" sz="3100" dirty="0" err="1"/>
              <a:t>fungsi</a:t>
            </a:r>
            <a:r>
              <a:rPr lang="en-US" sz="3100" dirty="0"/>
              <a:t> Boolean yang </a:t>
            </a:r>
            <a:r>
              <a:rPr lang="en-US" sz="3100" dirty="0" err="1"/>
              <a:t>dinyatakan</a:t>
            </a:r>
            <a:r>
              <a:rPr lang="en-US" sz="3100" dirty="0"/>
              <a:t> </a:t>
            </a:r>
            <a:r>
              <a:rPr lang="en-US" sz="3100" dirty="0" err="1"/>
              <a:t>oleh</a:t>
            </a:r>
            <a:r>
              <a:rPr lang="en-US" sz="3100" dirty="0"/>
              <a:t> </a:t>
            </a:r>
            <a:r>
              <a:rPr lang="en-US" sz="3100" dirty="0" err="1"/>
              <a:t>Tabel</a:t>
            </a:r>
            <a:r>
              <a:rPr lang="en-US" sz="3100" dirty="0"/>
              <a:t> di </a:t>
            </a:r>
            <a:r>
              <a:rPr lang="en-US" sz="3100" dirty="0" err="1"/>
              <a:t>bawah</a:t>
            </a:r>
            <a:r>
              <a:rPr lang="en-US" sz="3100" dirty="0"/>
              <a:t> </a:t>
            </a:r>
            <a:r>
              <a:rPr lang="en-US" sz="3100" dirty="0" err="1"/>
              <a:t>ini</a:t>
            </a:r>
            <a:r>
              <a:rPr lang="en-US" sz="3100" dirty="0"/>
              <a:t>. </a:t>
            </a:r>
            <a:r>
              <a:rPr lang="en-US" sz="3100" dirty="0" err="1"/>
              <a:t>Nyatakan</a:t>
            </a:r>
            <a:r>
              <a:rPr lang="en-US" sz="3100" dirty="0"/>
              <a:t> </a:t>
            </a:r>
            <a:r>
              <a:rPr lang="en-US" sz="3100" dirty="0" err="1"/>
              <a:t>fungsi</a:t>
            </a:r>
            <a:r>
              <a:rPr lang="en-US" sz="3100" dirty="0"/>
              <a:t> </a:t>
            </a:r>
            <a:r>
              <a:rPr lang="en-US" sz="3100" dirty="0" err="1"/>
              <a:t>tersebut</a:t>
            </a:r>
            <a:r>
              <a:rPr lang="en-US" sz="3100" dirty="0"/>
              <a:t> </a:t>
            </a:r>
            <a:r>
              <a:rPr lang="en-US" sz="3100" dirty="0" err="1"/>
              <a:t>dalam</a:t>
            </a:r>
            <a:r>
              <a:rPr lang="en-US" sz="3100" dirty="0"/>
              <a:t> </a:t>
            </a:r>
            <a:r>
              <a:rPr lang="en-US" sz="3100" dirty="0" err="1"/>
              <a:t>bentuk</a:t>
            </a:r>
            <a:r>
              <a:rPr lang="en-US" sz="3100" dirty="0"/>
              <a:t> </a:t>
            </a:r>
            <a:r>
              <a:rPr lang="en-US" sz="3100" dirty="0" err="1"/>
              <a:t>kanonik</a:t>
            </a:r>
            <a:r>
              <a:rPr lang="en-US" sz="3100" dirty="0"/>
              <a:t> SOP </a:t>
            </a:r>
            <a:r>
              <a:rPr lang="en-US" sz="3100" dirty="0" err="1"/>
              <a:t>dan</a:t>
            </a:r>
            <a:r>
              <a:rPr lang="en-US" sz="3100" dirty="0"/>
              <a:t> POS</a:t>
            </a:r>
          </a:p>
          <a:p>
            <a:endParaRPr lang="en-US" sz="3100" dirty="0"/>
          </a:p>
          <a:p>
            <a:endParaRPr lang="en-US" sz="3100" dirty="0"/>
          </a:p>
          <a:p>
            <a:endParaRPr lang="en-US" sz="3100" dirty="0"/>
          </a:p>
          <a:p>
            <a:endParaRPr lang="en-US" sz="3100" dirty="0"/>
          </a:p>
          <a:p>
            <a:endParaRPr lang="en-US" sz="3100" dirty="0"/>
          </a:p>
          <a:p>
            <a:endParaRPr lang="en-US" sz="3100" dirty="0"/>
          </a:p>
          <a:p>
            <a:pPr marL="0" indent="0">
              <a:buNone/>
            </a:pPr>
            <a:r>
              <a:rPr lang="en-US" sz="3100" u="sng" dirty="0" err="1"/>
              <a:t>Penyelesaian</a:t>
            </a:r>
            <a:r>
              <a:rPr lang="en-US" sz="3100" dirty="0"/>
              <a:t>:</a:t>
            </a:r>
          </a:p>
          <a:p>
            <a:r>
              <a:rPr lang="en-US" sz="3100" b="1" dirty="0"/>
              <a:t>SOP</a:t>
            </a:r>
          </a:p>
          <a:p>
            <a:pPr indent="0">
              <a:buNone/>
            </a:pPr>
            <a:r>
              <a:rPr lang="en-US" sz="3100" dirty="0" err="1"/>
              <a:t>Kombinasi</a:t>
            </a:r>
            <a:r>
              <a:rPr lang="en-US" sz="3100" dirty="0"/>
              <a:t> </a:t>
            </a:r>
            <a:r>
              <a:rPr lang="en-US" sz="3100" dirty="0" err="1"/>
              <a:t>nilai-nilai</a:t>
            </a:r>
            <a:r>
              <a:rPr lang="en-US" sz="3100" dirty="0"/>
              <a:t> </a:t>
            </a:r>
            <a:r>
              <a:rPr lang="en-US" sz="3100" dirty="0" err="1"/>
              <a:t>peubah</a:t>
            </a:r>
            <a:r>
              <a:rPr lang="en-US" sz="3100" dirty="0"/>
              <a:t> yang </a:t>
            </a:r>
            <a:r>
              <a:rPr lang="en-US" sz="3100" dirty="0" err="1"/>
              <a:t>menghasilkan</a:t>
            </a:r>
            <a:r>
              <a:rPr lang="en-US" sz="3100" dirty="0"/>
              <a:t> </a:t>
            </a:r>
            <a:r>
              <a:rPr lang="en-US" sz="3100" dirty="0" err="1"/>
              <a:t>nilai</a:t>
            </a:r>
            <a:r>
              <a:rPr lang="en-US" sz="3100" dirty="0"/>
              <a:t> </a:t>
            </a:r>
            <a:r>
              <a:rPr lang="en-US" sz="3100" dirty="0" err="1"/>
              <a:t>fungsi</a:t>
            </a:r>
            <a:r>
              <a:rPr lang="en-US" sz="3100" dirty="0"/>
              <a:t> </a:t>
            </a:r>
            <a:r>
              <a:rPr lang="en-US" sz="3100" dirty="0" err="1"/>
              <a:t>sama</a:t>
            </a:r>
            <a:r>
              <a:rPr lang="en-US" sz="3100" dirty="0"/>
              <a:t> </a:t>
            </a:r>
            <a:r>
              <a:rPr lang="en-US" sz="3100" dirty="0" err="1"/>
              <a:t>dengan</a:t>
            </a:r>
            <a:r>
              <a:rPr lang="en-US" sz="3100" dirty="0"/>
              <a:t> 1 </a:t>
            </a:r>
            <a:r>
              <a:rPr lang="en-US" sz="3100" dirty="0" err="1"/>
              <a:t>adalah</a:t>
            </a:r>
            <a:r>
              <a:rPr lang="en-US" sz="3100" dirty="0"/>
              <a:t> 001, 100, </a:t>
            </a:r>
            <a:r>
              <a:rPr lang="en-US" sz="3100" dirty="0" err="1"/>
              <a:t>dan</a:t>
            </a:r>
            <a:r>
              <a:rPr lang="en-US" sz="3100" dirty="0"/>
              <a:t> 111, </a:t>
            </a:r>
            <a:r>
              <a:rPr lang="en-US" sz="3100" dirty="0" err="1"/>
              <a:t>maka</a:t>
            </a:r>
            <a:r>
              <a:rPr lang="en-US" sz="3100" dirty="0"/>
              <a:t> </a:t>
            </a:r>
            <a:r>
              <a:rPr lang="en-US" sz="3100" dirty="0" err="1"/>
              <a:t>fungsi</a:t>
            </a:r>
            <a:r>
              <a:rPr lang="en-US" sz="3100" dirty="0"/>
              <a:t> </a:t>
            </a:r>
            <a:r>
              <a:rPr lang="en-US" sz="3100" dirty="0" err="1"/>
              <a:t>Booleannya</a:t>
            </a:r>
            <a:r>
              <a:rPr lang="en-US" sz="3100" dirty="0"/>
              <a:t> </a:t>
            </a:r>
            <a:r>
              <a:rPr lang="en-US" sz="3100" dirty="0" err="1"/>
              <a:t>dalam</a:t>
            </a:r>
            <a:r>
              <a:rPr lang="en-US" sz="3100" dirty="0"/>
              <a:t> </a:t>
            </a:r>
            <a:r>
              <a:rPr lang="en-US" sz="3100" dirty="0" err="1"/>
              <a:t>bentuk</a:t>
            </a:r>
            <a:r>
              <a:rPr lang="en-US" sz="3100" dirty="0"/>
              <a:t> </a:t>
            </a:r>
            <a:r>
              <a:rPr lang="en-US" sz="3100" dirty="0" err="1"/>
              <a:t>kanonik</a:t>
            </a:r>
            <a:r>
              <a:rPr lang="en-US" sz="3100" dirty="0"/>
              <a:t> SOP </a:t>
            </a:r>
            <a:r>
              <a:rPr lang="en-US" sz="3100" dirty="0" err="1"/>
              <a:t>adalah</a:t>
            </a:r>
            <a:endParaRPr lang="en-US" sz="3100" dirty="0"/>
          </a:p>
          <a:p>
            <a:pPr marL="0" indent="0">
              <a:buNone/>
            </a:pPr>
            <a:r>
              <a:rPr lang="en-US" sz="3100" i="1" dirty="0"/>
              <a:t> </a:t>
            </a:r>
            <a:endParaRPr lang="en-US" sz="3100" dirty="0"/>
          </a:p>
          <a:p>
            <a:pPr marL="0" indent="0">
              <a:buNone/>
            </a:pPr>
            <a:r>
              <a:rPr lang="en-US" sz="3100" i="1" dirty="0"/>
              <a:t>	f</a:t>
            </a:r>
            <a:r>
              <a:rPr lang="en-US" sz="3100" dirty="0"/>
              <a:t>(</a:t>
            </a:r>
            <a:r>
              <a:rPr lang="en-US" sz="3100" i="1" dirty="0"/>
              <a:t>x</a:t>
            </a:r>
            <a:r>
              <a:rPr lang="en-US" sz="3100" dirty="0"/>
              <a:t>, </a:t>
            </a:r>
            <a:r>
              <a:rPr lang="en-US" sz="3100" i="1" dirty="0"/>
              <a:t>y</a:t>
            </a:r>
            <a:r>
              <a:rPr lang="en-US" sz="3100" dirty="0"/>
              <a:t>, </a:t>
            </a:r>
            <a:r>
              <a:rPr lang="en-US" sz="3100" i="1" dirty="0"/>
              <a:t>z</a:t>
            </a:r>
            <a:r>
              <a:rPr lang="en-US" sz="3100" dirty="0"/>
              <a:t>) =  </a:t>
            </a:r>
            <a:r>
              <a:rPr lang="en-US" sz="3100" i="1" dirty="0" err="1"/>
              <a:t>x</a:t>
            </a:r>
            <a:r>
              <a:rPr lang="en-US" sz="3100" dirty="0" err="1"/>
              <a:t>’</a:t>
            </a:r>
            <a:r>
              <a:rPr lang="en-US" sz="3100" i="1" dirty="0" err="1"/>
              <a:t>y</a:t>
            </a:r>
            <a:r>
              <a:rPr lang="en-US" sz="3100" dirty="0" err="1"/>
              <a:t>’</a:t>
            </a:r>
            <a:r>
              <a:rPr lang="en-US" sz="3100" i="1" dirty="0" err="1"/>
              <a:t>z</a:t>
            </a:r>
            <a:r>
              <a:rPr lang="en-US" sz="3100" dirty="0"/>
              <a:t> + </a:t>
            </a:r>
            <a:r>
              <a:rPr lang="en-US" sz="3100" i="1" dirty="0" err="1"/>
              <a:t>xy</a:t>
            </a:r>
            <a:r>
              <a:rPr lang="en-US" sz="3100" dirty="0" err="1"/>
              <a:t>’</a:t>
            </a:r>
            <a:r>
              <a:rPr lang="en-US" sz="3100" i="1" dirty="0" err="1"/>
              <a:t>z</a:t>
            </a:r>
            <a:r>
              <a:rPr lang="en-US" sz="3100" dirty="0"/>
              <a:t>’ + </a:t>
            </a:r>
            <a:r>
              <a:rPr lang="en-US" sz="3100" i="1" dirty="0"/>
              <a:t>xyz</a:t>
            </a:r>
            <a:endParaRPr lang="en-US" sz="3100" dirty="0"/>
          </a:p>
          <a:p>
            <a:pPr marL="0" indent="0">
              <a:buNone/>
            </a:pPr>
            <a:r>
              <a:rPr lang="en-US" sz="3100" dirty="0"/>
              <a:t> </a:t>
            </a:r>
          </a:p>
          <a:p>
            <a:pPr marL="0" indent="0">
              <a:buNone/>
            </a:pPr>
            <a:r>
              <a:rPr lang="en-US" sz="3100" dirty="0"/>
              <a:t>      </a:t>
            </a:r>
            <a:r>
              <a:rPr lang="en-US" sz="3100" dirty="0" err="1"/>
              <a:t>atau</a:t>
            </a:r>
            <a:r>
              <a:rPr lang="en-US" sz="3100" dirty="0"/>
              <a:t> (</a:t>
            </a:r>
            <a:r>
              <a:rPr lang="en-US" sz="3100" dirty="0" err="1"/>
              <a:t>dengan</a:t>
            </a:r>
            <a:r>
              <a:rPr lang="en-US" sz="3100" dirty="0"/>
              <a:t> </a:t>
            </a:r>
            <a:r>
              <a:rPr lang="en-US" sz="3100" dirty="0" err="1"/>
              <a:t>menggunakan</a:t>
            </a:r>
            <a:r>
              <a:rPr lang="en-US" sz="3100" dirty="0"/>
              <a:t> </a:t>
            </a:r>
            <a:r>
              <a:rPr lang="en-US" sz="3100" dirty="0" err="1"/>
              <a:t>lambang</a:t>
            </a:r>
            <a:r>
              <a:rPr lang="en-US" sz="3100" dirty="0"/>
              <a:t> </a:t>
            </a:r>
            <a:r>
              <a:rPr lang="en-US" sz="3100" i="1" dirty="0" err="1"/>
              <a:t>minterm</a:t>
            </a:r>
            <a:r>
              <a:rPr lang="en-US" sz="3100" dirty="0"/>
              <a:t>),		</a:t>
            </a:r>
          </a:p>
          <a:p>
            <a:pPr marL="0" indent="0">
              <a:buNone/>
            </a:pPr>
            <a:r>
              <a:rPr lang="en-US" sz="3100" dirty="0"/>
              <a:t> </a:t>
            </a:r>
          </a:p>
          <a:p>
            <a:pPr marL="0" indent="0">
              <a:buNone/>
            </a:pPr>
            <a:r>
              <a:rPr lang="en-US" sz="3100" i="1" dirty="0"/>
              <a:t>	f</a:t>
            </a:r>
            <a:r>
              <a:rPr lang="en-US" sz="3100" dirty="0"/>
              <a:t>(</a:t>
            </a:r>
            <a:r>
              <a:rPr lang="en-US" sz="3100" i="1" dirty="0"/>
              <a:t>x</a:t>
            </a:r>
            <a:r>
              <a:rPr lang="en-US" sz="3100" dirty="0"/>
              <a:t>, </a:t>
            </a:r>
            <a:r>
              <a:rPr lang="en-US" sz="3100" i="1" dirty="0"/>
              <a:t>y</a:t>
            </a:r>
            <a:r>
              <a:rPr lang="en-US" sz="3100" dirty="0"/>
              <a:t>, </a:t>
            </a:r>
            <a:r>
              <a:rPr lang="en-US" sz="3100" i="1" dirty="0"/>
              <a:t>z</a:t>
            </a:r>
            <a:r>
              <a:rPr lang="en-US" sz="3100" dirty="0"/>
              <a:t>) =  </a:t>
            </a:r>
            <a:r>
              <a:rPr lang="en-US" sz="3100" i="1" dirty="0"/>
              <a:t>m</a:t>
            </a:r>
            <a:r>
              <a:rPr lang="en-US" sz="3100" baseline="-25000" dirty="0"/>
              <a:t>1</a:t>
            </a:r>
            <a:r>
              <a:rPr lang="en-US" sz="3100" dirty="0"/>
              <a:t> + </a:t>
            </a:r>
            <a:r>
              <a:rPr lang="en-US" sz="3100" i="1" dirty="0"/>
              <a:t>m</a:t>
            </a:r>
            <a:r>
              <a:rPr lang="en-US" sz="3100" baseline="-25000" dirty="0"/>
              <a:t>4 </a:t>
            </a:r>
            <a:r>
              <a:rPr lang="en-US" sz="3100" dirty="0"/>
              <a:t>+ </a:t>
            </a:r>
            <a:r>
              <a:rPr lang="en-US" sz="3100" i="1" dirty="0"/>
              <a:t>m</a:t>
            </a:r>
            <a:r>
              <a:rPr lang="en-US" sz="3100" baseline="-25000" dirty="0"/>
              <a:t>7</a:t>
            </a:r>
            <a:r>
              <a:rPr lang="en-US" sz="3100" dirty="0"/>
              <a:t> = </a:t>
            </a:r>
            <a:r>
              <a:rPr lang="en-US" sz="3100" dirty="0">
                <a:sym typeface="Symbol" panose="05050102010706020507" pitchFamily="18" charset="2"/>
              </a:rPr>
              <a:t></a:t>
            </a:r>
            <a:r>
              <a:rPr lang="en-US" sz="3100" dirty="0"/>
              <a:t> (1, 4, 7)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922" y="838200"/>
            <a:ext cx="65738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423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3729" y="609600"/>
            <a:ext cx="10485783" cy="5746750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2000" b="1" dirty="0"/>
              <a:t>POS</a:t>
            </a:r>
            <a:r>
              <a:rPr lang="en-US" sz="2000" dirty="0"/>
              <a:t>	</a:t>
            </a:r>
          </a:p>
          <a:p>
            <a:pPr indent="0">
              <a:buNone/>
            </a:pPr>
            <a:endParaRPr lang="en-US" sz="2000" dirty="0"/>
          </a:p>
          <a:p>
            <a:pPr indent="0">
              <a:buNone/>
            </a:pPr>
            <a:endParaRPr lang="en-US" sz="2000" dirty="0"/>
          </a:p>
          <a:p>
            <a:pPr indent="0">
              <a:buNone/>
            </a:pPr>
            <a:endParaRPr lang="en-US" sz="2000" dirty="0"/>
          </a:p>
          <a:p>
            <a:pPr indent="0">
              <a:buNone/>
            </a:pPr>
            <a:endParaRPr lang="en-US" sz="2000" dirty="0"/>
          </a:p>
          <a:p>
            <a:pPr indent="0">
              <a:buNone/>
            </a:pPr>
            <a:endParaRPr lang="en-US" sz="2000" dirty="0"/>
          </a:p>
          <a:p>
            <a:pPr indent="0">
              <a:buNone/>
            </a:pPr>
            <a:endParaRPr lang="en-US" sz="2000" dirty="0"/>
          </a:p>
          <a:p>
            <a:pPr indent="0">
              <a:buNone/>
            </a:pPr>
            <a:r>
              <a:rPr lang="en-US" sz="2000" dirty="0" err="1"/>
              <a:t>Kombinasi</a:t>
            </a:r>
            <a:r>
              <a:rPr lang="en-US" sz="2000" dirty="0"/>
              <a:t> </a:t>
            </a:r>
            <a:r>
              <a:rPr lang="en-US" sz="2000" dirty="0" err="1"/>
              <a:t>nilai-nilai</a:t>
            </a:r>
            <a:r>
              <a:rPr lang="en-US" sz="2000" dirty="0"/>
              <a:t> </a:t>
            </a:r>
            <a:r>
              <a:rPr lang="en-US" sz="2000" dirty="0" err="1"/>
              <a:t>peubah</a:t>
            </a:r>
            <a:r>
              <a:rPr lang="en-US" sz="2000" dirty="0"/>
              <a:t> yang </a:t>
            </a:r>
            <a:r>
              <a:rPr lang="en-US" sz="2000" dirty="0" err="1"/>
              <a:t>menghasilkan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</a:t>
            </a:r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 err="1"/>
              <a:t>sama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0 </a:t>
            </a:r>
            <a:r>
              <a:rPr lang="en-US" sz="2000" dirty="0" err="1"/>
              <a:t>adalah</a:t>
            </a:r>
            <a:r>
              <a:rPr lang="en-US" sz="2000" dirty="0"/>
              <a:t> 000, 010,  011, 101, </a:t>
            </a:r>
            <a:r>
              <a:rPr lang="en-US" sz="2000" dirty="0" err="1"/>
              <a:t>dan</a:t>
            </a:r>
            <a:r>
              <a:rPr lang="en-US" sz="2000" dirty="0"/>
              <a:t> 110,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 err="1"/>
              <a:t>Booleannya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bentuk</a:t>
            </a:r>
            <a:r>
              <a:rPr lang="en-US" sz="2000" dirty="0"/>
              <a:t> </a:t>
            </a:r>
            <a:r>
              <a:rPr lang="en-US" sz="2000" dirty="0" err="1"/>
              <a:t>kanonik</a:t>
            </a:r>
            <a:r>
              <a:rPr lang="en-US" sz="2000" dirty="0"/>
              <a:t> POS </a:t>
            </a:r>
            <a:r>
              <a:rPr lang="en-US" sz="2000" dirty="0" err="1"/>
              <a:t>adalah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 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  =  (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)(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y</a:t>
            </a:r>
            <a:r>
              <a:rPr lang="en-US" sz="2000" dirty="0"/>
              <a:t>’+ </a:t>
            </a:r>
            <a:r>
              <a:rPr lang="en-US" sz="2000" i="1" dirty="0"/>
              <a:t>z</a:t>
            </a:r>
            <a:r>
              <a:rPr lang="en-US" sz="2000" dirty="0"/>
              <a:t>)(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y</a:t>
            </a:r>
            <a:r>
              <a:rPr lang="en-US" sz="2000" dirty="0"/>
              <a:t>’+ </a:t>
            </a:r>
            <a:r>
              <a:rPr lang="en-US" sz="2000" i="1" dirty="0"/>
              <a:t>z</a:t>
            </a:r>
            <a:r>
              <a:rPr lang="en-US" sz="2000" dirty="0"/>
              <a:t>’)(</a:t>
            </a:r>
            <a:r>
              <a:rPr lang="en-US" sz="2000" i="1" dirty="0"/>
              <a:t>x</a:t>
            </a:r>
            <a:r>
              <a:rPr lang="en-US" sz="2000" dirty="0"/>
              <a:t>’+ 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’)(</a:t>
            </a:r>
            <a:r>
              <a:rPr lang="en-US" sz="2000" i="1" dirty="0"/>
              <a:t>x</a:t>
            </a:r>
            <a:r>
              <a:rPr lang="en-US" sz="2000" dirty="0"/>
              <a:t>’+ </a:t>
            </a:r>
            <a:r>
              <a:rPr lang="en-US" sz="2000" i="1" dirty="0"/>
              <a:t>y</a:t>
            </a:r>
            <a:r>
              <a:rPr lang="en-US" sz="2000" dirty="0"/>
              <a:t>’+ </a:t>
            </a:r>
            <a:r>
              <a:rPr lang="en-US" sz="2000" i="1" dirty="0"/>
              <a:t>z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		                     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bentuk</a:t>
            </a:r>
            <a:r>
              <a:rPr lang="en-US" sz="2000" dirty="0"/>
              <a:t> lain,		</a:t>
            </a:r>
          </a:p>
          <a:p>
            <a:pPr marL="0" indent="0">
              <a:buNone/>
            </a:pPr>
            <a:r>
              <a:rPr lang="en-US" sz="2000" dirty="0"/>
              <a:t> </a:t>
            </a:r>
          </a:p>
          <a:p>
            <a:pPr marL="0" indent="0">
              <a:buNone/>
            </a:pPr>
            <a:r>
              <a:rPr lang="en-US" sz="2000" i="1" dirty="0"/>
              <a:t>      f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 =  </a:t>
            </a:r>
            <a:r>
              <a:rPr lang="en-US" sz="2000" i="1" dirty="0"/>
              <a:t>M</a:t>
            </a:r>
            <a:r>
              <a:rPr lang="en-US" sz="2000" baseline="-25000" dirty="0"/>
              <a:t>0</a:t>
            </a:r>
            <a:r>
              <a:rPr lang="en-US" sz="2000" dirty="0"/>
              <a:t> </a:t>
            </a:r>
            <a:r>
              <a:rPr lang="en-US" sz="2000" i="1" dirty="0"/>
              <a:t>M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sz="2000" i="1" dirty="0"/>
              <a:t>M</a:t>
            </a:r>
            <a:r>
              <a:rPr lang="en-US" sz="2000" baseline="-25000" dirty="0"/>
              <a:t>3</a:t>
            </a:r>
            <a:r>
              <a:rPr lang="en-US" sz="2000" dirty="0"/>
              <a:t> </a:t>
            </a:r>
            <a:r>
              <a:rPr lang="en-US" sz="2000" i="1" dirty="0"/>
              <a:t>M</a:t>
            </a:r>
            <a:r>
              <a:rPr lang="en-US" sz="2000" baseline="-25000" dirty="0"/>
              <a:t>5</a:t>
            </a:r>
            <a:r>
              <a:rPr lang="en-US" sz="2000" dirty="0"/>
              <a:t> </a:t>
            </a:r>
            <a:r>
              <a:rPr lang="en-US" sz="2000" i="1" dirty="0"/>
              <a:t>M</a:t>
            </a:r>
            <a:r>
              <a:rPr lang="en-US" sz="2000" baseline="-25000" dirty="0"/>
              <a:t>6</a:t>
            </a:r>
            <a:r>
              <a:rPr lang="en-US" sz="2000" dirty="0"/>
              <a:t> = </a:t>
            </a:r>
            <a:r>
              <a:rPr lang="en-US" sz="2000" dirty="0">
                <a:sym typeface="Symbol" panose="05050102010706020507" pitchFamily="18" charset="2"/>
              </a:rPr>
              <a:t></a:t>
            </a:r>
            <a:r>
              <a:rPr lang="en-US" sz="2000" dirty="0"/>
              <a:t>(0, 2, 3, 5, 6)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74" y="387626"/>
            <a:ext cx="65738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182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457200"/>
            <a:ext cx="10880035" cy="6096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err="1"/>
              <a:t>Contoh</a:t>
            </a:r>
            <a:r>
              <a:rPr lang="en-US" sz="2000" b="1" dirty="0"/>
              <a:t> 6: </a:t>
            </a:r>
            <a:r>
              <a:rPr lang="en-US" sz="2000" dirty="0" err="1"/>
              <a:t>Nyatakan</a:t>
            </a:r>
            <a:r>
              <a:rPr lang="en-US" sz="2000" dirty="0"/>
              <a:t> </a:t>
            </a:r>
            <a:r>
              <a:rPr lang="en-US" sz="2000" dirty="0" err="1"/>
              <a:t>fungsi</a:t>
            </a:r>
            <a:r>
              <a:rPr lang="en-US" sz="2000" dirty="0"/>
              <a:t> Boolean 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 = 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 err="1"/>
              <a:t>y</a:t>
            </a:r>
            <a:r>
              <a:rPr lang="en-US" sz="2000" dirty="0" err="1"/>
              <a:t>’</a:t>
            </a:r>
            <a:r>
              <a:rPr lang="en-US" sz="2000" i="1" dirty="0" err="1"/>
              <a:t>z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bentuk</a:t>
            </a:r>
            <a:r>
              <a:rPr lang="en-US" sz="2000" dirty="0"/>
              <a:t> </a:t>
            </a:r>
            <a:r>
              <a:rPr lang="en-US" sz="2000" dirty="0" err="1"/>
              <a:t>kanonik</a:t>
            </a:r>
            <a:r>
              <a:rPr lang="en-US" sz="2000" dirty="0"/>
              <a:t> SOP </a:t>
            </a:r>
            <a:r>
              <a:rPr lang="en-US" sz="2000" dirty="0" err="1"/>
              <a:t>dan</a:t>
            </a:r>
            <a:r>
              <a:rPr lang="en-US" sz="2000" dirty="0"/>
              <a:t> POS.</a:t>
            </a:r>
          </a:p>
          <a:p>
            <a:pPr marL="0" indent="0">
              <a:buNone/>
            </a:pPr>
            <a:r>
              <a:rPr lang="en-US" sz="2000" u="sng" dirty="0" err="1"/>
              <a:t>Penyelesaian</a:t>
            </a:r>
            <a:r>
              <a:rPr lang="en-US" sz="2000" dirty="0"/>
              <a:t>:</a:t>
            </a:r>
          </a:p>
          <a:p>
            <a:pPr marL="457200" lvl="1" indent="-457200">
              <a:buNone/>
            </a:pPr>
            <a:r>
              <a:rPr lang="en-US" sz="2000" dirty="0"/>
              <a:t>(a) SOP</a:t>
            </a:r>
          </a:p>
          <a:p>
            <a:pPr marL="0" indent="0">
              <a:buNone/>
            </a:pPr>
            <a:r>
              <a:rPr lang="en-US" sz="2000" dirty="0" err="1"/>
              <a:t>Lengkapi</a:t>
            </a:r>
            <a:r>
              <a:rPr lang="en-US" sz="2000" dirty="0"/>
              <a:t> </a:t>
            </a:r>
            <a:r>
              <a:rPr lang="en-US" sz="2000" dirty="0" err="1"/>
              <a:t>terlebih</a:t>
            </a:r>
            <a:r>
              <a:rPr lang="en-US" sz="2000" dirty="0"/>
              <a:t> </a:t>
            </a:r>
            <a:r>
              <a:rPr lang="en-US" sz="2000" dirty="0" err="1"/>
              <a:t>dahulu</a:t>
            </a:r>
            <a:r>
              <a:rPr lang="en-US" sz="2000" dirty="0"/>
              <a:t> literal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setiap</a:t>
            </a:r>
            <a:r>
              <a:rPr lang="en-US" sz="2000" dirty="0"/>
              <a:t> </a:t>
            </a:r>
            <a:r>
              <a:rPr lang="en-US" sz="2000" dirty="0" err="1"/>
              <a:t>suku</a:t>
            </a:r>
            <a:r>
              <a:rPr lang="en-US" sz="2000" dirty="0"/>
              <a:t> agar </a:t>
            </a:r>
            <a:r>
              <a:rPr lang="en-US" sz="2000" dirty="0" err="1"/>
              <a:t>jumlahnya</a:t>
            </a:r>
            <a:r>
              <a:rPr lang="en-US" sz="2000" dirty="0"/>
              <a:t> </a:t>
            </a:r>
            <a:r>
              <a:rPr lang="en-US" sz="2000" dirty="0" err="1"/>
              <a:t>sama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i="1" dirty="0"/>
              <a:t>x</a:t>
            </a:r>
            <a:r>
              <a:rPr lang="en-US" sz="2000" dirty="0"/>
              <a:t>  = </a:t>
            </a:r>
            <a:r>
              <a:rPr lang="en-US" sz="2000" i="1" dirty="0"/>
              <a:t>x</a:t>
            </a:r>
            <a:r>
              <a:rPr lang="en-US" sz="2000" dirty="0"/>
              <a:t>(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/>
              <a:t>y</a:t>
            </a:r>
            <a:r>
              <a:rPr lang="en-US" sz="2000" dirty="0"/>
              <a:t>’)</a:t>
            </a:r>
          </a:p>
          <a:p>
            <a:pPr marL="0" indent="0">
              <a:buNone/>
            </a:pPr>
            <a:r>
              <a:rPr lang="en-US" sz="2000" dirty="0"/>
              <a:t>	    = </a:t>
            </a:r>
            <a:r>
              <a:rPr lang="en-US" sz="2000" i="1" dirty="0" err="1"/>
              <a:t>xy</a:t>
            </a:r>
            <a:r>
              <a:rPr lang="en-US" sz="2000" i="1" dirty="0"/>
              <a:t> </a:t>
            </a:r>
            <a:r>
              <a:rPr lang="en-US" sz="2000" dirty="0"/>
              <a:t>+ </a:t>
            </a:r>
            <a:r>
              <a:rPr lang="en-US" sz="2000" i="1" dirty="0" err="1"/>
              <a:t>xy</a:t>
            </a:r>
            <a:r>
              <a:rPr lang="en-US" sz="2000" dirty="0"/>
              <a:t>’</a:t>
            </a:r>
          </a:p>
          <a:p>
            <a:pPr marL="0" indent="0">
              <a:buNone/>
            </a:pPr>
            <a:r>
              <a:rPr lang="en-US" sz="2000" dirty="0"/>
              <a:t>	    = </a:t>
            </a:r>
            <a:r>
              <a:rPr lang="en-US" sz="2000" i="1" dirty="0" err="1"/>
              <a:t>xy</a:t>
            </a:r>
            <a:r>
              <a:rPr lang="en-US" sz="2000" i="1" dirty="0"/>
              <a:t> </a:t>
            </a:r>
            <a:r>
              <a:rPr lang="en-US" sz="2000" dirty="0"/>
              <a:t>(</a:t>
            </a:r>
            <a:r>
              <a:rPr lang="en-US" sz="2000" i="1" dirty="0"/>
              <a:t>z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’) + </a:t>
            </a:r>
            <a:r>
              <a:rPr lang="en-US" sz="2000" i="1" dirty="0" err="1"/>
              <a:t>xy</a:t>
            </a:r>
            <a:r>
              <a:rPr lang="en-US" sz="2000" dirty="0"/>
              <a:t>’(</a:t>
            </a:r>
            <a:r>
              <a:rPr lang="en-US" sz="2000" i="1" dirty="0"/>
              <a:t>z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’)</a:t>
            </a:r>
          </a:p>
          <a:p>
            <a:pPr marL="0" indent="0">
              <a:buNone/>
            </a:pPr>
            <a:r>
              <a:rPr lang="en-US" sz="2000" dirty="0"/>
              <a:t>	    = </a:t>
            </a:r>
            <a:r>
              <a:rPr lang="en-US" sz="2000" i="1" dirty="0"/>
              <a:t>xyz </a:t>
            </a:r>
            <a:r>
              <a:rPr lang="en-US" sz="2000" dirty="0"/>
              <a:t>+ </a:t>
            </a:r>
            <a:r>
              <a:rPr lang="en-US" sz="2000" i="1" dirty="0"/>
              <a:t>xyz</a:t>
            </a:r>
            <a:r>
              <a:rPr lang="en-US" sz="2000" dirty="0"/>
              <a:t>’ + </a:t>
            </a:r>
            <a:r>
              <a:rPr lang="en-US" sz="2000" i="1" dirty="0" err="1"/>
              <a:t>xy</a:t>
            </a:r>
            <a:r>
              <a:rPr lang="en-US" sz="2000" dirty="0" err="1"/>
              <a:t>’</a:t>
            </a:r>
            <a:r>
              <a:rPr lang="en-US" sz="2000" i="1" dirty="0" err="1"/>
              <a:t>z</a:t>
            </a:r>
            <a:r>
              <a:rPr lang="en-US" sz="2000" dirty="0"/>
              <a:t> + </a:t>
            </a:r>
            <a:r>
              <a:rPr lang="en-US" sz="2000" i="1" dirty="0" err="1"/>
              <a:t>xy</a:t>
            </a:r>
            <a:r>
              <a:rPr lang="en-US" sz="2000" dirty="0" err="1"/>
              <a:t>’</a:t>
            </a:r>
            <a:r>
              <a:rPr lang="en-US" sz="2000" i="1" dirty="0" err="1"/>
              <a:t>z</a:t>
            </a:r>
            <a:r>
              <a:rPr lang="en-US" sz="2000" dirty="0"/>
              <a:t>’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dan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i="1" dirty="0" err="1"/>
              <a:t>y</a:t>
            </a:r>
            <a:r>
              <a:rPr lang="en-US" sz="2000" dirty="0" err="1"/>
              <a:t>’</a:t>
            </a:r>
            <a:r>
              <a:rPr lang="en-US" sz="2000" i="1" dirty="0" err="1"/>
              <a:t>z</a:t>
            </a:r>
            <a:r>
              <a:rPr lang="en-US" sz="2000" dirty="0"/>
              <a:t> = </a:t>
            </a:r>
            <a:r>
              <a:rPr lang="en-US" sz="2000" i="1" dirty="0" err="1"/>
              <a:t>y</a:t>
            </a:r>
            <a:r>
              <a:rPr lang="en-US" sz="2000" dirty="0" err="1"/>
              <a:t>’</a:t>
            </a:r>
            <a:r>
              <a:rPr lang="en-US" sz="2000" i="1" dirty="0" err="1"/>
              <a:t>z</a:t>
            </a:r>
            <a:r>
              <a:rPr lang="en-US" sz="2000" dirty="0"/>
              <a:t> (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x</a:t>
            </a:r>
            <a:r>
              <a:rPr lang="en-US" sz="2000" dirty="0"/>
              <a:t>’) = </a:t>
            </a:r>
            <a:r>
              <a:rPr lang="en-US" sz="2000" dirty="0" err="1"/>
              <a:t>xy’z</a:t>
            </a:r>
            <a:r>
              <a:rPr lang="en-US" sz="2000" dirty="0"/>
              <a:t> + </a:t>
            </a:r>
            <a:r>
              <a:rPr lang="en-US" sz="2000" dirty="0" err="1"/>
              <a:t>x’y’z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Jadi</a:t>
            </a:r>
            <a:r>
              <a:rPr lang="en-US" sz="2000" dirty="0"/>
              <a:t>  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   = 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 err="1"/>
              <a:t>y</a:t>
            </a:r>
            <a:r>
              <a:rPr lang="en-US" sz="2000" dirty="0" err="1"/>
              <a:t>’</a:t>
            </a:r>
            <a:r>
              <a:rPr lang="en-US" sz="2000" i="1" dirty="0" err="1"/>
              <a:t>z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  	          = </a:t>
            </a:r>
            <a:r>
              <a:rPr lang="en-US" sz="2000" i="1" dirty="0"/>
              <a:t>xyz </a:t>
            </a:r>
            <a:r>
              <a:rPr lang="en-US" sz="2000" dirty="0"/>
              <a:t>+ </a:t>
            </a:r>
            <a:r>
              <a:rPr lang="en-US" sz="2000" i="1" dirty="0"/>
              <a:t>xyz</a:t>
            </a:r>
            <a:r>
              <a:rPr lang="en-US" sz="2000" dirty="0"/>
              <a:t>’ + </a:t>
            </a:r>
            <a:r>
              <a:rPr lang="en-US" sz="2000" i="1" dirty="0" err="1"/>
              <a:t>xy</a:t>
            </a:r>
            <a:r>
              <a:rPr lang="en-US" sz="2000" dirty="0" err="1"/>
              <a:t>’</a:t>
            </a:r>
            <a:r>
              <a:rPr lang="en-US" sz="2000" i="1" dirty="0" err="1"/>
              <a:t>z</a:t>
            </a:r>
            <a:r>
              <a:rPr lang="en-US" sz="2000" dirty="0"/>
              <a:t> + </a:t>
            </a:r>
            <a:r>
              <a:rPr lang="en-US" sz="2000" i="1" dirty="0" err="1"/>
              <a:t>xy</a:t>
            </a:r>
            <a:r>
              <a:rPr lang="en-US" sz="2000" dirty="0" err="1"/>
              <a:t>’</a:t>
            </a:r>
            <a:r>
              <a:rPr lang="en-US" sz="2000" i="1" dirty="0" err="1"/>
              <a:t>z</a:t>
            </a:r>
            <a:r>
              <a:rPr lang="en-US" sz="2000" dirty="0"/>
              <a:t>’ + </a:t>
            </a:r>
            <a:r>
              <a:rPr lang="en-US" sz="2000" i="1" dirty="0" err="1"/>
              <a:t>xy</a:t>
            </a:r>
            <a:r>
              <a:rPr lang="en-US" sz="2000" dirty="0" err="1"/>
              <a:t>’</a:t>
            </a:r>
            <a:r>
              <a:rPr lang="en-US" sz="2000" i="1" dirty="0" err="1"/>
              <a:t>z</a:t>
            </a:r>
            <a:r>
              <a:rPr lang="en-US" sz="2000" dirty="0"/>
              <a:t> + </a:t>
            </a:r>
            <a:r>
              <a:rPr lang="en-US" sz="2000" i="1" dirty="0" err="1"/>
              <a:t>x</a:t>
            </a:r>
            <a:r>
              <a:rPr lang="en-US" sz="2000" dirty="0" err="1"/>
              <a:t>’</a:t>
            </a:r>
            <a:r>
              <a:rPr lang="en-US" sz="2000" i="1" dirty="0" err="1"/>
              <a:t>y</a:t>
            </a:r>
            <a:r>
              <a:rPr lang="en-US" sz="2000" dirty="0" err="1"/>
              <a:t>’</a:t>
            </a:r>
            <a:r>
              <a:rPr lang="en-US" sz="2000" i="1" dirty="0" err="1"/>
              <a:t>z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  	          = </a:t>
            </a:r>
            <a:r>
              <a:rPr lang="en-US" sz="2000" i="1" dirty="0" err="1"/>
              <a:t>x</a:t>
            </a:r>
            <a:r>
              <a:rPr lang="en-US" sz="2000" dirty="0" err="1"/>
              <a:t>’</a:t>
            </a:r>
            <a:r>
              <a:rPr lang="en-US" sz="2000" i="1" dirty="0" err="1"/>
              <a:t>y</a:t>
            </a:r>
            <a:r>
              <a:rPr lang="en-US" sz="2000" dirty="0" err="1"/>
              <a:t>’</a:t>
            </a:r>
            <a:r>
              <a:rPr lang="en-US" sz="2000" i="1" dirty="0" err="1"/>
              <a:t>z</a:t>
            </a:r>
            <a:r>
              <a:rPr lang="en-US" sz="2000" dirty="0"/>
              <a:t> + </a:t>
            </a:r>
            <a:r>
              <a:rPr lang="en-US" sz="2000" i="1" dirty="0" err="1"/>
              <a:t>xy</a:t>
            </a:r>
            <a:r>
              <a:rPr lang="en-US" sz="2000" dirty="0" err="1"/>
              <a:t>’</a:t>
            </a:r>
            <a:r>
              <a:rPr lang="en-US" sz="2000" i="1" dirty="0" err="1"/>
              <a:t>z</a:t>
            </a:r>
            <a:r>
              <a:rPr lang="en-US" sz="2000" dirty="0"/>
              <a:t>’ + </a:t>
            </a:r>
            <a:r>
              <a:rPr lang="en-US" sz="2000" i="1" dirty="0" err="1"/>
              <a:t>xy</a:t>
            </a:r>
            <a:r>
              <a:rPr lang="en-US" sz="2000" dirty="0" err="1"/>
              <a:t>’</a:t>
            </a:r>
            <a:r>
              <a:rPr lang="en-US" sz="2000" i="1" dirty="0" err="1"/>
              <a:t>z</a:t>
            </a:r>
            <a:r>
              <a:rPr lang="en-US" sz="2000" dirty="0"/>
              <a:t> + </a:t>
            </a:r>
            <a:r>
              <a:rPr lang="en-US" sz="2000" i="1" dirty="0"/>
              <a:t>xyz</a:t>
            </a:r>
            <a:r>
              <a:rPr lang="en-US" sz="2000" dirty="0"/>
              <a:t>’ + </a:t>
            </a:r>
            <a:r>
              <a:rPr lang="en-US" sz="2000" i="1" dirty="0"/>
              <a:t>xyz</a:t>
            </a:r>
            <a:r>
              <a:rPr lang="en-US" sz="2000" dirty="0"/>
              <a:t>	          </a:t>
            </a:r>
          </a:p>
          <a:p>
            <a:pPr marL="0" indent="0">
              <a:buNone/>
            </a:pPr>
            <a:r>
              <a:rPr lang="en-US" sz="2000" dirty="0" err="1"/>
              <a:t>atau</a:t>
            </a:r>
            <a:r>
              <a:rPr lang="en-US" sz="2000" dirty="0"/>
              <a:t>  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   = </a:t>
            </a:r>
            <a:r>
              <a:rPr lang="en-US" sz="2000" i="1" dirty="0"/>
              <a:t>m</a:t>
            </a:r>
            <a:r>
              <a:rPr lang="en-US" sz="2000" baseline="-25000" dirty="0"/>
              <a:t>1</a:t>
            </a:r>
            <a:r>
              <a:rPr lang="en-US" sz="2000" dirty="0"/>
              <a:t> + </a:t>
            </a:r>
            <a:r>
              <a:rPr lang="en-US" sz="2000" i="1" dirty="0"/>
              <a:t>m</a:t>
            </a:r>
            <a:r>
              <a:rPr lang="en-US" sz="2000" baseline="-25000" dirty="0"/>
              <a:t>4 </a:t>
            </a:r>
            <a:r>
              <a:rPr lang="en-US" sz="2000" dirty="0"/>
              <a:t>+ </a:t>
            </a:r>
            <a:r>
              <a:rPr lang="en-US" sz="2000" i="1" dirty="0"/>
              <a:t>m</a:t>
            </a:r>
            <a:r>
              <a:rPr lang="en-US" sz="2000" baseline="-25000" dirty="0"/>
              <a:t>5 </a:t>
            </a:r>
            <a:r>
              <a:rPr lang="en-US" sz="2000" dirty="0"/>
              <a:t>+ </a:t>
            </a:r>
            <a:r>
              <a:rPr lang="en-US" sz="2000" i="1" dirty="0"/>
              <a:t>m</a:t>
            </a:r>
            <a:r>
              <a:rPr lang="en-US" sz="2000" baseline="-25000" dirty="0"/>
              <a:t>6 </a:t>
            </a:r>
            <a:r>
              <a:rPr lang="en-US" sz="2000" dirty="0"/>
              <a:t>+ </a:t>
            </a:r>
            <a:r>
              <a:rPr lang="en-US" sz="2000" i="1" dirty="0"/>
              <a:t>m</a:t>
            </a:r>
            <a:r>
              <a:rPr lang="en-US" sz="2000" baseline="-25000" dirty="0"/>
              <a:t>7</a:t>
            </a:r>
            <a:r>
              <a:rPr lang="en-US" sz="2000" dirty="0"/>
              <a:t> = </a:t>
            </a:r>
            <a:r>
              <a:rPr lang="en-US" sz="2000" dirty="0">
                <a:sym typeface="Symbol" panose="05050102010706020507" pitchFamily="18" charset="2"/>
              </a:rPr>
              <a:t></a:t>
            </a:r>
            <a:r>
              <a:rPr lang="en-US" sz="2000" dirty="0"/>
              <a:t> (1,4,5,6,7)</a:t>
            </a:r>
            <a:endParaRPr lang="en-US" sz="20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23580E-27B2-D33B-8CFE-8BE2A6A95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996" y="1832407"/>
            <a:ext cx="5467005" cy="502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992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4217" y="685801"/>
            <a:ext cx="10409583" cy="5440363"/>
          </a:xfrm>
        </p:spPr>
        <p:txBody>
          <a:bodyPr>
            <a:normAutofit fontScale="77500" lnSpcReduction="20000"/>
          </a:bodyPr>
          <a:lstStyle/>
          <a:p>
            <a:pPr marL="457200" lvl="1" indent="-457200">
              <a:buNone/>
            </a:pPr>
            <a:r>
              <a:rPr lang="en-US" dirty="0"/>
              <a:t>(b) POS</a:t>
            </a:r>
          </a:p>
          <a:p>
            <a:pPr marL="0" indent="0">
              <a:buNone/>
            </a:pPr>
            <a:r>
              <a:rPr lang="en-US" i="1" dirty="0"/>
              <a:t>      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</a:t>
            </a:r>
            <a:r>
              <a:rPr lang="en-US" i="1" dirty="0"/>
              <a:t>x </a:t>
            </a:r>
            <a:r>
              <a:rPr lang="en-US" dirty="0"/>
              <a:t>+ </a:t>
            </a:r>
            <a:r>
              <a:rPr lang="en-US" i="1" dirty="0" err="1"/>
              <a:t>y</a:t>
            </a:r>
            <a:r>
              <a:rPr lang="en-US" dirty="0" err="1"/>
              <a:t>’</a:t>
            </a:r>
            <a:r>
              <a:rPr lang="en-US" i="1" dirty="0" err="1"/>
              <a:t>z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                 = 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’)(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z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 err="1"/>
              <a:t>Lengkapi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 literal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suku</a:t>
            </a:r>
            <a:r>
              <a:rPr lang="en-US" dirty="0"/>
              <a:t> agar </a:t>
            </a:r>
            <a:r>
              <a:rPr lang="en-US" dirty="0" err="1"/>
              <a:t>jumlahnya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x </a:t>
            </a:r>
            <a:r>
              <a:rPr lang="en-US" dirty="0"/>
              <a:t>+ </a:t>
            </a:r>
            <a:r>
              <a:rPr lang="en-US" i="1" dirty="0"/>
              <a:t>y</a:t>
            </a:r>
            <a:r>
              <a:rPr lang="en-US" dirty="0"/>
              <a:t>’ = 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’ + </a:t>
            </a:r>
            <a:r>
              <a:rPr lang="en-US" i="1" dirty="0" err="1"/>
              <a:t>zz</a:t>
            </a:r>
            <a:r>
              <a:rPr lang="en-US" dirty="0"/>
              <a:t>’</a:t>
            </a:r>
          </a:p>
          <a:p>
            <a:pPr marL="0" indent="0">
              <a:buNone/>
            </a:pPr>
            <a:r>
              <a:rPr lang="en-US" dirty="0"/>
              <a:t>	          = (</a:t>
            </a:r>
            <a:r>
              <a:rPr lang="en-US" i="1" dirty="0"/>
              <a:t>x </a:t>
            </a:r>
            <a:r>
              <a:rPr lang="en-US" dirty="0"/>
              <a:t>+ </a:t>
            </a:r>
            <a:r>
              <a:rPr lang="en-US" i="1" dirty="0"/>
              <a:t>y</a:t>
            </a:r>
            <a:r>
              <a:rPr lang="en-US" dirty="0"/>
              <a:t>’ + </a:t>
            </a:r>
            <a:r>
              <a:rPr lang="en-US" i="1" dirty="0"/>
              <a:t>z</a:t>
            </a:r>
            <a:r>
              <a:rPr lang="en-US" dirty="0"/>
              <a:t>)(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’ + </a:t>
            </a:r>
            <a:r>
              <a:rPr lang="en-US" i="1" dirty="0"/>
              <a:t>z</a:t>
            </a:r>
            <a:r>
              <a:rPr lang="en-US" dirty="0"/>
              <a:t>’)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z</a:t>
            </a:r>
            <a:r>
              <a:rPr lang="en-US" dirty="0"/>
              <a:t> = 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z</a:t>
            </a:r>
            <a:r>
              <a:rPr lang="en-US" dirty="0"/>
              <a:t> + </a:t>
            </a:r>
            <a:r>
              <a:rPr lang="en-US" i="1" dirty="0" err="1"/>
              <a:t>yy</a:t>
            </a:r>
            <a:r>
              <a:rPr lang="en-US" dirty="0"/>
              <a:t>’	</a:t>
            </a:r>
          </a:p>
          <a:p>
            <a:pPr marL="0" indent="0">
              <a:buNone/>
            </a:pPr>
            <a:r>
              <a:rPr lang="en-US" dirty="0"/>
              <a:t>	        = 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 + </a:t>
            </a:r>
            <a:r>
              <a:rPr lang="en-US" i="1" dirty="0"/>
              <a:t>z</a:t>
            </a:r>
            <a:r>
              <a:rPr lang="en-US" dirty="0"/>
              <a:t>)(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’ + </a:t>
            </a:r>
            <a:r>
              <a:rPr lang="en-US" i="1" dirty="0"/>
              <a:t>z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 err="1"/>
              <a:t>Jadi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’ + </a:t>
            </a:r>
            <a:r>
              <a:rPr lang="en-US" i="1" dirty="0"/>
              <a:t>z</a:t>
            </a:r>
            <a:r>
              <a:rPr lang="en-US" dirty="0"/>
              <a:t>)(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’ + </a:t>
            </a:r>
            <a:r>
              <a:rPr lang="en-US" i="1" dirty="0"/>
              <a:t>z</a:t>
            </a:r>
            <a:r>
              <a:rPr lang="en-US" dirty="0"/>
              <a:t>’)(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 </a:t>
            </a:r>
            <a:r>
              <a:rPr lang="en-US" dirty="0"/>
              <a:t>+ </a:t>
            </a:r>
            <a:r>
              <a:rPr lang="en-US" i="1" dirty="0"/>
              <a:t>z</a:t>
            </a:r>
            <a:r>
              <a:rPr lang="en-US" dirty="0"/>
              <a:t>)(</a:t>
            </a:r>
            <a:r>
              <a:rPr lang="en-US" i="1" dirty="0"/>
              <a:t>x </a:t>
            </a:r>
            <a:r>
              <a:rPr lang="en-US" dirty="0"/>
              <a:t>+ </a:t>
            </a:r>
            <a:r>
              <a:rPr lang="en-US" i="1" dirty="0"/>
              <a:t>y</a:t>
            </a:r>
            <a:r>
              <a:rPr lang="en-US" dirty="0"/>
              <a:t>’ + </a:t>
            </a:r>
            <a:r>
              <a:rPr lang="en-US" i="1" dirty="0"/>
              <a:t>z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	        = (</a:t>
            </a:r>
            <a:r>
              <a:rPr lang="en-US" i="1" dirty="0"/>
              <a:t>x </a:t>
            </a:r>
            <a:r>
              <a:rPr lang="en-US" dirty="0"/>
              <a:t>+ </a:t>
            </a:r>
            <a:r>
              <a:rPr lang="en-US" i="1" dirty="0"/>
              <a:t>y</a:t>
            </a:r>
            <a:r>
              <a:rPr lang="en-US" dirty="0"/>
              <a:t>  + </a:t>
            </a:r>
            <a:r>
              <a:rPr lang="en-US" i="1" dirty="0"/>
              <a:t>z</a:t>
            </a:r>
            <a:r>
              <a:rPr lang="en-US" dirty="0"/>
              <a:t>)(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’ + </a:t>
            </a:r>
            <a:r>
              <a:rPr lang="en-US" i="1" dirty="0"/>
              <a:t>z</a:t>
            </a:r>
            <a:r>
              <a:rPr lang="en-US" dirty="0"/>
              <a:t>)(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’ + </a:t>
            </a:r>
            <a:r>
              <a:rPr lang="en-US" i="1" dirty="0"/>
              <a:t>z</a:t>
            </a:r>
            <a:r>
              <a:rPr lang="en-US" dirty="0"/>
              <a:t>’)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</a:t>
            </a:r>
            <a:r>
              <a:rPr lang="en-US" i="1" dirty="0"/>
              <a:t>M</a:t>
            </a:r>
            <a:r>
              <a:rPr lang="en-US" baseline="-25000" dirty="0"/>
              <a:t>0</a:t>
            </a:r>
            <a:r>
              <a:rPr lang="en-US" i="1" dirty="0"/>
              <a:t>M</a:t>
            </a:r>
            <a:r>
              <a:rPr lang="en-US" baseline="-25000" dirty="0"/>
              <a:t>2</a:t>
            </a:r>
            <a:r>
              <a:rPr lang="en-US" i="1" dirty="0"/>
              <a:t>M</a:t>
            </a:r>
            <a:r>
              <a:rPr lang="en-US" baseline="-25000" dirty="0"/>
              <a:t>3</a:t>
            </a:r>
            <a:r>
              <a:rPr lang="en-US" dirty="0"/>
              <a:t> = </a:t>
            </a:r>
            <a:r>
              <a:rPr lang="en-US" dirty="0">
                <a:sym typeface="Symbol" panose="05050102010706020507" pitchFamily="18" charset="2"/>
              </a:rPr>
              <a:t></a:t>
            </a:r>
            <a:r>
              <a:rPr lang="en-US" dirty="0"/>
              <a:t>(0, 2, 3)	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CC9029-C770-7D34-922C-2E85157B3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138" y="2397881"/>
            <a:ext cx="4851863" cy="446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9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521" y="762001"/>
            <a:ext cx="10843591" cy="55943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err="1"/>
              <a:t>Contoh</a:t>
            </a:r>
            <a:r>
              <a:rPr lang="en-US" sz="2000" b="1" dirty="0"/>
              <a:t> 7</a:t>
            </a:r>
            <a:r>
              <a:rPr lang="en-US" sz="2000" dirty="0"/>
              <a:t>: </a:t>
            </a:r>
            <a:r>
              <a:rPr lang="en-US" sz="2000" dirty="0" err="1"/>
              <a:t>Nyatakan</a:t>
            </a:r>
            <a:r>
              <a:rPr lang="en-US" sz="2000" dirty="0"/>
              <a:t> </a:t>
            </a:r>
            <a:r>
              <a:rPr lang="en-US" sz="2000" dirty="0" err="1"/>
              <a:t>fungsi</a:t>
            </a:r>
            <a:r>
              <a:rPr lang="en-US" sz="2000" dirty="0"/>
              <a:t> Boolean 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 = </a:t>
            </a:r>
            <a:r>
              <a:rPr lang="en-US" sz="2000" i="1" dirty="0" err="1"/>
              <a:t>xy</a:t>
            </a:r>
            <a:r>
              <a:rPr lang="en-US" sz="2000" dirty="0"/>
              <a:t> + </a:t>
            </a:r>
            <a:r>
              <a:rPr lang="en-US" sz="2000" i="1" dirty="0" err="1"/>
              <a:t>x</a:t>
            </a:r>
            <a:r>
              <a:rPr lang="en-US" sz="2000" dirty="0" err="1"/>
              <a:t>’</a:t>
            </a:r>
            <a:r>
              <a:rPr lang="en-US" sz="2000" i="1" dirty="0" err="1"/>
              <a:t>z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bentuk</a:t>
            </a:r>
            <a:r>
              <a:rPr lang="en-US" sz="2000" dirty="0"/>
              <a:t> </a:t>
            </a:r>
            <a:r>
              <a:rPr lang="en-US" sz="2000" dirty="0" err="1"/>
              <a:t>kanonik</a:t>
            </a:r>
            <a:r>
              <a:rPr lang="en-US" sz="2000" dirty="0"/>
              <a:t> POS.</a:t>
            </a:r>
          </a:p>
          <a:p>
            <a:pPr marL="0" indent="0">
              <a:buNone/>
            </a:pPr>
            <a:r>
              <a:rPr lang="en-US" sz="2000" dirty="0"/>
              <a:t> </a:t>
            </a:r>
            <a:r>
              <a:rPr lang="en-US" sz="2000" u="sng" dirty="0" err="1"/>
              <a:t>Penyelesaian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i="1" dirty="0"/>
              <a:t>        f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 =  </a:t>
            </a:r>
            <a:r>
              <a:rPr lang="en-US" sz="2000" i="1" dirty="0" err="1"/>
              <a:t>xy</a:t>
            </a:r>
            <a:r>
              <a:rPr lang="en-US" sz="2000" dirty="0"/>
              <a:t> + </a:t>
            </a:r>
            <a:r>
              <a:rPr lang="en-US" sz="2000" i="1" dirty="0" err="1"/>
              <a:t>x</a:t>
            </a:r>
            <a:r>
              <a:rPr lang="en-US" sz="2000" dirty="0" err="1"/>
              <a:t>’</a:t>
            </a:r>
            <a:r>
              <a:rPr lang="en-US" sz="2000" i="1" dirty="0" err="1"/>
              <a:t>z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	       =  (</a:t>
            </a:r>
            <a:r>
              <a:rPr lang="en-US" sz="2000" i="1" dirty="0" err="1"/>
              <a:t>xy</a:t>
            </a:r>
            <a:r>
              <a:rPr lang="en-US" sz="2000" dirty="0"/>
              <a:t> + </a:t>
            </a:r>
            <a:r>
              <a:rPr lang="en-US" sz="2000" i="1" dirty="0"/>
              <a:t>x</a:t>
            </a:r>
            <a:r>
              <a:rPr lang="en-US" sz="2000" dirty="0"/>
              <a:t>’) (</a:t>
            </a:r>
            <a:r>
              <a:rPr lang="en-US" sz="2000" i="1" dirty="0" err="1"/>
              <a:t>xy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	       =  (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x</a:t>
            </a:r>
            <a:r>
              <a:rPr lang="en-US" sz="2000" dirty="0"/>
              <a:t>’) (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/>
              <a:t>x</a:t>
            </a:r>
            <a:r>
              <a:rPr lang="en-US" sz="2000" dirty="0"/>
              <a:t>’) (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) (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	       =  (</a:t>
            </a:r>
            <a:r>
              <a:rPr lang="en-US" sz="2000" i="1" dirty="0"/>
              <a:t>x</a:t>
            </a:r>
            <a:r>
              <a:rPr lang="en-US" sz="2000" dirty="0"/>
              <a:t>’ + </a:t>
            </a:r>
            <a:r>
              <a:rPr lang="en-US" sz="2000" i="1" dirty="0"/>
              <a:t>y</a:t>
            </a:r>
            <a:r>
              <a:rPr lang="en-US" sz="2000" dirty="0"/>
              <a:t>) (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) (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 </a:t>
            </a:r>
          </a:p>
          <a:p>
            <a:pPr marL="0" indent="0">
              <a:buNone/>
            </a:pPr>
            <a:r>
              <a:rPr lang="en-US" sz="2000" dirty="0" err="1"/>
              <a:t>Lengkapi</a:t>
            </a:r>
            <a:r>
              <a:rPr lang="en-US" sz="2000" dirty="0"/>
              <a:t> literal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setiap</a:t>
            </a:r>
            <a:r>
              <a:rPr lang="en-US" sz="2000" dirty="0"/>
              <a:t> </a:t>
            </a:r>
            <a:r>
              <a:rPr lang="en-US" sz="2000" dirty="0" err="1"/>
              <a:t>suku</a:t>
            </a:r>
            <a:r>
              <a:rPr lang="en-US" sz="2000" dirty="0"/>
              <a:t> agar </a:t>
            </a:r>
            <a:r>
              <a:rPr lang="en-US" sz="2000" dirty="0" err="1"/>
              <a:t>jumlahnya</a:t>
            </a:r>
            <a:r>
              <a:rPr lang="en-US" sz="2000" dirty="0"/>
              <a:t> </a:t>
            </a:r>
            <a:r>
              <a:rPr lang="en-US" sz="2000" dirty="0" err="1"/>
              <a:t>sama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i="1" dirty="0"/>
              <a:t>x</a:t>
            </a:r>
            <a:r>
              <a:rPr lang="en-US" sz="2000" dirty="0"/>
              <a:t>’ + </a:t>
            </a:r>
            <a:r>
              <a:rPr lang="en-US" sz="2000" i="1" dirty="0"/>
              <a:t>y</a:t>
            </a:r>
            <a:r>
              <a:rPr lang="en-US" sz="2000" dirty="0"/>
              <a:t> = </a:t>
            </a:r>
            <a:r>
              <a:rPr lang="en-US" sz="2000" i="1" dirty="0"/>
              <a:t>x</a:t>
            </a:r>
            <a:r>
              <a:rPr lang="en-US" sz="2000" dirty="0"/>
              <a:t>’ + 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 err="1"/>
              <a:t>zz</a:t>
            </a:r>
            <a:r>
              <a:rPr lang="en-US" sz="2000" dirty="0"/>
              <a:t>’  = (</a:t>
            </a:r>
            <a:r>
              <a:rPr lang="en-US" sz="2000" i="1" dirty="0"/>
              <a:t>x</a:t>
            </a:r>
            <a:r>
              <a:rPr lang="en-US" sz="2000" dirty="0"/>
              <a:t>’ + 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) (</a:t>
            </a:r>
            <a:r>
              <a:rPr lang="en-US" sz="2000" i="1" dirty="0"/>
              <a:t>x</a:t>
            </a:r>
            <a:r>
              <a:rPr lang="en-US" sz="2000" dirty="0"/>
              <a:t>’ + 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’)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   = 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 + </a:t>
            </a:r>
            <a:r>
              <a:rPr lang="en-US" sz="2000" i="1" dirty="0" err="1"/>
              <a:t>yy</a:t>
            </a:r>
            <a:r>
              <a:rPr lang="en-US" sz="2000" dirty="0"/>
              <a:t>’   = (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) (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y</a:t>
            </a:r>
            <a:r>
              <a:rPr lang="en-US" sz="2000" dirty="0"/>
              <a:t>’+ </a:t>
            </a:r>
            <a:r>
              <a:rPr lang="en-US" sz="2000" i="1" dirty="0"/>
              <a:t>z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   = 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 + </a:t>
            </a:r>
            <a:r>
              <a:rPr lang="en-US" sz="2000" i="1" dirty="0"/>
              <a:t>xx</a:t>
            </a:r>
            <a:r>
              <a:rPr lang="en-US" sz="2000" dirty="0"/>
              <a:t>’   = (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) (</a:t>
            </a:r>
            <a:r>
              <a:rPr lang="en-US" sz="2000" i="1" dirty="0"/>
              <a:t>x</a:t>
            </a:r>
            <a:r>
              <a:rPr lang="en-US" sz="2000" dirty="0"/>
              <a:t>’ + 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 </a:t>
            </a:r>
          </a:p>
          <a:p>
            <a:pPr marL="0" indent="0">
              <a:buNone/>
            </a:pPr>
            <a:r>
              <a:rPr lang="en-US" sz="2000" dirty="0" err="1"/>
              <a:t>Jadi</a:t>
            </a:r>
            <a:r>
              <a:rPr lang="en-US" sz="2000" dirty="0"/>
              <a:t>,   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 = (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) (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y</a:t>
            </a:r>
            <a:r>
              <a:rPr lang="en-US" sz="2000" dirty="0"/>
              <a:t>’+ </a:t>
            </a:r>
            <a:r>
              <a:rPr lang="en-US" sz="2000" i="1" dirty="0"/>
              <a:t>z</a:t>
            </a:r>
            <a:r>
              <a:rPr lang="en-US" sz="2000" dirty="0"/>
              <a:t>) (</a:t>
            </a:r>
            <a:r>
              <a:rPr lang="en-US" sz="2000" i="1" dirty="0"/>
              <a:t>x</a:t>
            </a:r>
            <a:r>
              <a:rPr lang="en-US" sz="2000" dirty="0"/>
              <a:t>’+ 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) (</a:t>
            </a:r>
            <a:r>
              <a:rPr lang="en-US" sz="2000" i="1" dirty="0"/>
              <a:t>x</a:t>
            </a:r>
            <a:r>
              <a:rPr lang="en-US" sz="2000" dirty="0"/>
              <a:t>’ + 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’)</a:t>
            </a:r>
          </a:p>
          <a:p>
            <a:pPr marL="0" indent="0">
              <a:buNone/>
            </a:pPr>
            <a:r>
              <a:rPr lang="en-US" sz="2000" dirty="0"/>
              <a:t> </a:t>
            </a:r>
            <a:r>
              <a:rPr lang="en-US" sz="2000" dirty="0" err="1"/>
              <a:t>atau</a:t>
            </a:r>
            <a:r>
              <a:rPr lang="en-US" sz="2000" dirty="0"/>
              <a:t>  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 = </a:t>
            </a:r>
            <a:r>
              <a:rPr lang="en-US" sz="2000" i="1" dirty="0"/>
              <a:t>M</a:t>
            </a:r>
            <a:r>
              <a:rPr lang="en-US" sz="2000" baseline="-25000" dirty="0"/>
              <a:t>0</a:t>
            </a:r>
            <a:r>
              <a:rPr lang="en-US" sz="2000" dirty="0"/>
              <a:t> </a:t>
            </a:r>
            <a:r>
              <a:rPr lang="en-US" sz="2000" i="1" dirty="0"/>
              <a:t>M</a:t>
            </a:r>
            <a:r>
              <a:rPr lang="en-US" sz="2000" baseline="-25000" dirty="0"/>
              <a:t>2</a:t>
            </a:r>
            <a:r>
              <a:rPr lang="en-US" sz="2000" i="1" dirty="0"/>
              <a:t>M</a:t>
            </a:r>
            <a:r>
              <a:rPr lang="en-US" sz="2000" baseline="-25000" dirty="0"/>
              <a:t>4</a:t>
            </a:r>
            <a:r>
              <a:rPr lang="en-US" sz="2000" dirty="0"/>
              <a:t> </a:t>
            </a:r>
            <a:r>
              <a:rPr lang="en-US" sz="2000" i="1" dirty="0"/>
              <a:t>M</a:t>
            </a:r>
            <a:r>
              <a:rPr lang="en-US" sz="2000" baseline="-25000" dirty="0"/>
              <a:t>5</a:t>
            </a:r>
            <a:r>
              <a:rPr lang="en-US" sz="2000" dirty="0"/>
              <a:t> = </a:t>
            </a:r>
            <a:r>
              <a:rPr lang="en-US" sz="2000" dirty="0">
                <a:sym typeface="Symbol" panose="05050102010706020507" pitchFamily="18" charset="2"/>
              </a:rPr>
              <a:t></a:t>
            </a:r>
            <a:r>
              <a:rPr lang="en-US" sz="2000" dirty="0"/>
              <a:t> (0,2,4,5)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3EB78D-F1DD-72C6-16F2-D92465619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515" y="2302625"/>
            <a:ext cx="4955486" cy="455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093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7F9EC-6847-81DA-8D89-1FBB0AE8D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983DB-C499-CC24-28AD-5F932BFD7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3178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Nyatakan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fungsi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Boolean  f(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x,y,z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=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x'y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y'z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bentuk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kanonik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SOP dan POS</a:t>
            </a:r>
            <a:endParaRPr lang="en-US" sz="3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b="1" dirty="0" err="1"/>
              <a:t>Jawaban</a:t>
            </a:r>
            <a:r>
              <a:rPr lang="en-US" sz="3400" dirty="0"/>
              <a:t>: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(a) </a:t>
            </a:r>
            <a:r>
              <a:rPr lang="en-US" sz="34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SOP</a:t>
            </a:r>
          </a:p>
          <a:p>
            <a:pPr marL="17145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Lengkapi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terlebih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dahulu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literal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setiap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suku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agar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jumlahnya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sama</a:t>
            </a:r>
            <a:endParaRPr lang="en-US" sz="3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x'y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x' y (z + z' )</a:t>
            </a:r>
          </a:p>
          <a:p>
            <a:pPr marL="45720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= x'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yz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x'yz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</a:p>
          <a:p>
            <a:pPr marL="45720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45720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y'z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y'z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x+x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')</a:t>
            </a:r>
          </a:p>
          <a:p>
            <a:pPr marL="45720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=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xy'z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x'y'z</a:t>
            </a:r>
            <a:endParaRPr lang="en-US" sz="3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11430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sehingga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f(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x,y,z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=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x'yz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x'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yz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 + 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xy'z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x'y'z</a:t>
            </a:r>
            <a:endParaRPr lang="en-US" sz="3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f(</a:t>
            </a:r>
            <a:r>
              <a:rPr lang="en-US" sz="3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x,y,z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= m</a:t>
            </a:r>
            <a:r>
              <a:rPr lang="en-US" sz="34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m</a:t>
            </a:r>
            <a:r>
              <a:rPr lang="en-US" sz="34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m</a:t>
            </a:r>
            <a:r>
              <a:rPr lang="en-US" sz="34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+m</a:t>
            </a:r>
            <a:r>
              <a:rPr lang="en-US" sz="34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 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(1,2,3,5) 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5B4E3-3391-FD35-41D4-1601408DD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3D3E7B-8930-7EB8-E665-D3CB16E30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963" y="3347316"/>
            <a:ext cx="3819037" cy="351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6531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606F2-D779-A53D-EF67-8E0C03382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3564"/>
            <a:ext cx="10515600" cy="5373399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(b) </a:t>
            </a:r>
            <a:r>
              <a:rPr lang="en-US" sz="24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Dari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jawaban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diperoleh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melalui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langkah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(a) dan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menggunakan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konversi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antar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kanonik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menggunakan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hukum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Morgan,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maka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6858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f(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x,y,z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= (f '(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x,y,z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))'</a:t>
            </a:r>
          </a:p>
          <a:p>
            <a:pPr marL="6858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f(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x,y,z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= (0,4,6,7) = (x + y + z)(x’ + y + z)(x’ + y’ + z)(x’ + y’ + z')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36D976-17E6-9DA4-3410-A7F9ED508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28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862502-C6B4-4352-03E9-A445DB3F8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963" y="3347316"/>
            <a:ext cx="3819037" cy="351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398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/>
          <a:lstStyle/>
          <a:p>
            <a:r>
              <a:rPr lang="en-US" dirty="0" err="1"/>
              <a:t>Konversi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Kanonik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4035" y="1295400"/>
            <a:ext cx="10379765" cy="5334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err="1"/>
              <a:t>Misalkan</a:t>
            </a:r>
            <a:r>
              <a:rPr lang="en-US" sz="2000" dirty="0"/>
              <a:t> </a:t>
            </a:r>
            <a:r>
              <a:rPr lang="en-US" sz="2000" i="1" dirty="0"/>
              <a:t>f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fungsi</a:t>
            </a:r>
            <a:r>
              <a:rPr lang="en-US" sz="2000" dirty="0"/>
              <a:t> Boolean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bentuk</a:t>
            </a:r>
            <a:r>
              <a:rPr lang="en-US" sz="2000" dirty="0"/>
              <a:t> SOP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tiga</a:t>
            </a:r>
            <a:r>
              <a:rPr lang="en-US" sz="2000" dirty="0"/>
              <a:t> </a:t>
            </a:r>
            <a:r>
              <a:rPr lang="en-US" sz="2000" dirty="0" err="1"/>
              <a:t>peubah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 	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z)  = </a:t>
            </a:r>
            <a:r>
              <a:rPr lang="en-US" sz="2000" dirty="0">
                <a:sym typeface="Symbol" panose="05050102010706020507" pitchFamily="18" charset="2"/>
              </a:rPr>
              <a:t></a:t>
            </a:r>
            <a:r>
              <a:rPr lang="en-US" sz="2000" dirty="0"/>
              <a:t> (1, 4, 5, 6, 7)</a:t>
            </a:r>
          </a:p>
          <a:p>
            <a:pPr marL="0" indent="0">
              <a:buNone/>
            </a:pPr>
            <a:r>
              <a:rPr lang="en-US" sz="2000" dirty="0"/>
              <a:t> 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i="1" dirty="0"/>
              <a:t>f</a:t>
            </a:r>
            <a:r>
              <a:rPr lang="en-US" sz="2000" dirty="0"/>
              <a:t> ’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 err="1"/>
              <a:t>komplemen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i="1" dirty="0"/>
              <a:t>f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i="1" dirty="0"/>
              <a:t>	f</a:t>
            </a:r>
            <a:r>
              <a:rPr lang="en-US" sz="2000" dirty="0"/>
              <a:t> ’(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 = </a:t>
            </a:r>
            <a:r>
              <a:rPr lang="en-US" sz="2000" dirty="0">
                <a:sym typeface="Symbol" panose="05050102010706020507" pitchFamily="18" charset="2"/>
              </a:rPr>
              <a:t></a:t>
            </a:r>
            <a:r>
              <a:rPr lang="en-US" sz="2000" dirty="0"/>
              <a:t> (0, 2, 3)  = </a:t>
            </a:r>
            <a:r>
              <a:rPr lang="en-US" sz="2000" i="1" dirty="0"/>
              <a:t>m</a:t>
            </a:r>
            <a:r>
              <a:rPr lang="en-US" sz="2000" baseline="-25000" dirty="0"/>
              <a:t>0</a:t>
            </a:r>
            <a:r>
              <a:rPr lang="en-US" sz="2000" dirty="0"/>
              <a:t>+ </a:t>
            </a:r>
            <a:r>
              <a:rPr lang="en-US" sz="2000" i="1" dirty="0"/>
              <a:t>m</a:t>
            </a:r>
            <a:r>
              <a:rPr lang="en-US" sz="2000" baseline="-25000" dirty="0"/>
              <a:t>2 </a:t>
            </a:r>
            <a:r>
              <a:rPr lang="en-US" sz="2000" dirty="0"/>
              <a:t>+ </a:t>
            </a:r>
            <a:r>
              <a:rPr lang="en-US" sz="2000" i="1" dirty="0"/>
              <a:t>m</a:t>
            </a:r>
            <a:r>
              <a:rPr lang="en-US" sz="2000" baseline="-25000" dirty="0"/>
              <a:t>3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 </a:t>
            </a:r>
          </a:p>
          <a:p>
            <a:pPr marL="0" indent="0">
              <a:buNone/>
            </a:pP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hukum</a:t>
            </a:r>
            <a:r>
              <a:rPr lang="en-US" sz="2000" dirty="0"/>
              <a:t> De Morgan, </a:t>
            </a:r>
            <a:r>
              <a:rPr lang="en-US" sz="2000" dirty="0" err="1"/>
              <a:t>kita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memperoleh</a:t>
            </a:r>
            <a:r>
              <a:rPr lang="en-US" sz="2000" dirty="0"/>
              <a:t> </a:t>
            </a:r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i="1" dirty="0"/>
              <a:t>f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bentuk</a:t>
            </a:r>
            <a:r>
              <a:rPr lang="en-US" sz="2000" dirty="0"/>
              <a:t> POS:</a:t>
            </a:r>
          </a:p>
          <a:p>
            <a:pPr marL="0" indent="0">
              <a:buNone/>
            </a:pPr>
            <a:r>
              <a:rPr lang="en-US" sz="2000" dirty="0"/>
              <a:t> </a:t>
            </a:r>
            <a:r>
              <a:rPr lang="en-US" sz="2000" i="1" dirty="0"/>
              <a:t>	f 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  = (</a:t>
            </a:r>
            <a:r>
              <a:rPr lang="en-US" sz="2000" i="1" dirty="0"/>
              <a:t>f</a:t>
            </a:r>
            <a:r>
              <a:rPr lang="en-US" sz="2000" dirty="0"/>
              <a:t> ’(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))’ = (</a:t>
            </a:r>
            <a:r>
              <a:rPr lang="en-US" sz="2000" i="1" dirty="0"/>
              <a:t>m</a:t>
            </a:r>
            <a:r>
              <a:rPr lang="en-US" sz="2000" baseline="-25000" dirty="0"/>
              <a:t>0</a:t>
            </a:r>
            <a:r>
              <a:rPr lang="en-US" sz="2000" dirty="0"/>
              <a:t> + </a:t>
            </a:r>
            <a:r>
              <a:rPr lang="en-US" sz="2000" i="1" dirty="0"/>
              <a:t>m</a:t>
            </a:r>
            <a:r>
              <a:rPr lang="en-US" sz="2000" baseline="-25000" dirty="0"/>
              <a:t>2 </a:t>
            </a:r>
            <a:r>
              <a:rPr lang="en-US" sz="2000" dirty="0"/>
              <a:t>+ </a:t>
            </a:r>
            <a:r>
              <a:rPr lang="en-US" sz="2000" i="1" dirty="0"/>
              <a:t>m</a:t>
            </a:r>
            <a:r>
              <a:rPr lang="en-US" sz="2000" baseline="-25000" dirty="0"/>
              <a:t>3</a:t>
            </a:r>
            <a:r>
              <a:rPr lang="en-US" sz="2000" dirty="0"/>
              <a:t>)’  = </a:t>
            </a:r>
            <a:r>
              <a:rPr lang="en-US" sz="2000" i="1" dirty="0"/>
              <a:t>m</a:t>
            </a:r>
            <a:r>
              <a:rPr lang="en-US" sz="2000" baseline="-25000" dirty="0"/>
              <a:t>0</a:t>
            </a:r>
            <a:r>
              <a:rPr lang="en-US" sz="2000" dirty="0"/>
              <a:t>’ . </a:t>
            </a:r>
            <a:r>
              <a:rPr lang="en-US" sz="2000" i="1" dirty="0"/>
              <a:t>m</a:t>
            </a:r>
            <a:r>
              <a:rPr lang="en-US" sz="2000" baseline="-25000" dirty="0"/>
              <a:t>2</a:t>
            </a:r>
            <a:r>
              <a:rPr lang="en-US" sz="2000" dirty="0"/>
              <a:t>’ . </a:t>
            </a:r>
            <a:r>
              <a:rPr lang="en-US" sz="2000" i="1" dirty="0"/>
              <a:t>m</a:t>
            </a:r>
            <a:r>
              <a:rPr lang="en-US" sz="2000" baseline="-25000" dirty="0"/>
              <a:t>3</a:t>
            </a:r>
            <a:r>
              <a:rPr lang="en-US" sz="2000" dirty="0"/>
              <a:t>’</a:t>
            </a:r>
          </a:p>
          <a:p>
            <a:pPr marL="0" indent="0">
              <a:buNone/>
            </a:pPr>
            <a:r>
              <a:rPr lang="en-US" sz="2000" dirty="0"/>
              <a:t>	                 = (</a:t>
            </a:r>
            <a:r>
              <a:rPr lang="en-US" sz="2000" i="1" dirty="0" err="1"/>
              <a:t>x</a:t>
            </a:r>
            <a:r>
              <a:rPr lang="en-US" sz="2000" dirty="0" err="1"/>
              <a:t>’</a:t>
            </a:r>
            <a:r>
              <a:rPr lang="en-US" sz="2000" i="1" dirty="0" err="1"/>
              <a:t>y</a:t>
            </a:r>
            <a:r>
              <a:rPr lang="en-US" sz="2000" dirty="0" err="1"/>
              <a:t>’</a:t>
            </a:r>
            <a:r>
              <a:rPr lang="en-US" sz="2000" i="1" dirty="0" err="1"/>
              <a:t>z</a:t>
            </a:r>
            <a:r>
              <a:rPr lang="en-US" sz="2000" dirty="0"/>
              <a:t>’)’ (</a:t>
            </a:r>
            <a:r>
              <a:rPr lang="en-US" sz="2000" i="1" dirty="0" err="1"/>
              <a:t>x</a:t>
            </a:r>
            <a:r>
              <a:rPr lang="en-US" sz="2000" dirty="0" err="1"/>
              <a:t>’</a:t>
            </a:r>
            <a:r>
              <a:rPr lang="en-US" sz="2000" i="1" dirty="0" err="1"/>
              <a:t>y</a:t>
            </a:r>
            <a:r>
              <a:rPr lang="en-US" sz="2000" i="1" dirty="0"/>
              <a:t> z’</a:t>
            </a:r>
            <a:r>
              <a:rPr lang="en-US" sz="2000" dirty="0"/>
              <a:t>)’ (</a:t>
            </a:r>
            <a:r>
              <a:rPr lang="en-US" sz="2000" i="1" dirty="0" err="1"/>
              <a:t>x</a:t>
            </a:r>
            <a:r>
              <a:rPr lang="en-US" sz="2000" dirty="0" err="1"/>
              <a:t>’</a:t>
            </a:r>
            <a:r>
              <a:rPr lang="en-US" sz="2000" i="1" dirty="0" err="1"/>
              <a:t>y</a:t>
            </a:r>
            <a:r>
              <a:rPr lang="en-US" sz="2000" dirty="0"/>
              <a:t> </a:t>
            </a:r>
            <a:r>
              <a:rPr lang="en-US" sz="2000" i="1" dirty="0"/>
              <a:t>z</a:t>
            </a:r>
            <a:r>
              <a:rPr lang="en-US" sz="2000" dirty="0"/>
              <a:t>)’</a:t>
            </a:r>
          </a:p>
          <a:p>
            <a:pPr marL="0" indent="0">
              <a:buNone/>
            </a:pPr>
            <a:r>
              <a:rPr lang="en-US" sz="2000" dirty="0"/>
              <a:t>	                 = (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) (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y</a:t>
            </a:r>
            <a:r>
              <a:rPr lang="en-US" sz="2000" dirty="0"/>
              <a:t>’ + </a:t>
            </a:r>
            <a:r>
              <a:rPr lang="en-US" sz="2000" i="1" dirty="0"/>
              <a:t>z</a:t>
            </a:r>
            <a:r>
              <a:rPr lang="en-US" sz="2000" dirty="0"/>
              <a:t>) (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y</a:t>
            </a:r>
            <a:r>
              <a:rPr lang="en-US" sz="2000" dirty="0"/>
              <a:t>’ + z’)</a:t>
            </a:r>
          </a:p>
          <a:p>
            <a:pPr marL="0" indent="0">
              <a:buNone/>
            </a:pPr>
            <a:r>
              <a:rPr lang="en-US" sz="2000" dirty="0"/>
              <a:t>	                 = </a:t>
            </a:r>
            <a:r>
              <a:rPr lang="en-US" sz="2000" i="1" dirty="0"/>
              <a:t>M</a:t>
            </a:r>
            <a:r>
              <a:rPr lang="en-US" sz="2000" baseline="-25000" dirty="0"/>
              <a:t>0</a:t>
            </a:r>
            <a:r>
              <a:rPr lang="en-US" sz="2000" dirty="0"/>
              <a:t> </a:t>
            </a:r>
            <a:r>
              <a:rPr lang="en-US" sz="2000" i="1" dirty="0"/>
              <a:t>M</a:t>
            </a:r>
            <a:r>
              <a:rPr lang="en-US" sz="2000" baseline="-25000" dirty="0"/>
              <a:t>2 </a:t>
            </a:r>
            <a:r>
              <a:rPr lang="en-US" sz="2000" i="1" dirty="0"/>
              <a:t>M</a:t>
            </a:r>
            <a:r>
              <a:rPr lang="en-US" sz="2000" baseline="-25000" dirty="0"/>
              <a:t>3 </a:t>
            </a:r>
            <a:r>
              <a:rPr lang="en-US" sz="2000" dirty="0"/>
              <a:t>  = </a:t>
            </a:r>
            <a:r>
              <a:rPr lang="en-US" sz="2000" dirty="0">
                <a:sym typeface="Symbol" panose="05050102010706020507" pitchFamily="18" charset="2"/>
              </a:rPr>
              <a:t></a:t>
            </a:r>
            <a:r>
              <a:rPr lang="en-US" sz="2000" dirty="0"/>
              <a:t> (0,2,3)</a:t>
            </a:r>
          </a:p>
          <a:p>
            <a:pPr marL="0" indent="0">
              <a:buNone/>
            </a:pPr>
            <a:r>
              <a:rPr lang="en-US" sz="2000" dirty="0"/>
              <a:t> </a:t>
            </a:r>
            <a:r>
              <a:rPr lang="en-US" sz="2000" dirty="0" err="1"/>
              <a:t>Jadi</a:t>
            </a:r>
            <a:r>
              <a:rPr lang="en-US" sz="2000" dirty="0"/>
              <a:t>,  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z) = </a:t>
            </a:r>
            <a:r>
              <a:rPr lang="en-US" sz="2000" dirty="0">
                <a:sym typeface="Symbol" panose="05050102010706020507" pitchFamily="18" charset="2"/>
              </a:rPr>
              <a:t></a:t>
            </a:r>
            <a:r>
              <a:rPr lang="en-US" sz="2000" dirty="0"/>
              <a:t> (1, 4, 5, 6, 7) = </a:t>
            </a:r>
            <a:r>
              <a:rPr lang="en-US" sz="2000" dirty="0">
                <a:sym typeface="Symbol" panose="05050102010706020507" pitchFamily="18" charset="2"/>
              </a:rPr>
              <a:t></a:t>
            </a:r>
            <a:r>
              <a:rPr lang="en-US" sz="2000" dirty="0"/>
              <a:t> (0,2,3).</a:t>
            </a:r>
          </a:p>
          <a:p>
            <a:pPr marL="0" indent="0">
              <a:buNone/>
            </a:pPr>
            <a:endParaRPr lang="en-US" sz="2000" b="1" u="sng" dirty="0"/>
          </a:p>
          <a:p>
            <a:pPr marL="0" indent="0">
              <a:buNone/>
            </a:pPr>
            <a:r>
              <a:rPr lang="en-US" sz="2000" b="1" u="sng" dirty="0" err="1"/>
              <a:t>Kesimpulan</a:t>
            </a:r>
            <a:r>
              <a:rPr lang="en-US" sz="2000" b="1" dirty="0"/>
              <a:t>:  </a:t>
            </a:r>
            <a:r>
              <a:rPr lang="en-US" sz="2000" i="1" dirty="0" err="1"/>
              <a:t>m</a:t>
            </a:r>
            <a:r>
              <a:rPr lang="en-US" sz="2000" i="1" baseline="-25000" dirty="0" err="1"/>
              <a:t>j</a:t>
            </a:r>
            <a:r>
              <a:rPr lang="en-US" sz="2000" dirty="0"/>
              <a:t>’ = </a:t>
            </a:r>
            <a:r>
              <a:rPr lang="en-US" sz="2000" i="1" dirty="0" err="1"/>
              <a:t>M</a:t>
            </a:r>
            <a:r>
              <a:rPr lang="en-US" sz="2000" i="1" baseline="-25000" dirty="0" err="1"/>
              <a:t>j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D6FEA3-8C72-BE47-A8E4-3822FD958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533" y="4089863"/>
            <a:ext cx="6413721" cy="28269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822E63-83AA-D9DA-F07D-900CD2E98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0"/>
            <a:ext cx="3525144" cy="324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5047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Logika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Fungsi</a:t>
            </a:r>
            <a:r>
              <a:rPr lang="en-US" sz="2400" dirty="0"/>
              <a:t> Boolean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juag</a:t>
            </a:r>
            <a:r>
              <a:rPr lang="en-US" sz="2400" dirty="0"/>
              <a:t> </a:t>
            </a:r>
            <a:r>
              <a:rPr lang="en-US" sz="2400" dirty="0" err="1"/>
              <a:t>direpresentasikan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</a:t>
            </a:r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logika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Ada </a:t>
            </a:r>
            <a:r>
              <a:rPr lang="en-US" sz="2400" dirty="0" err="1"/>
              <a:t>tiga</a:t>
            </a:r>
            <a:r>
              <a:rPr lang="en-US" sz="2400" dirty="0"/>
              <a:t> </a:t>
            </a:r>
            <a:r>
              <a:rPr lang="en-US" sz="2400" dirty="0" err="1"/>
              <a:t>gerbang</a:t>
            </a:r>
            <a:r>
              <a:rPr lang="en-US" sz="2400" dirty="0"/>
              <a:t> </a:t>
            </a:r>
            <a:r>
              <a:rPr lang="en-US" sz="2400" dirty="0" err="1"/>
              <a:t>logika</a:t>
            </a:r>
            <a:r>
              <a:rPr lang="en-US" sz="2400" dirty="0"/>
              <a:t> </a:t>
            </a:r>
            <a:r>
              <a:rPr lang="en-US" sz="2400" dirty="0" err="1"/>
              <a:t>dasar</a:t>
            </a:r>
            <a:r>
              <a:rPr lang="en-US" sz="2400" dirty="0"/>
              <a:t>: </a:t>
            </a:r>
            <a:r>
              <a:rPr lang="en-US" sz="2400" dirty="0" err="1"/>
              <a:t>gerbang</a:t>
            </a:r>
            <a:r>
              <a:rPr lang="en-US" sz="2400" dirty="0"/>
              <a:t> AND, </a:t>
            </a:r>
            <a:r>
              <a:rPr lang="en-US" sz="2400" dirty="0" err="1"/>
              <a:t>gerbang</a:t>
            </a:r>
            <a:r>
              <a:rPr lang="en-US" sz="2400" dirty="0"/>
              <a:t> OR,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gerbang</a:t>
            </a:r>
            <a:r>
              <a:rPr lang="en-US" sz="2400" dirty="0"/>
              <a:t> NOT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05" y="3627783"/>
            <a:ext cx="9564590" cy="229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170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3913" y="533401"/>
            <a:ext cx="10359887" cy="55927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err="1"/>
              <a:t>Contoh</a:t>
            </a:r>
            <a:r>
              <a:rPr lang="en-US" sz="2400" b="1" dirty="0"/>
              <a:t> 8</a:t>
            </a:r>
            <a:r>
              <a:rPr lang="en-US" sz="2400" dirty="0"/>
              <a:t>: </a:t>
            </a:r>
            <a:r>
              <a:rPr lang="en-US" sz="2400" dirty="0" err="1"/>
              <a:t>Nyatakan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) = </a:t>
            </a:r>
            <a:r>
              <a:rPr lang="en-US" sz="2400" i="1" dirty="0" err="1"/>
              <a:t>xy</a:t>
            </a:r>
            <a:r>
              <a:rPr lang="en-US" sz="2400" dirty="0"/>
              <a:t> + </a:t>
            </a:r>
            <a:r>
              <a:rPr lang="en-US" sz="2400" i="1" dirty="0" err="1"/>
              <a:t>x</a:t>
            </a:r>
            <a:r>
              <a:rPr lang="en-US" sz="2400" dirty="0" err="1"/>
              <a:t>’</a:t>
            </a:r>
            <a:r>
              <a:rPr lang="en-US" sz="2400" i="1" dirty="0" err="1"/>
              <a:t>y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logika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u="sng" dirty="0" err="1"/>
              <a:t>Penyelesaian</a:t>
            </a:r>
            <a:r>
              <a:rPr lang="en-US" sz="2400" dirty="0"/>
              <a:t>: Ada </a:t>
            </a:r>
            <a:r>
              <a:rPr lang="en-US" sz="2400" dirty="0" err="1"/>
              <a:t>beberapa</a:t>
            </a:r>
            <a:r>
              <a:rPr lang="en-US" sz="2400" dirty="0"/>
              <a:t> </a:t>
            </a:r>
            <a:r>
              <a:rPr lang="en-US" sz="2400" dirty="0" err="1"/>
              <a:t>cara</a:t>
            </a:r>
            <a:r>
              <a:rPr lang="en-US" sz="2400" dirty="0"/>
              <a:t> </a:t>
            </a:r>
            <a:r>
              <a:rPr lang="en-US" sz="2400" dirty="0" err="1"/>
              <a:t>penggambaran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200754"/>
              </p:ext>
            </p:extLst>
          </p:nvPr>
        </p:nvGraphicFramePr>
        <p:xfrm>
          <a:off x="4267200" y="1447801"/>
          <a:ext cx="4121426" cy="1543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68624" imgH="1412748" progId="">
                  <p:embed/>
                </p:oleObj>
              </mc:Choice>
              <mc:Fallback>
                <p:oleObj r:id="rId2" imgW="3468624" imgH="1412748" progId="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447801"/>
                        <a:ext cx="4121426" cy="15435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2742683"/>
              </p:ext>
            </p:extLst>
          </p:nvPr>
        </p:nvGraphicFramePr>
        <p:xfrm>
          <a:off x="4267200" y="3205084"/>
          <a:ext cx="3886200" cy="14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54324" imgH="1380744" progId="">
                  <p:embed/>
                </p:oleObj>
              </mc:Choice>
              <mc:Fallback>
                <p:oleObj r:id="rId4" imgW="3354324" imgH="1380744" progId="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205084"/>
                        <a:ext cx="3886200" cy="14731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635176"/>
              </p:ext>
            </p:extLst>
          </p:nvPr>
        </p:nvGraphicFramePr>
        <p:xfrm>
          <a:off x="4114801" y="4661454"/>
          <a:ext cx="3260034" cy="1580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407664" imgH="1699260" progId="">
                  <p:embed/>
                </p:oleObj>
              </mc:Choice>
              <mc:Fallback>
                <p:oleObj r:id="rId6" imgW="3407664" imgH="1699260" progId="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1" y="4661454"/>
                        <a:ext cx="3260034" cy="15802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438400" y="2057400"/>
            <a:ext cx="1517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Cara </a:t>
            </a:r>
            <a:r>
              <a:rPr lang="en-US" dirty="0" err="1"/>
              <a:t>pertama</a:t>
            </a:r>
            <a:r>
              <a:rPr lang="en-US" dirty="0"/>
              <a:t>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8401" y="3581400"/>
            <a:ext cx="1286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Cara </a:t>
            </a:r>
            <a:r>
              <a:rPr lang="en-US" dirty="0" err="1"/>
              <a:t>kedua</a:t>
            </a:r>
            <a:r>
              <a:rPr lang="en-US" dirty="0"/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96" y="5245933"/>
            <a:ext cx="1276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Cara </a:t>
            </a:r>
            <a:r>
              <a:rPr lang="en-US" dirty="0" err="1"/>
              <a:t>ketiga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778840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77E6B-0A9A-E5BF-E51F-EAF09E8D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3455"/>
            <a:ext cx="10515600" cy="555350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err="1"/>
              <a:t>Contoh</a:t>
            </a:r>
            <a:r>
              <a:rPr lang="en-US" sz="2400" b="1" dirty="0"/>
              <a:t> 9.</a:t>
            </a:r>
            <a:r>
              <a:rPr lang="en-US" sz="2400" dirty="0"/>
              <a:t> </a:t>
            </a:r>
            <a:r>
              <a:rPr lang="en-US" sz="2400" dirty="0" err="1"/>
              <a:t>Nyatakan</a:t>
            </a:r>
            <a:r>
              <a:rPr lang="en-US" sz="2400" dirty="0"/>
              <a:t> 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f(w, x, y, z) =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wz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x’yz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xyz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’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rangkaian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logika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Jawaban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3.png" descr="Diagram&#10;&#10;Description automatically generated">
            <a:extLst>
              <a:ext uri="{FF2B5EF4-FFF2-40B4-BE49-F238E27FC236}">
                <a16:creationId xmlns:a16="http://schemas.microsoft.com/office/drawing/2014/main" id="{3DBE3B46-0F16-89A0-C9F6-54F6EA7FED1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528337" y="1596678"/>
            <a:ext cx="5784389" cy="4790267"/>
          </a:xfrm>
          <a:prstGeom prst="rect">
            <a:avLst/>
          </a:prstGeom>
          <a:ln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DEFD7C-4B68-B03D-A699-EF10D821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86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4035" y="533401"/>
            <a:ext cx="10157791" cy="5592763"/>
          </a:xfrm>
        </p:spPr>
        <p:txBody>
          <a:bodyPr>
            <a:normAutofit/>
          </a:bodyPr>
          <a:lstStyle/>
          <a:p>
            <a:r>
              <a:rPr lang="en-US" sz="2400" dirty="0" err="1"/>
              <a:t>Gerbang</a:t>
            </a:r>
            <a:r>
              <a:rPr lang="en-US" sz="2400" dirty="0"/>
              <a:t> </a:t>
            </a:r>
            <a:r>
              <a:rPr lang="en-US" sz="2400" dirty="0" err="1"/>
              <a:t>logika</a:t>
            </a:r>
            <a:r>
              <a:rPr lang="en-US" sz="2400" dirty="0"/>
              <a:t> </a:t>
            </a:r>
            <a:r>
              <a:rPr lang="en-US" sz="2400" dirty="0" err="1"/>
              <a:t>turunan</a:t>
            </a:r>
            <a:r>
              <a:rPr lang="en-US" sz="2400" dirty="0"/>
              <a:t>: NAND, NOR, XOR, </a:t>
            </a:r>
            <a:r>
              <a:rPr lang="en-US" sz="2400" dirty="0" err="1"/>
              <a:t>dan</a:t>
            </a:r>
            <a:r>
              <a:rPr lang="en-US" sz="2400" dirty="0"/>
              <a:t> XNOR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090" y="1050481"/>
            <a:ext cx="7799680" cy="193178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199" y="2982267"/>
            <a:ext cx="7633641" cy="34682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D8EA9C-FFFE-833E-A45C-885478940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5094" y="1443509"/>
            <a:ext cx="1247775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8423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1478" y="692697"/>
            <a:ext cx="8819322" cy="54334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Transistor </a:t>
            </a:r>
            <a:r>
              <a:rPr lang="en-US" b="1" dirty="0" err="1"/>
              <a:t>untuk</a:t>
            </a:r>
            <a:r>
              <a:rPr lang="en-US" b="1" dirty="0"/>
              <a:t> </a:t>
            </a:r>
            <a:r>
              <a:rPr lang="en-US" b="1" dirty="0" err="1"/>
              <a:t>gerbang</a:t>
            </a:r>
            <a:r>
              <a:rPr lang="en-US" b="1" dirty="0"/>
              <a:t> </a:t>
            </a:r>
            <a:r>
              <a:rPr lang="en-US" b="1" dirty="0" err="1"/>
              <a:t>logika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044" y="1525372"/>
            <a:ext cx="2028825" cy="2790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625" y="1507747"/>
            <a:ext cx="1977321" cy="27188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854" y="1525372"/>
            <a:ext cx="2019300" cy="2790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6061" y="4249122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6284" y="4223725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420" y="4226563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9657" y="5445225"/>
            <a:ext cx="69680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/>
              <a:t>Sumber</a:t>
            </a:r>
            <a:r>
              <a:rPr lang="en-US" sz="1400" dirty="0"/>
              <a:t> </a:t>
            </a:r>
            <a:r>
              <a:rPr lang="en-US" sz="1400" dirty="0" err="1"/>
              <a:t>gambar</a:t>
            </a:r>
            <a:r>
              <a:rPr lang="en-US" sz="1400" dirty="0"/>
              <a:t>: http://hyperphysics.phy-astr.gsu.edu/hbase/electronic/trangate.html#c3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164" y="1544422"/>
            <a:ext cx="2549445" cy="27717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66797" y="4250427"/>
            <a:ext cx="592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</a:t>
            </a:r>
          </a:p>
        </p:txBody>
      </p:sp>
    </p:spTree>
    <p:extLst>
      <p:ext uri="{BB962C8B-B14F-4D97-AF65-F5344CB8AC3E}">
        <p14:creationId xmlns:p14="http://schemas.microsoft.com/office/powerpoint/2010/main" val="18170521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D5627-1588-6EDF-1170-620293830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B0119-6656-5850-D7B4-2A8558760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effectLst/>
                <a:ea typeface="Calibri" panose="020F0502020204030204" pitchFamily="34" charset="0"/>
              </a:rPr>
              <a:t>Carilah</a:t>
            </a:r>
            <a:r>
              <a:rPr lang="en-US" sz="2400" dirty="0">
                <a:effectLst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ea typeface="Calibri" panose="020F0502020204030204" pitchFamily="34" charset="0"/>
              </a:rPr>
              <a:t>keluaran</a:t>
            </a:r>
            <a:r>
              <a:rPr lang="en-US" sz="2400" dirty="0">
                <a:effectLst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ea typeface="Calibri" panose="020F0502020204030204" pitchFamily="34" charset="0"/>
              </a:rPr>
              <a:t>dari</a:t>
            </a:r>
            <a:r>
              <a:rPr lang="en-US" sz="2400" dirty="0">
                <a:effectLst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ea typeface="Calibri" panose="020F0502020204030204" pitchFamily="34" charset="0"/>
              </a:rPr>
              <a:t>rangkaian-rangkaian</a:t>
            </a:r>
            <a:r>
              <a:rPr lang="en-US" sz="2400" dirty="0">
                <a:effectLst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ea typeface="Calibri" panose="020F0502020204030204" pitchFamily="34" charset="0"/>
              </a:rPr>
              <a:t>logika</a:t>
            </a:r>
            <a:r>
              <a:rPr lang="en-US" sz="2400" dirty="0">
                <a:effectLst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ea typeface="Calibri" panose="020F0502020204030204" pitchFamily="34" charset="0"/>
              </a:rPr>
              <a:t>berikut</a:t>
            </a:r>
            <a:r>
              <a:rPr lang="en-US" sz="2400" dirty="0">
                <a:effectLst/>
                <a:ea typeface="Calibri" panose="020F0502020204030204" pitchFamily="34" charset="0"/>
              </a:rPr>
              <a:t>!</a:t>
            </a:r>
          </a:p>
          <a:p>
            <a:pPr marL="0" indent="0">
              <a:buNone/>
            </a:pPr>
            <a:r>
              <a:rPr lang="en-US" sz="2400" dirty="0">
                <a:ea typeface="Calibri" panose="020F0502020204030204" pitchFamily="34" charset="0"/>
              </a:rPr>
              <a:t>a)</a:t>
            </a:r>
            <a:r>
              <a:rPr lang="en-US" sz="2400" dirty="0">
                <a:effectLst/>
                <a:ea typeface="Calibri" panose="020F0502020204030204" pitchFamily="34" charset="0"/>
              </a:rPr>
              <a:t> 						b) 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9D5F6B-251A-E515-E230-7137FAB0A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400" y="2733603"/>
            <a:ext cx="4680600" cy="20600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5680C8-E577-7285-0F61-EDE1AD4DFE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397" y="2733603"/>
            <a:ext cx="4351094" cy="2060070"/>
          </a:xfrm>
          <a:prstGeom prst="rect">
            <a:avLst/>
          </a:pr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490F5-D768-E797-72E1-F7EB72D73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628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62DD3-C416-A265-4E1C-1096DAECE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9709"/>
            <a:ext cx="10515600" cy="53872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Jawaban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r>
              <a:rPr lang="en-US" sz="2400" b="1" dirty="0"/>
              <a:t>a) 						 b)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2520F5-9260-C607-5EA7-EA149120D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343" y="2008462"/>
            <a:ext cx="4566629" cy="200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141BFF-617A-5BEF-FD70-410B9AAC5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115" y="2008462"/>
            <a:ext cx="5589222" cy="230959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7E7AD0-DB5F-F191-EEBF-E20B62DB1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849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F06AB-6AC7-B4F9-D88F-5436DD420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56C90-BF59-A666-2618-5C56E2BE4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 err="1">
                <a:effectLst/>
                <a:ea typeface="Arial" panose="020B0604020202020204" pitchFamily="34" charset="0"/>
              </a:rPr>
              <a:t>Sistem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penerangan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jalan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mengatur</a:t>
            </a:r>
            <a:r>
              <a:rPr lang="en-US" sz="2400" dirty="0">
                <a:effectLst/>
                <a:ea typeface="Arial" panose="020B0604020202020204" pitchFamily="34" charset="0"/>
              </a:rPr>
              <a:t> nyala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atau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tidaknya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lampu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berdasarkan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tiga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faktor</a:t>
            </a:r>
            <a:r>
              <a:rPr lang="en-US" sz="2400" dirty="0">
                <a:effectLst/>
                <a:ea typeface="Arial" panose="020B0604020202020204" pitchFamily="34" charset="0"/>
              </a:rPr>
              <a:t>,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yaitu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i="1" dirty="0">
                <a:effectLst/>
                <a:ea typeface="Arial" panose="020B0604020202020204" pitchFamily="34" charset="0"/>
              </a:rPr>
              <a:t>switch</a:t>
            </a:r>
            <a:r>
              <a:rPr lang="en-US" sz="2400" dirty="0">
                <a:effectLst/>
                <a:ea typeface="Arial" panose="020B0604020202020204" pitchFamily="34" charset="0"/>
              </a:rPr>
              <a:t>/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tombol</a:t>
            </a:r>
            <a:r>
              <a:rPr lang="en-US" sz="2400" dirty="0">
                <a:effectLst/>
                <a:ea typeface="Arial" panose="020B0604020202020204" pitchFamily="34" charset="0"/>
              </a:rPr>
              <a:t>, </a:t>
            </a:r>
            <a:r>
              <a:rPr lang="en-US" sz="2400" i="1" dirty="0">
                <a:effectLst/>
                <a:ea typeface="Arial" panose="020B0604020202020204" pitchFamily="34" charset="0"/>
              </a:rPr>
              <a:t>timer</a:t>
            </a:r>
            <a:r>
              <a:rPr lang="en-US" sz="2400" dirty="0">
                <a:effectLst/>
                <a:ea typeface="Arial" panose="020B0604020202020204" pitchFamily="34" charset="0"/>
              </a:rPr>
              <a:t>, dan sensor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cahaya</a:t>
            </a:r>
            <a:r>
              <a:rPr lang="en-US" sz="2400" dirty="0">
                <a:effectLst/>
                <a:ea typeface="Arial" panose="020B0604020202020204" pitchFamily="34" charset="0"/>
              </a:rPr>
              <a:t>. Ketika </a:t>
            </a:r>
            <a:r>
              <a:rPr lang="en-US" sz="2400" i="1" dirty="0">
                <a:effectLst/>
                <a:ea typeface="Arial" panose="020B0604020202020204" pitchFamily="34" charset="0"/>
              </a:rPr>
              <a:t>switch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dinyalakan</a:t>
            </a:r>
            <a:r>
              <a:rPr lang="en-US" sz="2400" dirty="0">
                <a:effectLst/>
                <a:ea typeface="Arial" panose="020B0604020202020204" pitchFamily="34" charset="0"/>
              </a:rPr>
              <a:t>,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lampu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pasti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akan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menyala</a:t>
            </a:r>
            <a:r>
              <a:rPr lang="en-US" sz="2400" dirty="0">
                <a:effectLst/>
                <a:ea typeface="Arial" panose="020B0604020202020204" pitchFamily="34" charset="0"/>
              </a:rPr>
              <a:t>. Ketika </a:t>
            </a:r>
            <a:r>
              <a:rPr lang="en-US" sz="2400" i="1" dirty="0">
                <a:effectLst/>
                <a:ea typeface="Arial" panose="020B0604020202020204" pitchFamily="34" charset="0"/>
              </a:rPr>
              <a:t>switch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tidak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dinyalakan</a:t>
            </a:r>
            <a:r>
              <a:rPr lang="en-US" sz="2400" dirty="0">
                <a:effectLst/>
                <a:ea typeface="Arial" panose="020B0604020202020204" pitchFamily="34" charset="0"/>
              </a:rPr>
              <a:t>,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lampu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akan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menyala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hanya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jika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i="1" dirty="0">
                <a:effectLst/>
                <a:ea typeface="Arial" panose="020B0604020202020204" pitchFamily="34" charset="0"/>
              </a:rPr>
              <a:t>timer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menunjukkan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waktu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malam</a:t>
            </a:r>
            <a:r>
              <a:rPr lang="en-US" sz="2400" dirty="0">
                <a:effectLst/>
                <a:ea typeface="Arial" panose="020B0604020202020204" pitchFamily="34" charset="0"/>
              </a:rPr>
              <a:t> dan sensor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cahaya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menangkap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sedikit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cahaya</a:t>
            </a:r>
            <a:r>
              <a:rPr lang="en-US" sz="2400" dirty="0">
                <a:effectLst/>
                <a:ea typeface="Arial" panose="020B0604020202020204" pitchFamily="34" charset="0"/>
              </a:rPr>
              <a:t>.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Buatlah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fungsi</a:t>
            </a:r>
            <a:r>
              <a:rPr lang="en-US" sz="2400" dirty="0">
                <a:effectLst/>
                <a:ea typeface="Arial" panose="020B0604020202020204" pitchFamily="34" charset="0"/>
              </a:rPr>
              <a:t> Boolean dan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rangkaian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logika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untuk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sistem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penerangan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jalan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ini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dengan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permisalan</a:t>
            </a:r>
            <a:r>
              <a:rPr lang="en-US" sz="2400" dirty="0">
                <a:effectLst/>
                <a:ea typeface="Arial" panose="020B0604020202020204" pitchFamily="34" charset="0"/>
              </a:rPr>
              <a:t> x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sebagai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i="1" dirty="0">
                <a:effectLst/>
                <a:ea typeface="Arial" panose="020B0604020202020204" pitchFamily="34" charset="0"/>
              </a:rPr>
              <a:t>switch</a:t>
            </a:r>
            <a:r>
              <a:rPr lang="en-US" sz="2400" dirty="0">
                <a:effectLst/>
                <a:ea typeface="Arial" panose="020B0604020202020204" pitchFamily="34" charset="0"/>
              </a:rPr>
              <a:t>, y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sebagai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i="1" dirty="0">
                <a:effectLst/>
                <a:ea typeface="Arial" panose="020B0604020202020204" pitchFamily="34" charset="0"/>
              </a:rPr>
              <a:t>timer</a:t>
            </a:r>
            <a:r>
              <a:rPr lang="en-US" sz="2400" dirty="0">
                <a:effectLst/>
                <a:ea typeface="Arial" panose="020B0604020202020204" pitchFamily="34" charset="0"/>
              </a:rPr>
              <a:t>, dan z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sebagai</a:t>
            </a:r>
            <a:r>
              <a:rPr lang="en-US" sz="2400" dirty="0">
                <a:effectLst/>
                <a:ea typeface="Arial" panose="020B0604020202020204" pitchFamily="34" charset="0"/>
              </a:rPr>
              <a:t> sensor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cahaya</a:t>
            </a:r>
            <a:r>
              <a:rPr lang="en-US" sz="2400" dirty="0">
                <a:effectLst/>
                <a:ea typeface="Arial" panose="020B0604020202020204" pitchFamily="34" charset="0"/>
              </a:rPr>
              <a:t>! </a:t>
            </a:r>
          </a:p>
          <a:p>
            <a:pPr marL="0" indent="0">
              <a:buNone/>
            </a:pPr>
            <a:r>
              <a:rPr lang="en-US" sz="2400" b="1" dirty="0" err="1">
                <a:ea typeface="Arial" panose="020B0604020202020204" pitchFamily="34" charset="0"/>
              </a:rPr>
              <a:t>Jawaban</a:t>
            </a:r>
            <a:r>
              <a:rPr lang="en-US" sz="2400" dirty="0">
                <a:ea typeface="Arial" panose="020B0604020202020204" pitchFamily="34" charset="0"/>
              </a:rPr>
              <a:t>:</a:t>
            </a:r>
          </a:p>
          <a:p>
            <a:pPr marL="457200" marR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x = </a:t>
            </a:r>
            <a:r>
              <a:rPr lang="en-US" sz="1800" i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Switch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bernilai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1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jika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dinyalakan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dan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bernilai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0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jika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dimatikan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marR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y = </a:t>
            </a:r>
            <a:r>
              <a:rPr lang="en-US" sz="1800" i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Timer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bernilai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1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jika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malam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hari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dan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bernilai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0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jika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siang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hari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marR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z = Sensor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cahaya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bernilai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1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jika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menangkap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banyak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cahaya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dan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bernilai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0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jika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menangkap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sedikit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cahaya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71501-D81D-BFF9-8242-1B1FDEC1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123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4B41A-3C54-E87B-47C3-B98FB34A5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8145"/>
            <a:ext cx="10744200" cy="542881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effectLst/>
                <a:ea typeface="Arial" panose="020B0604020202020204" pitchFamily="34" charset="0"/>
              </a:rPr>
              <a:t>Karena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ketika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i="1" dirty="0">
                <a:effectLst/>
                <a:ea typeface="Arial" panose="020B0604020202020204" pitchFamily="34" charset="0"/>
              </a:rPr>
              <a:t>switch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dinyalakan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lampu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pasti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akan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menyala</a:t>
            </a:r>
            <a:r>
              <a:rPr lang="en-US" sz="2400" dirty="0">
                <a:effectLst/>
                <a:ea typeface="Arial" panose="020B0604020202020204" pitchFamily="34" charset="0"/>
              </a:rPr>
              <a:t>,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maka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berlaku</a:t>
            </a:r>
            <a:r>
              <a:rPr lang="en-US" sz="2400" dirty="0">
                <a:effectLst/>
                <a:ea typeface="Arial" panose="020B0604020202020204" pitchFamily="34" charset="0"/>
              </a:rPr>
              <a:t> f(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x,y,z</a:t>
            </a:r>
            <a:r>
              <a:rPr lang="en-US" sz="2400" dirty="0">
                <a:effectLst/>
                <a:ea typeface="Arial" panose="020B0604020202020204" pitchFamily="34" charset="0"/>
              </a:rPr>
              <a:t>) = x. </a:t>
            </a:r>
          </a:p>
          <a:p>
            <a:pPr marL="0" indent="0">
              <a:buNone/>
            </a:pPr>
            <a:r>
              <a:rPr lang="en-US" sz="2400" dirty="0">
                <a:effectLst/>
                <a:ea typeface="Arial" panose="020B0604020202020204" pitchFamily="34" charset="0"/>
              </a:rPr>
              <a:t>Ketika </a:t>
            </a:r>
            <a:r>
              <a:rPr lang="en-US" sz="2400" i="1" dirty="0">
                <a:effectLst/>
                <a:ea typeface="Arial" panose="020B0604020202020204" pitchFamily="34" charset="0"/>
              </a:rPr>
              <a:t>switch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dimatikan</a:t>
            </a:r>
            <a:r>
              <a:rPr lang="en-US" sz="2400" dirty="0">
                <a:effectLst/>
                <a:ea typeface="Arial" panose="020B0604020202020204" pitchFamily="34" charset="0"/>
              </a:rPr>
              <a:t>,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lampu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akan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menyala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hanya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jika</a:t>
            </a:r>
            <a:r>
              <a:rPr lang="en-US" sz="2400" dirty="0">
                <a:effectLst/>
                <a:ea typeface="Arial" panose="020B0604020202020204" pitchFamily="34" charset="0"/>
              </a:rPr>
              <a:t> timer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menunjukkan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malam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hari</a:t>
            </a:r>
            <a:r>
              <a:rPr lang="en-US" sz="2400" dirty="0">
                <a:effectLst/>
                <a:ea typeface="Arial" panose="020B0604020202020204" pitchFamily="34" charset="0"/>
              </a:rPr>
              <a:t> dan sensor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cahaya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menangkap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sedikit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cahaya</a:t>
            </a:r>
            <a:r>
              <a:rPr lang="en-US" sz="2400" dirty="0">
                <a:effectLst/>
                <a:ea typeface="Arial" panose="020B0604020202020204" pitchFamily="34" charset="0"/>
              </a:rPr>
              <a:t>,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maka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berlaku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b="1" dirty="0">
                <a:effectLst/>
                <a:ea typeface="Arial" panose="020B0604020202020204" pitchFamily="34" charset="0"/>
              </a:rPr>
              <a:t>f(</a:t>
            </a:r>
            <a:r>
              <a:rPr lang="en-US" sz="2400" b="1" dirty="0" err="1">
                <a:effectLst/>
                <a:ea typeface="Arial" panose="020B0604020202020204" pitchFamily="34" charset="0"/>
              </a:rPr>
              <a:t>x,y,z</a:t>
            </a:r>
            <a:r>
              <a:rPr lang="en-US" sz="2400" b="1" dirty="0">
                <a:effectLst/>
                <a:ea typeface="Arial" panose="020B0604020202020204" pitchFamily="34" charset="0"/>
              </a:rPr>
              <a:t>) = x + </a:t>
            </a:r>
            <a:r>
              <a:rPr lang="en-US" sz="2400" b="1" dirty="0" err="1">
                <a:effectLst/>
                <a:ea typeface="Arial" panose="020B0604020202020204" pitchFamily="34" charset="0"/>
              </a:rPr>
              <a:t>yz</a:t>
            </a:r>
            <a:r>
              <a:rPr lang="en-US" sz="2400" b="1" dirty="0">
                <a:effectLst/>
                <a:ea typeface="Arial" panose="020B0604020202020204" pitchFamily="34" charset="0"/>
              </a:rPr>
              <a:t>’</a:t>
            </a:r>
            <a:r>
              <a:rPr lang="en-US" sz="2400" dirty="0">
                <a:effectLst/>
                <a:ea typeface="Arial" panose="020B0604020202020204" pitchFamily="34" charset="0"/>
              </a:rPr>
              <a:t>. </a:t>
            </a:r>
          </a:p>
          <a:p>
            <a:pPr marL="0" indent="0">
              <a:buNone/>
            </a:pPr>
            <a:r>
              <a:rPr lang="en-US" sz="2400" dirty="0" err="1">
                <a:effectLst/>
                <a:ea typeface="Arial" panose="020B0604020202020204" pitchFamily="34" charset="0"/>
              </a:rPr>
              <a:t>Sehingga</a:t>
            </a:r>
            <a:r>
              <a:rPr lang="en-US" sz="2400" dirty="0">
                <a:effectLst/>
                <a:ea typeface="Arial" panose="020B0604020202020204" pitchFamily="34" charset="0"/>
              </a:rPr>
              <a:t>,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susunan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rangkaian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logika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dari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fungsi</a:t>
            </a:r>
            <a:r>
              <a:rPr lang="en-US" sz="2400" dirty="0">
                <a:effectLst/>
                <a:ea typeface="Arial" panose="020B0604020202020204" pitchFamily="34" charset="0"/>
              </a:rPr>
              <a:t> Boolean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tersebut</a:t>
            </a:r>
            <a:r>
              <a:rPr lang="en-US" sz="2400" dirty="0">
                <a:effectLst/>
                <a:ea typeface="Arial" panose="020B0604020202020204" pitchFamily="34" charset="0"/>
              </a:rPr>
              <a:t> </a:t>
            </a:r>
            <a:r>
              <a:rPr lang="en-US" sz="2400" dirty="0" err="1">
                <a:effectLst/>
                <a:ea typeface="Arial" panose="020B0604020202020204" pitchFamily="34" charset="0"/>
              </a:rPr>
              <a:t>adalah</a:t>
            </a:r>
            <a:endParaRPr lang="en-US" sz="2400" dirty="0">
              <a:effectLst/>
              <a:ea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5.png">
            <a:extLst>
              <a:ext uri="{FF2B5EF4-FFF2-40B4-BE49-F238E27FC236}">
                <a16:creationId xmlns:a16="http://schemas.microsoft.com/office/drawing/2014/main" id="{81862669-16F3-A218-52AB-10280E99B19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866779" y="2843414"/>
            <a:ext cx="6458441" cy="3598949"/>
          </a:xfrm>
          <a:prstGeom prst="rect">
            <a:avLst/>
          </a:prstGeom>
          <a:ln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F325E1-62CB-5B73-BF55-98AB0AAFE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066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6E73E-95C8-04FA-BC73-3DAC0518B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err="1"/>
              <a:t>Bersambung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Bagian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7CBD3-0748-27C0-98E1-2FFB53F3E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70D19-FBF3-1A0A-C514-0BB96CC6B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15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3213</Words>
  <Application>Microsoft Office PowerPoint</Application>
  <PresentationFormat>Widescreen</PresentationFormat>
  <Paragraphs>340</Paragraphs>
  <Slides>39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Symbol</vt:lpstr>
      <vt:lpstr>Wingdings</vt:lpstr>
      <vt:lpstr>Office Theme</vt:lpstr>
      <vt:lpstr>Aljabar Boolean  (Bag. 1)</vt:lpstr>
      <vt:lpstr>Pengantar</vt:lpstr>
      <vt:lpstr>PowerPoint Presentation</vt:lpstr>
      <vt:lpstr>Definisi Aljabar Boolean</vt:lpstr>
      <vt:lpstr>PowerPoint Presentation</vt:lpstr>
      <vt:lpstr>PowerPoint Presentation</vt:lpstr>
      <vt:lpstr>Aljabar Boolean 2-Nilai</vt:lpstr>
      <vt:lpstr>Ekspresi Boolean</vt:lpstr>
      <vt:lpstr>Hukum-hukum Aljabar Boolean</vt:lpstr>
      <vt:lpstr>PowerPoint Presentation</vt:lpstr>
      <vt:lpstr>Fungsi Boolean</vt:lpstr>
      <vt:lpstr>Latihan</vt:lpstr>
      <vt:lpstr>Latihan</vt:lpstr>
      <vt:lpstr>Bentuk Kanonik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Latihan</vt:lpstr>
      <vt:lpstr>PowerPoint Presentation</vt:lpstr>
      <vt:lpstr>Konversi Antar Bentuk Kanonik</vt:lpstr>
      <vt:lpstr>Rangkaian Logika</vt:lpstr>
      <vt:lpstr>PowerPoint Presentation</vt:lpstr>
      <vt:lpstr>PowerPoint Presentation</vt:lpstr>
      <vt:lpstr>PowerPoint Presentation</vt:lpstr>
      <vt:lpstr>PowerPoint Presentation</vt:lpstr>
      <vt:lpstr>Latihan</vt:lpstr>
      <vt:lpstr>PowerPoint Presentation</vt:lpstr>
      <vt:lpstr>Latihan</vt:lpstr>
      <vt:lpstr>PowerPoint Presentation</vt:lpstr>
      <vt:lpstr>Bersambung ke Bagian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12-Aljabar-Boolean-(2024)-bagian1</dc:title>
  <dc:creator>Rinaldi Munir</dc:creator>
  <cp:lastModifiedBy>Binti Kholifah</cp:lastModifiedBy>
  <cp:revision>23</cp:revision>
  <dcterms:created xsi:type="dcterms:W3CDTF">2020-07-25T09:38:49Z</dcterms:created>
  <dcterms:modified xsi:type="dcterms:W3CDTF">2026-02-25T02:35:55Z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2024-10-09T00:35:55Z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380cb20b-648e-4d54-8fdb-bda133748608</vt:lpwstr>
  </property>
  <property fmtid="{D5CDD505-2E9C-101B-9397-08002B2CF9AE}" pid="8" name="MSIP_Label_38b525e5-f3da-4501-8f1e-526b6769fc56_ContentBits">
    <vt:lpwstr>0</vt:lpwstr>
  </property>
</Properties>
</file>