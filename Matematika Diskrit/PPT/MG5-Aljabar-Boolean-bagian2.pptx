
<file path=[Content_Types].xml><?xml version="1.0" encoding="utf-8"?>
<Types xmlns="http://schemas.openxmlformats.org/package/2006/content-types">
  <Default Extension="bin" ContentType="application/vnd.openxmlformats-officedocument.oleObject"/>
  <Default Extension="docx" ContentType="application/vnd.openxmlformats-officedocument.wordprocessingml.documen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7" r:id="rId2"/>
    <p:sldId id="284" r:id="rId3"/>
    <p:sldId id="285" r:id="rId4"/>
    <p:sldId id="286" r:id="rId5"/>
    <p:sldId id="339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303" r:id="rId18"/>
    <p:sldId id="304" r:id="rId19"/>
    <p:sldId id="306" r:id="rId20"/>
    <p:sldId id="299" r:id="rId21"/>
    <p:sldId id="298" r:id="rId22"/>
    <p:sldId id="301" r:id="rId23"/>
    <p:sldId id="302" r:id="rId24"/>
    <p:sldId id="305" r:id="rId25"/>
    <p:sldId id="300" r:id="rId26"/>
    <p:sldId id="308" r:id="rId27"/>
    <p:sldId id="309" r:id="rId28"/>
    <p:sldId id="310" r:id="rId29"/>
    <p:sldId id="312" r:id="rId30"/>
    <p:sldId id="311" r:id="rId31"/>
    <p:sldId id="313" r:id="rId32"/>
    <p:sldId id="321" r:id="rId33"/>
    <p:sldId id="322" r:id="rId34"/>
    <p:sldId id="337" r:id="rId35"/>
    <p:sldId id="338" r:id="rId36"/>
    <p:sldId id="315" r:id="rId37"/>
    <p:sldId id="316" r:id="rId38"/>
    <p:sldId id="317" r:id="rId39"/>
    <p:sldId id="318" r:id="rId40"/>
    <p:sldId id="319" r:id="rId41"/>
    <p:sldId id="320" r:id="rId42"/>
    <p:sldId id="340" r:id="rId43"/>
    <p:sldId id="341" r:id="rId44"/>
    <p:sldId id="346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25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9E2237-4226-405F-B90F-248A0257DD00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520CDF-6AEC-49C7-A787-07924CE0B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52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FB9429-CC67-4DE4-979E-AC4EF4E6589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71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DAB96-1A25-46A0-A3F9-3983409978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8C27E1-20E1-4E2E-9E94-C73320F04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F4E4C-B78B-404D-8DE4-3852972A8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1E775-5CCC-4D57-866E-F8923EA09171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DAB4D-8E77-424F-A220-36A1976A5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 - IF1220 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71DC4-48EB-4E2E-A56F-5A217B2DC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241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7AF56-1507-436D-9E71-062EACD6F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2DBF5-1E45-4E71-A80E-16DB4D488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24ADF-7D91-4386-89F4-94EF26829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6FB10-72CB-4AF2-A178-152FC03A5A79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43E9D-6533-4866-BDD0-096FCEA18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 - IF1220 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58B15-2E51-47B5-8D31-7D2B3EB06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81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F7AAD-D0C6-4E57-86E2-00DA612F1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6DC05-E722-4553-AA4A-9669F9C2A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12F06-6C37-44FC-8B3C-20302D614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E6314-DEF3-4363-86C1-FF0D24A2B541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0E425-1EBA-458D-8A8A-2FEF3E0DE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 - IF1220 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62FFE-2EB5-4217-B511-957A0A1E2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666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3E16E-621E-4623-A23C-62573AF72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6FA7D-77C5-4BCF-9F82-ECA1A15C9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B06F2F-86F4-4C50-8FEF-77D852B874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A1DCD9-0D02-464A-83C3-83181F05E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708A3-7EDA-42B5-B95F-3ABC9FCF10A5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E78C6-A960-4FD6-8332-49F5F0767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 - IF1220  Matematika Diskrit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A4FD7-5032-4C17-8126-23335E71B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4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3AA72-9642-4DCD-9FF4-FF908BA4C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64C4DD-8361-4D13-A893-8BFC55716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B0685-8A85-4F3D-BF40-CB187D170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269810-72FF-471D-9CA7-2ABE44D04F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1E7F25-CB99-4DB3-88DD-02532009E5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85A417-1B15-4487-A6B2-526E115A3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9670A-2EE9-4880-9901-F811383CA58C}" type="datetime1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3FC2C5-9277-4B19-BE3C-28E0EC578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 - IF1220  Matematika Diskrit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475F43-02C9-4FDF-A48C-17A1C5D45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12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87E76-56DE-40A7-9B88-B4C0EEB4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990318-2B47-41F2-B77C-87B98C4E3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ED449-907C-4287-9A36-C711B1216934}" type="datetime1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BD09E4-C05C-436E-9565-A85DDE7FE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 - IF1220  Matematika Diskrit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8657DB-74C6-4C08-81B1-56AF189D6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882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54491A-352E-4034-BE3F-99E365D81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B971D-6CA9-4950-B46D-B975E8B5C072}" type="datetime1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34B960-758A-4571-9D5B-900F5B682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 - IF1220  Matematika Diskrit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0A6E2-9E17-419C-BBBB-B04ECF7B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974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F9A94-7367-43F2-A36A-80579A87C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A50DB-B2E3-4569-BAC8-EC9021976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695919-D3F0-42B1-93FE-68210B5F9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C7AF57-5F26-4EF3-9CF2-25F1F8699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A7EB4-A827-4E7B-B905-594EDA0AD112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854E41-374F-4ABD-93E5-90DEFAF5A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 - IF1220  Matematika Diskrit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B0006C-9DC3-40BD-9B86-66D6E5E12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27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B8205-2A4F-4F7A-AFCB-B53216FB0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E26428-0CCC-4791-82F4-64DAB6DCC6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CFFDE-C498-414A-89C7-1AFC320A1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667AA-F827-43E0-88CA-FFFA6DD0A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6872B-47E2-4F8F-8C11-89F6677623FE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3A39E-D3D0-4DA8-99D7-6EF90A424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 - IF1220  Matematika Diskrit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7B4FE-4AB7-4D26-AFF2-3E72CFBCB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64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AB0BB-5FBC-439F-B8BB-C45ECCA1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49A8E-6135-4D83-8360-2C25E81F9A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5ED3D-BA04-45AA-800E-C1539D408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04621-9A21-4094-8767-F296A0FCF90C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A0C4B-D6F1-4BE8-A6F3-B49F01985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 - IF1220 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03D7B-3DCE-4526-B368-C9C3B0E74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1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C0F996-9D61-4381-BABB-5CE8218E0D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4A03EF-C469-4949-BBF0-E493A46CD9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A3158-8ECE-46C1-BFFE-37227E4D7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3615-7031-4AC8-90B6-82E2AA3501DE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29631-C450-4690-8F16-B4CEB3EC3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 - IF1220 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EEB76-34F9-4057-8F0A-5A1874220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105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8CED00-C158-41D5-A623-85BCDD00D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F84C8-1966-4186-9072-01CF31D57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23ED0-CEBB-4EC6-BA02-25675085D1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12BB7C-FF87-4B23-90FC-D4EBF00F033D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C1B19-2043-48AB-B3D9-2D50914A34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Rinaldi Munir - IF1220 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F112B-D43F-4D76-865A-3948432DB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3C5D64-1C21-414B-8A9B-FC344E87D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917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Karnaugh_map" TargetMode="External"/><Relationship Id="rId2" Type="http://schemas.openxmlformats.org/officeDocument/2006/relationships/hyperlink" Target="https://en.wikipedia.org/wiki/Help:IPA/English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g"/><Relationship Id="rId4" Type="http://schemas.openxmlformats.org/officeDocument/2006/relationships/hyperlink" Target="https://en.wikipedia.org/wiki/Boolean_algebra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package" Target="../embeddings/Microsoft_Word_Document1.docx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package" Target="../embeddings/Microsoft_Word_Document2.docx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5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40226" y="1698625"/>
            <a:ext cx="8077200" cy="1470025"/>
          </a:xfrm>
        </p:spPr>
        <p:txBody>
          <a:bodyPr>
            <a:normAutofit fontScale="90000"/>
          </a:bodyPr>
          <a:lstStyle/>
          <a:p>
            <a:r>
              <a:rPr lang="en-US" sz="7200" b="1" dirty="0" err="1"/>
              <a:t>Aljabar</a:t>
            </a:r>
            <a:r>
              <a:rPr lang="en-US" sz="7200" b="1" dirty="0"/>
              <a:t> Boolean</a:t>
            </a:r>
            <a:br>
              <a:rPr lang="en-US" sz="7200" b="1" dirty="0"/>
            </a:br>
            <a:r>
              <a:rPr lang="en-US" sz="7200" b="1" dirty="0"/>
              <a:t>(Bag.2)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9399-CFCF-4275-804F-E2CC1C7438E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38C6A13-CCF1-79E2-81F5-42D9754F6A9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24000" y="3851565"/>
            <a:ext cx="9144000" cy="954107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Bahan</a:t>
            </a:r>
            <a:r>
              <a:rPr lang="en-US" altLang="en-US" dirty="0"/>
              <a:t> </a:t>
            </a:r>
            <a:r>
              <a:rPr lang="en-US" altLang="en-US" dirty="0" err="1"/>
              <a:t>Kuliah</a:t>
            </a:r>
            <a:r>
              <a:rPr lang="en-US" altLang="en-US" dirty="0"/>
              <a:t> </a:t>
            </a:r>
          </a:p>
          <a:p>
            <a:pPr eaLnBrk="1" hangingPunct="1"/>
            <a:r>
              <a:rPr lang="en-US" altLang="en-US" dirty="0" err="1"/>
              <a:t>Matematika</a:t>
            </a:r>
            <a:r>
              <a:rPr lang="en-US" altLang="en-US" dirty="0"/>
              <a:t> </a:t>
            </a:r>
            <a:r>
              <a:rPr lang="en-US" altLang="en-US" dirty="0" err="1"/>
              <a:t>Diskrit</a:t>
            </a:r>
            <a:endParaRPr lang="en-US" altLang="en-US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5CBC54AC-7F44-7537-C974-D1F572868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2689" y="5134929"/>
            <a:ext cx="737253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800" b="1" dirty="0"/>
              <a:t>Program Studi </a:t>
            </a:r>
            <a:r>
              <a:rPr lang="en-US" altLang="en-US" sz="2800" b="1" dirty="0" err="1"/>
              <a:t>Manajemen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Informatika</a:t>
            </a:r>
            <a:r>
              <a:rPr lang="en-US" altLang="en-US" sz="2800" b="1" dirty="0"/>
              <a:t> </a:t>
            </a:r>
          </a:p>
          <a:p>
            <a:pPr algn="ctr" eaLnBrk="1" hangingPunct="1"/>
            <a:r>
              <a:rPr lang="en-US" altLang="en-US" sz="2800" b="1" dirty="0" err="1"/>
              <a:t>Fakultas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Vokasi</a:t>
            </a:r>
            <a:r>
              <a:rPr lang="en-US" altLang="en-US" sz="2800" b="1" dirty="0"/>
              <a:t> - UNESA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+mn-lt"/>
              </a:rPr>
              <a:t>Penyederhanaan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Fungsi</a:t>
            </a:r>
            <a:r>
              <a:rPr lang="en-US" b="1" dirty="0">
                <a:latin typeface="+mn-lt"/>
              </a:rPr>
              <a:t> Boolean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989365" cy="4351338"/>
          </a:xfrm>
        </p:spPr>
        <p:txBody>
          <a:bodyPr>
            <a:normAutofit/>
          </a:bodyPr>
          <a:lstStyle/>
          <a:p>
            <a:r>
              <a:rPr lang="en-US" dirty="0" err="1"/>
              <a:t>Menyederhanakan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Boolean </a:t>
            </a:r>
            <a:r>
              <a:rPr lang="en-US" dirty="0" err="1"/>
              <a:t>artinya</a:t>
            </a:r>
            <a:r>
              <a:rPr lang="en-US" dirty="0"/>
              <a:t> </a:t>
            </a:r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lain yang </a:t>
            </a:r>
            <a:r>
              <a:rPr lang="en-US" dirty="0" err="1"/>
              <a:t>ekivalen</a:t>
            </a:r>
            <a:r>
              <a:rPr lang="en-US" dirty="0"/>
              <a:t>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literal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sedikit</a:t>
            </a:r>
            <a:r>
              <a:rPr lang="id-ID" dirty="0"/>
              <a:t>.</a:t>
            </a:r>
          </a:p>
          <a:p>
            <a:endParaRPr lang="id-ID" dirty="0"/>
          </a:p>
          <a:p>
            <a:r>
              <a:rPr lang="en-US" dirty="0" err="1"/>
              <a:t>Contoh</a:t>
            </a:r>
            <a:r>
              <a:rPr lang="id-ID" dirty="0"/>
              <a:t>: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) = </a:t>
            </a:r>
            <a:r>
              <a:rPr lang="en-US" i="1" dirty="0" err="1"/>
              <a:t>x</a:t>
            </a:r>
            <a:r>
              <a:rPr lang="en-US" dirty="0" err="1"/>
              <a:t>’</a:t>
            </a:r>
            <a:r>
              <a:rPr lang="en-US" i="1" dirty="0" err="1"/>
              <a:t>y</a:t>
            </a:r>
            <a:r>
              <a:rPr lang="en-US" dirty="0"/>
              <a:t> + </a:t>
            </a:r>
            <a:r>
              <a:rPr lang="en-US" i="1" dirty="0" err="1"/>
              <a:t>xy</a:t>
            </a:r>
            <a:r>
              <a:rPr lang="en-US" dirty="0"/>
              <a:t>’ + </a:t>
            </a:r>
            <a:r>
              <a:rPr lang="en-US" i="1" dirty="0"/>
              <a:t>y</a:t>
            </a:r>
            <a:r>
              <a:rPr lang="en-US" dirty="0"/>
              <a:t>’ </a:t>
            </a:r>
            <a:r>
              <a:rPr lang="en-US" dirty="0" err="1"/>
              <a:t>disederhanakan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id-ID" dirty="0"/>
              <a:t> </a:t>
            </a:r>
            <a:r>
              <a:rPr lang="en-US" dirty="0"/>
              <a:t>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) = </a:t>
            </a:r>
            <a:r>
              <a:rPr lang="en-US" i="1" dirty="0"/>
              <a:t>x</a:t>
            </a:r>
            <a:r>
              <a:rPr lang="en-US" dirty="0"/>
              <a:t>’ + </a:t>
            </a:r>
            <a:r>
              <a:rPr lang="en-US" i="1" dirty="0"/>
              <a:t>y</a:t>
            </a:r>
            <a:r>
              <a:rPr lang="en-US" dirty="0"/>
              <a:t>’</a:t>
            </a:r>
            <a:endParaRPr lang="id-ID" dirty="0"/>
          </a:p>
          <a:p>
            <a:endParaRPr lang="id-ID" dirty="0"/>
          </a:p>
          <a:p>
            <a:r>
              <a:rPr lang="en-US" dirty="0" err="1"/>
              <a:t>Dipandang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segi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aljabar</a:t>
            </a:r>
            <a:r>
              <a:rPr lang="en-US" dirty="0"/>
              <a:t> Boolean, </a:t>
            </a:r>
            <a:r>
              <a:rPr lang="en-US" dirty="0" err="1"/>
              <a:t>fungsi</a:t>
            </a:r>
            <a:r>
              <a:rPr lang="en-US" dirty="0"/>
              <a:t> Boolean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sederhana</a:t>
            </a:r>
            <a:r>
              <a:rPr lang="en-US" dirty="0"/>
              <a:t> </a:t>
            </a:r>
            <a:r>
              <a:rPr lang="en-US" dirty="0" err="1"/>
              <a:t>berarti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logikanya</a:t>
            </a:r>
            <a:r>
              <a:rPr lang="en-US" dirty="0"/>
              <a:t>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sederhana</a:t>
            </a:r>
            <a:r>
              <a:rPr lang="en-US" dirty="0"/>
              <a:t> (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gerbang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sedikit</a:t>
            </a:r>
            <a:r>
              <a:rPr lang="en-US" dirty="0"/>
              <a:t>).</a:t>
            </a:r>
            <a:endParaRPr lang="id-ID" dirty="0"/>
          </a:p>
          <a:p>
            <a:endParaRPr lang="id-ID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57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130" y="785795"/>
            <a:ext cx="10558670" cy="5340369"/>
          </a:xfrm>
        </p:spPr>
        <p:txBody>
          <a:bodyPr>
            <a:normAutofit/>
          </a:bodyPr>
          <a:lstStyle/>
          <a:p>
            <a:r>
              <a:rPr lang="id-ID" dirty="0"/>
              <a:t>T</a:t>
            </a:r>
            <a:r>
              <a:rPr lang="en-US" dirty="0" err="1"/>
              <a:t>iga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menyederhanakan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Boolean:</a:t>
            </a:r>
            <a:endParaRPr lang="id-ID" dirty="0"/>
          </a:p>
          <a:p>
            <a:pPr marL="717550" indent="-358775">
              <a:buFont typeface="+mj-lt"/>
              <a:buAutoNum type="arabicPeriod"/>
            </a:pP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aljabar</a:t>
            </a:r>
            <a:r>
              <a:rPr lang="en-US" dirty="0"/>
              <a:t>,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hukum-hukum</a:t>
            </a:r>
            <a:r>
              <a:rPr lang="en-US" dirty="0"/>
              <a:t> </a:t>
            </a:r>
            <a:r>
              <a:rPr lang="en-US" dirty="0" err="1"/>
              <a:t>aljabar</a:t>
            </a:r>
            <a:r>
              <a:rPr lang="en-US" dirty="0"/>
              <a:t> Boolean.</a:t>
            </a:r>
            <a:endParaRPr lang="id-ID" dirty="0"/>
          </a:p>
          <a:p>
            <a:pPr marL="717550" indent="-358775">
              <a:buFont typeface="+mj-lt"/>
              <a:buAutoNum type="arabicPeriod"/>
            </a:pP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Peta</a:t>
            </a:r>
            <a:r>
              <a:rPr lang="en-US" dirty="0"/>
              <a:t> </a:t>
            </a:r>
            <a:r>
              <a:rPr lang="en-US" dirty="0" err="1"/>
              <a:t>Karnaugh</a:t>
            </a:r>
            <a:r>
              <a:rPr lang="en-US" dirty="0"/>
              <a:t>.</a:t>
            </a:r>
            <a:endParaRPr lang="id-ID" dirty="0"/>
          </a:p>
          <a:p>
            <a:pPr marL="717550" indent="-358775">
              <a:buFont typeface="+mj-lt"/>
              <a:buAutoNum type="arabicPeriod"/>
            </a:pP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Quine-McCluskey</a:t>
            </a:r>
            <a:r>
              <a:rPr lang="en-US" dirty="0"/>
              <a:t> (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tabulasi</a:t>
            </a:r>
            <a:r>
              <a:rPr lang="en-US" dirty="0"/>
              <a:t>)</a:t>
            </a:r>
            <a:endParaRPr lang="id-ID" dirty="0"/>
          </a:p>
          <a:p>
            <a:pPr marL="717550" indent="-358775">
              <a:buFont typeface="+mj-lt"/>
              <a:buAutoNum type="arabicPeriod"/>
            </a:pPr>
            <a:endParaRPr lang="id-ID" dirty="0"/>
          </a:p>
          <a:p>
            <a:pPr marL="358775" indent="-358775"/>
            <a:r>
              <a:rPr lang="id-ID" dirty="0"/>
              <a:t>Yang dibahas hanyalah </a:t>
            </a:r>
            <a:r>
              <a:rPr lang="id-ID" b="1" dirty="0"/>
              <a:t>Metode Peta Karnaugh</a:t>
            </a:r>
          </a:p>
          <a:p>
            <a:endParaRPr lang="id-ID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>
                <a:latin typeface="+mn-lt"/>
              </a:rPr>
              <a:t>Peta Karnaugh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Peta</a:t>
            </a:r>
            <a:r>
              <a:rPr lang="en-US" dirty="0"/>
              <a:t> </a:t>
            </a:r>
            <a:r>
              <a:rPr lang="en-US" dirty="0" err="1"/>
              <a:t>Karnaugh</a:t>
            </a:r>
            <a:r>
              <a:rPr lang="en-US" dirty="0"/>
              <a:t> (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i="1" dirty="0"/>
              <a:t>K-map</a:t>
            </a:r>
            <a:r>
              <a:rPr lang="en-US" dirty="0"/>
              <a:t>)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grafis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menyederhanakan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Boolean. </a:t>
            </a:r>
            <a:endParaRPr lang="id-ID" dirty="0"/>
          </a:p>
          <a:p>
            <a:endParaRPr lang="id-ID" dirty="0"/>
          </a:p>
          <a:p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ditemukan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Maurice </a:t>
            </a:r>
            <a:r>
              <a:rPr lang="en-US" dirty="0" err="1"/>
              <a:t>Karnaugh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 1953. </a:t>
            </a:r>
            <a:r>
              <a:rPr lang="en-US" dirty="0" err="1"/>
              <a:t>Peta</a:t>
            </a:r>
            <a:r>
              <a:rPr lang="en-US" dirty="0"/>
              <a:t> </a:t>
            </a:r>
            <a:r>
              <a:rPr lang="en-US" dirty="0" err="1"/>
              <a:t>Karnaugh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diagram/</a:t>
            </a:r>
            <a:r>
              <a:rPr lang="en-US" dirty="0" err="1"/>
              <a:t>peta</a:t>
            </a:r>
            <a:r>
              <a:rPr lang="en-US" dirty="0"/>
              <a:t> yang </a:t>
            </a:r>
            <a:r>
              <a:rPr lang="en-US" dirty="0" err="1"/>
              <a:t>terbentuk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kotak-kotak</a:t>
            </a:r>
            <a:r>
              <a:rPr lang="en-US" dirty="0"/>
              <a:t> (</a:t>
            </a:r>
            <a:r>
              <a:rPr lang="en-US" dirty="0" err="1"/>
              <a:t>berbentuk</a:t>
            </a:r>
            <a:r>
              <a:rPr lang="en-US" dirty="0"/>
              <a:t> </a:t>
            </a:r>
            <a:r>
              <a:rPr lang="en-US" dirty="0" err="1"/>
              <a:t>bujursangkar</a:t>
            </a:r>
            <a:r>
              <a:rPr lang="en-US" dirty="0"/>
              <a:t>) yang </a:t>
            </a:r>
            <a:r>
              <a:rPr lang="en-US" dirty="0" err="1"/>
              <a:t>bersisian</a:t>
            </a:r>
            <a:r>
              <a:rPr lang="en-US" dirty="0"/>
              <a:t>. </a:t>
            </a:r>
            <a:endParaRPr lang="id-ID" dirty="0"/>
          </a:p>
          <a:p>
            <a:endParaRPr lang="id-ID" dirty="0"/>
          </a:p>
          <a:p>
            <a:r>
              <a:rPr lang="en-US" dirty="0" err="1"/>
              <a:t>Tiap</a:t>
            </a:r>
            <a:r>
              <a:rPr lang="en-US" dirty="0"/>
              <a:t> </a:t>
            </a:r>
            <a:r>
              <a:rPr lang="en-US" dirty="0" err="1"/>
              <a:t>kotak</a:t>
            </a:r>
            <a:r>
              <a:rPr lang="en-US" dirty="0"/>
              <a:t> </a:t>
            </a:r>
            <a:r>
              <a:rPr lang="en-US" dirty="0" err="1"/>
              <a:t>merepresentasikan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i="1" dirty="0" err="1"/>
              <a:t>minterm</a:t>
            </a:r>
            <a:r>
              <a:rPr lang="en-US" dirty="0"/>
              <a:t>. </a:t>
            </a:r>
            <a:endParaRPr lang="id-ID" dirty="0"/>
          </a:p>
          <a:p>
            <a:endParaRPr lang="id-ID" dirty="0"/>
          </a:p>
          <a:p>
            <a:r>
              <a:rPr lang="en-US" dirty="0" err="1"/>
              <a:t>Tiap</a:t>
            </a:r>
            <a:r>
              <a:rPr lang="en-US" dirty="0"/>
              <a:t> </a:t>
            </a:r>
            <a:r>
              <a:rPr lang="en-US" dirty="0" err="1"/>
              <a:t>kotak</a:t>
            </a:r>
            <a:r>
              <a:rPr lang="en-US" dirty="0"/>
              <a:t> </a:t>
            </a:r>
            <a:r>
              <a:rPr lang="en-US" dirty="0" err="1"/>
              <a:t>dikatakan</a:t>
            </a:r>
            <a:r>
              <a:rPr lang="en-US" dirty="0"/>
              <a:t> </a:t>
            </a:r>
            <a:r>
              <a:rPr lang="en-US" dirty="0" err="1"/>
              <a:t>bertetangga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i="1" dirty="0" err="1"/>
              <a:t>minterm-minterm</a:t>
            </a:r>
            <a:r>
              <a:rPr lang="en-US" dirty="0"/>
              <a:t> yang </a:t>
            </a:r>
            <a:r>
              <a:rPr lang="en-US" dirty="0" err="1"/>
              <a:t>merepresentasikannya</a:t>
            </a:r>
            <a:r>
              <a:rPr lang="en-US" dirty="0"/>
              <a:t> </a:t>
            </a:r>
            <a:r>
              <a:rPr lang="en-US" dirty="0" err="1"/>
              <a:t>berbeda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1 </a:t>
            </a:r>
            <a:r>
              <a:rPr lang="en-US" dirty="0" err="1"/>
              <a:t>buah</a:t>
            </a:r>
            <a:r>
              <a:rPr lang="en-US" dirty="0"/>
              <a:t> literal.</a:t>
            </a:r>
            <a:endParaRPr lang="id-ID" dirty="0"/>
          </a:p>
          <a:p>
            <a:endParaRPr lang="id-ID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67B188-E793-08D7-E6FD-F2D522DB5AFD}"/>
              </a:ext>
            </a:extLst>
          </p:cNvPr>
          <p:cNvSpPr txBox="1"/>
          <p:nvPr/>
        </p:nvSpPr>
        <p:spPr>
          <a:xfrm>
            <a:off x="2299855" y="5082615"/>
            <a:ext cx="67194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Maurice Karnaugh</a:t>
            </a:r>
            <a:r>
              <a:rPr lang="en-US" dirty="0"/>
              <a:t> (</a:t>
            </a:r>
            <a:r>
              <a:rPr lang="en-US" dirty="0">
                <a:hlinkClick r:id="rId2" tooltip="Help:IPA/English"/>
              </a:rPr>
              <a:t>/</a:t>
            </a:r>
            <a:r>
              <a:rPr lang="en-US" dirty="0">
                <a:effectLst/>
                <a:hlinkClick r:id="rId2" tooltip="Help:IPA/English"/>
              </a:rPr>
              <a:t>ˈ</a:t>
            </a:r>
            <a:r>
              <a:rPr lang="en-US" dirty="0" err="1">
                <a:effectLst/>
                <a:hlinkClick r:id="rId2" tooltip="Help:IPA/English"/>
              </a:rPr>
              <a:t>kɑːrnɔ</a:t>
            </a:r>
            <a:r>
              <a:rPr lang="en-US" dirty="0">
                <a:effectLst/>
                <a:hlinkClick r:id="rId2" tooltip="Help:IPA/English"/>
              </a:rPr>
              <a:t>ː</a:t>
            </a:r>
            <a:r>
              <a:rPr lang="en-US" dirty="0">
                <a:hlinkClick r:id="rId2" tooltip="Help:IPA/English"/>
              </a:rPr>
              <a:t>/</a:t>
            </a:r>
            <a:r>
              <a:rPr lang="en-US" dirty="0"/>
              <a:t>; October 4, 1924 – November 8, 2022) was an American physicist, mathematician, computer scientist, and inventor known for the </a:t>
            </a:r>
            <a:r>
              <a:rPr lang="en-US" dirty="0">
                <a:hlinkClick r:id="rId3" tooltip="Karnaugh map"/>
              </a:rPr>
              <a:t>Karnaugh map</a:t>
            </a:r>
            <a:r>
              <a:rPr lang="en-US" dirty="0"/>
              <a:t> used in </a:t>
            </a:r>
            <a:r>
              <a:rPr lang="en-US" dirty="0">
                <a:hlinkClick r:id="rId4" tooltip="Boolean algebra"/>
              </a:rPr>
              <a:t>Boolean algebra</a:t>
            </a:r>
            <a:r>
              <a:rPr lang="en-US" dirty="0"/>
              <a:t>. </a:t>
            </a:r>
          </a:p>
          <a:p>
            <a:r>
              <a:rPr lang="en-US" dirty="0"/>
              <a:t>(</a:t>
            </a:r>
            <a:r>
              <a:rPr lang="en-US" dirty="0" err="1"/>
              <a:t>Sumber</a:t>
            </a:r>
            <a:r>
              <a:rPr lang="en-US" dirty="0"/>
              <a:t>: Wikipedia)</a:t>
            </a:r>
          </a:p>
        </p:txBody>
      </p:sp>
      <p:pic>
        <p:nvPicPr>
          <p:cNvPr id="7" name="Picture 6" descr="A person wearing glasses and a suit&#10;&#10;Description automatically generated">
            <a:extLst>
              <a:ext uri="{FF2B5EF4-FFF2-40B4-BE49-F238E27FC236}">
                <a16:creationId xmlns:a16="http://schemas.microsoft.com/office/drawing/2014/main" id="{317EBBA6-D7FC-2A78-A4C1-3E8FBEB94F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070" y="779484"/>
            <a:ext cx="4170218" cy="4170218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C37CD1-3169-36A6-12C2-6441B0373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086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2939" y="607851"/>
            <a:ext cx="9057861" cy="5268931"/>
          </a:xfrm>
        </p:spPr>
        <p:txBody>
          <a:bodyPr/>
          <a:lstStyle/>
          <a:p>
            <a:pPr>
              <a:buNone/>
            </a:pPr>
            <a:r>
              <a:rPr lang="id-ID" b="1" dirty="0"/>
              <a:t>Peta Karnaugh dengan dua peubah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3581" y="1159267"/>
            <a:ext cx="10133467" cy="2802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5640C5-D137-98D8-30B1-0EFE48B5F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5351" y="4239727"/>
            <a:ext cx="3209925" cy="2228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AB9971-6C3A-AD6E-D722-EEE926496831}"/>
              </a:ext>
            </a:extLst>
          </p:cNvPr>
          <p:cNvSpPr txBox="1"/>
          <p:nvPr/>
        </p:nvSpPr>
        <p:spPr>
          <a:xfrm>
            <a:off x="4988410" y="6346703"/>
            <a:ext cx="13869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Penyajian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1721" y="785795"/>
            <a:ext cx="9316279" cy="5340369"/>
          </a:xfrm>
        </p:spPr>
        <p:txBody>
          <a:bodyPr/>
          <a:lstStyle/>
          <a:p>
            <a:pPr>
              <a:buNone/>
            </a:pPr>
            <a:r>
              <a:rPr lang="id-ID" b="1" dirty="0"/>
              <a:t>Peta Karnaugh dengan tiga peubah</a:t>
            </a:r>
          </a:p>
          <a:p>
            <a:pPr>
              <a:buNone/>
            </a:pPr>
            <a:endParaRPr lang="id-ID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460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0351657"/>
              </p:ext>
            </p:extLst>
          </p:nvPr>
        </p:nvGraphicFramePr>
        <p:xfrm>
          <a:off x="1444762" y="1928802"/>
          <a:ext cx="9223239" cy="2185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735681" imgH="1122432" progId="Word.Document.12">
                  <p:embed/>
                </p:oleObj>
              </mc:Choice>
              <mc:Fallback>
                <p:oleObj name="Document" r:id="rId2" imgW="4735681" imgH="1122432" progId="Word.Document.12">
                  <p:embed/>
                  <p:pic>
                    <p:nvPicPr>
                      <p:cNvPr id="460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762" y="1928802"/>
                        <a:ext cx="9223239" cy="21859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9204" y="758815"/>
            <a:ext cx="8229600" cy="5340369"/>
          </a:xfrm>
        </p:spPr>
        <p:txBody>
          <a:bodyPr/>
          <a:lstStyle/>
          <a:p>
            <a:pPr>
              <a:buNone/>
            </a:pPr>
            <a:r>
              <a:rPr lang="id-ID" b="1" dirty="0"/>
              <a:t>Peta Karnaugh dengan empat peubah</a:t>
            </a:r>
          </a:p>
          <a:p>
            <a:pPr>
              <a:buNone/>
            </a:pPr>
            <a:endParaRPr lang="id-ID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471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9700600"/>
              </p:ext>
            </p:extLst>
          </p:nvPr>
        </p:nvGraphicFramePr>
        <p:xfrm>
          <a:off x="1149928" y="1642325"/>
          <a:ext cx="8608152" cy="3214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735681" imgH="1767731" progId="Word.Document.12">
                  <p:embed/>
                </p:oleObj>
              </mc:Choice>
              <mc:Fallback>
                <p:oleObj name="Document" r:id="rId2" imgW="4735681" imgH="1767731" progId="Word.Document.12">
                  <p:embed/>
                  <p:pic>
                    <p:nvPicPr>
                      <p:cNvPr id="4710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9928" y="1642325"/>
                        <a:ext cx="8608152" cy="32147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1235" y="785795"/>
            <a:ext cx="9922565" cy="5340369"/>
          </a:xfrm>
        </p:spPr>
        <p:txBody>
          <a:bodyPr/>
          <a:lstStyle/>
          <a:p>
            <a:pPr>
              <a:buNone/>
            </a:pPr>
            <a:r>
              <a:rPr lang="id-ID" b="1" dirty="0"/>
              <a:t>Cara mengisi peta Karnaugh</a:t>
            </a:r>
          </a:p>
          <a:p>
            <a:r>
              <a:rPr lang="id-ID" dirty="0"/>
              <a:t>Kotak yang menyatakan </a:t>
            </a:r>
            <a:r>
              <a:rPr lang="id-ID" i="1" dirty="0"/>
              <a:t>minterm</a:t>
            </a:r>
            <a:r>
              <a:rPr lang="id-ID" dirty="0"/>
              <a:t> diisi “1”</a:t>
            </a:r>
          </a:p>
          <a:p>
            <a:r>
              <a:rPr lang="id-ID" dirty="0"/>
              <a:t>Sisanya diisi “0”</a:t>
            </a:r>
          </a:p>
          <a:p>
            <a:endParaRPr lang="id-ID" dirty="0"/>
          </a:p>
          <a:p>
            <a:r>
              <a:rPr lang="id-ID" dirty="0"/>
              <a:t>Contoh: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y, z</a:t>
            </a:r>
            <a:r>
              <a:rPr lang="en-US" dirty="0"/>
              <a:t>) = </a:t>
            </a:r>
            <a:r>
              <a:rPr lang="en-US" i="1" dirty="0" err="1"/>
              <a:t>x</a:t>
            </a:r>
            <a:r>
              <a:rPr lang="en-US" dirty="0" err="1"/>
              <a:t>’</a:t>
            </a:r>
            <a:r>
              <a:rPr lang="en-US" i="1" dirty="0" err="1"/>
              <a:t>yz</a:t>
            </a:r>
            <a:r>
              <a:rPr lang="en-US" dirty="0"/>
              <a:t>’ + </a:t>
            </a:r>
            <a:r>
              <a:rPr lang="en-US" i="1" dirty="0"/>
              <a:t>xyz</a:t>
            </a:r>
            <a:r>
              <a:rPr lang="en-US" dirty="0"/>
              <a:t>’ + </a:t>
            </a:r>
            <a:r>
              <a:rPr lang="en-US" i="1" dirty="0"/>
              <a:t>xyz</a:t>
            </a:r>
            <a:endParaRPr lang="id-ID" dirty="0"/>
          </a:p>
          <a:p>
            <a:endParaRPr lang="id-ID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4813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27885" y="3543923"/>
            <a:ext cx="4218379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617" y="714357"/>
            <a:ext cx="10436087" cy="541180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d-ID" dirty="0"/>
              <a:t>Contoh: 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y, z</a:t>
            </a:r>
            <a:r>
              <a:rPr lang="en-US" dirty="0"/>
              <a:t>) = </a:t>
            </a:r>
            <a:r>
              <a:rPr lang="en-US" i="1" dirty="0" err="1"/>
              <a:t>xz</a:t>
            </a:r>
            <a:r>
              <a:rPr lang="en-US" dirty="0"/>
              <a:t>’ + </a:t>
            </a:r>
            <a:r>
              <a:rPr lang="en-US" i="1" dirty="0"/>
              <a:t>y</a:t>
            </a:r>
            <a:r>
              <a:rPr lang="en-US" dirty="0"/>
              <a:t> </a:t>
            </a:r>
            <a:endParaRPr lang="id-ID" dirty="0"/>
          </a:p>
          <a:p>
            <a:pPr lvl="0">
              <a:buNone/>
            </a:pPr>
            <a:r>
              <a:rPr lang="en-US" sz="2400" i="1" dirty="0" err="1"/>
              <a:t>xz</a:t>
            </a:r>
            <a:r>
              <a:rPr lang="en-US" sz="2400" dirty="0"/>
              <a:t>’:</a:t>
            </a:r>
            <a:r>
              <a:rPr lang="id-ID" sz="2400" dirty="0"/>
              <a:t> Irisan antara:</a:t>
            </a:r>
          </a:p>
          <a:p>
            <a:pPr>
              <a:buNone/>
            </a:pPr>
            <a:r>
              <a:rPr lang="en-US" sz="2400" dirty="0"/>
              <a:t>        </a:t>
            </a:r>
            <a:r>
              <a:rPr lang="en-US" sz="2400" i="1" dirty="0"/>
              <a:t>x </a:t>
            </a:r>
            <a:r>
              <a:rPr lang="en-US" sz="2400" dirty="0">
                <a:sym typeface="Wingdings"/>
              </a:rPr>
              <a:t></a:t>
            </a:r>
            <a:r>
              <a:rPr lang="en-US" sz="2400" dirty="0"/>
              <a:t> </a:t>
            </a:r>
            <a:r>
              <a:rPr lang="en-US" sz="2400" dirty="0" err="1"/>
              <a:t>semua</a:t>
            </a:r>
            <a:r>
              <a:rPr lang="en-US" sz="2400" dirty="0"/>
              <a:t> </a:t>
            </a:r>
            <a:r>
              <a:rPr lang="en-US" sz="2400" dirty="0" err="1"/>
              <a:t>kotak</a:t>
            </a:r>
            <a:r>
              <a:rPr lang="en-US" sz="2400" dirty="0"/>
              <a:t>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baris</a:t>
            </a:r>
            <a:r>
              <a:rPr lang="en-US" sz="2400" dirty="0"/>
              <a:t> ke-2</a:t>
            </a:r>
            <a:endParaRPr lang="id-ID" sz="2400" dirty="0"/>
          </a:p>
          <a:p>
            <a:pPr>
              <a:buNone/>
            </a:pPr>
            <a:r>
              <a:rPr lang="en-US" sz="2400" dirty="0"/>
              <a:t>       </a:t>
            </a:r>
            <a:r>
              <a:rPr lang="en-US" sz="2400" i="1" dirty="0"/>
              <a:t>z</a:t>
            </a:r>
            <a:r>
              <a:rPr lang="en-US" sz="2400" dirty="0"/>
              <a:t>’ </a:t>
            </a:r>
            <a:r>
              <a:rPr lang="en-US" sz="2400" dirty="0">
                <a:sym typeface="Wingdings"/>
              </a:rPr>
              <a:t></a:t>
            </a:r>
            <a:r>
              <a:rPr lang="en-US" sz="2400" dirty="0"/>
              <a:t> </a:t>
            </a:r>
            <a:r>
              <a:rPr lang="en-US" sz="2400" dirty="0" err="1"/>
              <a:t>semua</a:t>
            </a:r>
            <a:r>
              <a:rPr lang="en-US" sz="2400" dirty="0"/>
              <a:t> </a:t>
            </a:r>
            <a:r>
              <a:rPr lang="en-US" sz="2400" dirty="0" err="1"/>
              <a:t>kotak</a:t>
            </a:r>
            <a:r>
              <a:rPr lang="en-US" sz="2400" dirty="0"/>
              <a:t>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kolom</a:t>
            </a:r>
            <a:r>
              <a:rPr lang="en-US" sz="2400" dirty="0"/>
              <a:t> ke-1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kolom</a:t>
            </a:r>
            <a:r>
              <a:rPr lang="en-US" sz="2400" dirty="0"/>
              <a:t> ke-4</a:t>
            </a:r>
            <a:endParaRPr lang="id-ID" sz="2400" dirty="0"/>
          </a:p>
          <a:p>
            <a:pPr lvl="0">
              <a:buNone/>
            </a:pPr>
            <a:endParaRPr lang="en-US" sz="2400" i="1" dirty="0"/>
          </a:p>
          <a:p>
            <a:pPr lvl="0">
              <a:buNone/>
            </a:pPr>
            <a:r>
              <a:rPr lang="en-US" sz="2400" i="1" dirty="0"/>
              <a:t>y</a:t>
            </a:r>
            <a:r>
              <a:rPr lang="en-US" sz="2400" dirty="0"/>
              <a:t>:</a:t>
            </a:r>
            <a:endParaRPr lang="id-ID" sz="2400" dirty="0"/>
          </a:p>
          <a:p>
            <a:pPr>
              <a:buNone/>
            </a:pPr>
            <a:r>
              <a:rPr lang="en-US" sz="2400" dirty="0"/>
              <a:t>        </a:t>
            </a:r>
            <a:r>
              <a:rPr lang="en-US" sz="2400" i="1" dirty="0"/>
              <a:t>y</a:t>
            </a:r>
            <a:r>
              <a:rPr lang="en-US" sz="2400" dirty="0"/>
              <a:t> </a:t>
            </a:r>
            <a:r>
              <a:rPr lang="en-US" sz="2400" dirty="0">
                <a:sym typeface="Wingdings"/>
              </a:rPr>
              <a:t></a:t>
            </a:r>
            <a:r>
              <a:rPr lang="en-US" sz="2400" dirty="0"/>
              <a:t> </a:t>
            </a:r>
            <a:r>
              <a:rPr lang="en-US" sz="2400" dirty="0" err="1"/>
              <a:t>semua</a:t>
            </a:r>
            <a:r>
              <a:rPr lang="en-US" sz="2400" dirty="0"/>
              <a:t> </a:t>
            </a:r>
            <a:r>
              <a:rPr lang="en-US" sz="2400" dirty="0" err="1"/>
              <a:t>kotak</a:t>
            </a:r>
            <a:r>
              <a:rPr lang="en-US" sz="2400" dirty="0"/>
              <a:t>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kolom</a:t>
            </a:r>
            <a:r>
              <a:rPr lang="en-US" sz="2400" dirty="0"/>
              <a:t> ke-3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kolom</a:t>
            </a:r>
            <a:r>
              <a:rPr lang="en-US" sz="2400" dirty="0"/>
              <a:t> ke-4</a:t>
            </a:r>
            <a:endParaRPr lang="id-ID" sz="2400" dirty="0"/>
          </a:p>
          <a:p>
            <a:pPr>
              <a:buNone/>
            </a:pPr>
            <a:endParaRPr lang="id-ID" sz="2400" dirty="0"/>
          </a:p>
          <a:p>
            <a:pPr>
              <a:buNone/>
            </a:pPr>
            <a:endParaRPr lang="id-ID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491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898997"/>
              </p:ext>
            </p:extLst>
          </p:nvPr>
        </p:nvGraphicFramePr>
        <p:xfrm>
          <a:off x="387806" y="4081967"/>
          <a:ext cx="9388802" cy="2398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735681" imgH="1209936" progId="Word.Document.12">
                  <p:embed/>
                </p:oleObj>
              </mc:Choice>
              <mc:Fallback>
                <p:oleObj name="Document" r:id="rId2" imgW="4735681" imgH="1209936" progId="Word.Document.12">
                  <p:embed/>
                  <p:pic>
                    <p:nvPicPr>
                      <p:cNvPr id="4915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806" y="4081967"/>
                        <a:ext cx="9388802" cy="23983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00043"/>
            <a:ext cx="10634870" cy="5626121"/>
          </a:xfrm>
        </p:spPr>
        <p:txBody>
          <a:bodyPr/>
          <a:lstStyle/>
          <a:p>
            <a:pPr>
              <a:buNone/>
            </a:pPr>
            <a:r>
              <a:rPr lang="id-ID" dirty="0"/>
              <a:t>Pengisian peta Karnaugh dari tabel kebenaran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018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90908" y="1195536"/>
            <a:ext cx="3576332" cy="3131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5267320" y="1330929"/>
            <a:ext cx="66865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/>
              <a:t>Tinjau</a:t>
            </a:r>
            <a:r>
              <a:rPr lang="en-US" sz="2400" dirty="0"/>
              <a:t> </a:t>
            </a:r>
            <a:r>
              <a:rPr lang="en-US" sz="2400" dirty="0" err="1"/>
              <a:t>hanya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yang </a:t>
            </a:r>
            <a:r>
              <a:rPr lang="en-US" sz="2400" dirty="0" err="1"/>
              <a:t>memberikan</a:t>
            </a:r>
            <a:r>
              <a:rPr lang="en-US" sz="2400" dirty="0"/>
              <a:t> 1. </a:t>
            </a:r>
            <a:r>
              <a:rPr lang="en-US" sz="2400" dirty="0" err="1"/>
              <a:t>Fungsi</a:t>
            </a:r>
            <a:r>
              <a:rPr lang="en-US" sz="2400" dirty="0"/>
              <a:t> Boolean yang </a:t>
            </a:r>
            <a:r>
              <a:rPr lang="en-US" sz="2400" dirty="0" err="1"/>
              <a:t>merepresentasikan</a:t>
            </a:r>
            <a:r>
              <a:rPr lang="en-US" sz="2400" dirty="0"/>
              <a:t> </a:t>
            </a:r>
            <a:r>
              <a:rPr lang="en-US" sz="2400" dirty="0" err="1"/>
              <a:t>tabel</a:t>
            </a:r>
            <a:r>
              <a:rPr lang="en-US" sz="2400" dirty="0"/>
              <a:t> </a:t>
            </a:r>
            <a:r>
              <a:rPr lang="en-US" sz="2400" dirty="0" err="1"/>
              <a:t>kebenaran</a:t>
            </a:r>
            <a:r>
              <a:rPr lang="en-US" sz="2400" dirty="0"/>
              <a:t> 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i="1" dirty="0"/>
              <a:t>f</a:t>
            </a:r>
            <a:r>
              <a:rPr lang="en-US" sz="2400" dirty="0"/>
              <a:t>(</a:t>
            </a:r>
            <a:r>
              <a:rPr lang="en-US" sz="2400" i="1" dirty="0"/>
              <a:t>x</a:t>
            </a:r>
            <a:r>
              <a:rPr lang="en-US" sz="2400" dirty="0"/>
              <a:t>, </a:t>
            </a:r>
            <a:r>
              <a:rPr lang="en-US" sz="2400" i="1" dirty="0"/>
              <a:t>y</a:t>
            </a:r>
            <a:r>
              <a:rPr lang="en-US" sz="2400" dirty="0"/>
              <a:t>) = </a:t>
            </a:r>
            <a:r>
              <a:rPr lang="en-US" sz="2400" i="1" dirty="0" err="1"/>
              <a:t>x</a:t>
            </a:r>
            <a:r>
              <a:rPr lang="en-US" sz="2400" dirty="0" err="1"/>
              <a:t>’</a:t>
            </a:r>
            <a:r>
              <a:rPr lang="en-US" sz="2400" i="1" dirty="0" err="1"/>
              <a:t>y</a:t>
            </a:r>
            <a:r>
              <a:rPr lang="en-US" sz="2400" dirty="0" err="1"/>
              <a:t>’</a:t>
            </a:r>
            <a:r>
              <a:rPr lang="en-US" sz="2400" i="1" dirty="0" err="1"/>
              <a:t>z</a:t>
            </a:r>
            <a:r>
              <a:rPr lang="en-US" sz="2400" dirty="0"/>
              <a:t> + </a:t>
            </a:r>
            <a:r>
              <a:rPr lang="en-US" sz="2400" i="1" dirty="0" err="1"/>
              <a:t>xy</a:t>
            </a:r>
            <a:r>
              <a:rPr lang="en-US" sz="2400" dirty="0" err="1"/>
              <a:t>’</a:t>
            </a:r>
            <a:r>
              <a:rPr lang="en-US" sz="2400" i="1" dirty="0" err="1"/>
              <a:t>z</a:t>
            </a:r>
            <a:r>
              <a:rPr lang="en-US" sz="2400" dirty="0"/>
              <a:t>’ + </a:t>
            </a:r>
            <a:r>
              <a:rPr lang="en-US" sz="2400" i="1" dirty="0" err="1"/>
              <a:t>xy</a:t>
            </a:r>
            <a:r>
              <a:rPr lang="en-US" sz="2400" dirty="0" err="1"/>
              <a:t>’</a:t>
            </a:r>
            <a:r>
              <a:rPr lang="en-US" sz="2400" i="1" dirty="0" err="1"/>
              <a:t>z</a:t>
            </a:r>
            <a:r>
              <a:rPr lang="en-US" sz="2400" dirty="0"/>
              <a:t>+ </a:t>
            </a:r>
            <a:r>
              <a:rPr lang="en-US" sz="2400" i="1" dirty="0"/>
              <a:t>xyz</a:t>
            </a:r>
            <a:r>
              <a:rPr lang="en-US" sz="2400" dirty="0"/>
              <a:t>. </a:t>
            </a:r>
            <a:endParaRPr lang="id-ID" sz="2400" dirty="0"/>
          </a:p>
        </p:txBody>
      </p:sp>
      <p:pic>
        <p:nvPicPr>
          <p:cNvPr id="50183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47997" y="2761444"/>
            <a:ext cx="3925046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Teknik</a:t>
            </a:r>
            <a:r>
              <a:rPr lang="en-US" b="1" dirty="0"/>
              <a:t> </a:t>
            </a:r>
            <a:r>
              <a:rPr lang="en-US" b="1" dirty="0" err="1"/>
              <a:t>Minimisasi</a:t>
            </a:r>
            <a:r>
              <a:rPr lang="en-US" b="1" dirty="0"/>
              <a:t> </a:t>
            </a:r>
            <a:r>
              <a:rPr lang="en-US" b="1" dirty="0" err="1"/>
              <a:t>Fungsi</a:t>
            </a:r>
            <a:r>
              <a:rPr lang="en-US" b="1" dirty="0"/>
              <a:t> Boolean </a:t>
            </a:r>
            <a:r>
              <a:rPr lang="en-US" b="1" dirty="0" err="1"/>
              <a:t>dengan</a:t>
            </a:r>
            <a:r>
              <a:rPr lang="en-US" b="1" dirty="0"/>
              <a:t> </a:t>
            </a:r>
            <a:r>
              <a:rPr lang="en-US" b="1" dirty="0" err="1"/>
              <a:t>Peta</a:t>
            </a:r>
            <a:r>
              <a:rPr lang="en-US" b="1" dirty="0"/>
              <a:t> </a:t>
            </a:r>
            <a:r>
              <a:rPr lang="en-US" b="1" dirty="0" err="1"/>
              <a:t>Karnaug</a:t>
            </a:r>
            <a:r>
              <a:rPr lang="id-ID" b="1" dirty="0"/>
              <a:t>h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Penggunaan</a:t>
            </a:r>
            <a:r>
              <a:rPr lang="en-US" dirty="0"/>
              <a:t> </a:t>
            </a:r>
            <a:r>
              <a:rPr lang="en-US" dirty="0" err="1"/>
              <a:t>Peta</a:t>
            </a:r>
            <a:r>
              <a:rPr lang="en-US" dirty="0"/>
              <a:t> </a:t>
            </a:r>
            <a:r>
              <a:rPr lang="en-US" dirty="0" err="1"/>
              <a:t>Karnaugh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penyederhanaan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Boolean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menggabungkan</a:t>
            </a:r>
            <a:r>
              <a:rPr lang="en-US" dirty="0"/>
              <a:t> </a:t>
            </a:r>
            <a:r>
              <a:rPr lang="en-US" dirty="0" err="1"/>
              <a:t>kotak-kotak</a:t>
            </a:r>
            <a:r>
              <a:rPr lang="en-US" dirty="0"/>
              <a:t> yang </a:t>
            </a:r>
            <a:r>
              <a:rPr lang="en-US" dirty="0" err="1"/>
              <a:t>bernilai</a:t>
            </a:r>
            <a:r>
              <a:rPr lang="en-US" dirty="0"/>
              <a:t> 1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saling</a:t>
            </a:r>
            <a:r>
              <a:rPr lang="en-US" dirty="0"/>
              <a:t> </a:t>
            </a:r>
            <a:r>
              <a:rPr lang="en-US" dirty="0" err="1"/>
              <a:t>bersisian</a:t>
            </a:r>
            <a:r>
              <a:rPr lang="en-US" dirty="0"/>
              <a:t>. </a:t>
            </a:r>
            <a:endParaRPr lang="id-ID" dirty="0"/>
          </a:p>
          <a:p>
            <a:endParaRPr lang="id-ID" dirty="0"/>
          </a:p>
          <a:p>
            <a:r>
              <a:rPr lang="en-US" dirty="0" err="1"/>
              <a:t>Kelompok</a:t>
            </a:r>
            <a:r>
              <a:rPr lang="en-US" dirty="0"/>
              <a:t> </a:t>
            </a:r>
            <a:r>
              <a:rPr lang="en-US" dirty="0" err="1"/>
              <a:t>kotak</a:t>
            </a:r>
            <a:r>
              <a:rPr lang="en-US" dirty="0"/>
              <a:t> yang </a:t>
            </a:r>
            <a:r>
              <a:rPr lang="en-US" dirty="0" err="1"/>
              <a:t>bernilai</a:t>
            </a:r>
            <a:r>
              <a:rPr lang="en-US" dirty="0"/>
              <a:t> 1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membentuk</a:t>
            </a:r>
            <a:r>
              <a:rPr lang="id-ID" dirty="0"/>
              <a:t>:</a:t>
            </a:r>
          </a:p>
          <a:p>
            <a:pPr>
              <a:buNone/>
            </a:pPr>
            <a:r>
              <a:rPr lang="id-ID" dirty="0"/>
              <a:t>	-</a:t>
            </a:r>
            <a:r>
              <a:rPr lang="en-US" dirty="0"/>
              <a:t> </a:t>
            </a:r>
            <a:r>
              <a:rPr lang="en-US" dirty="0" err="1"/>
              <a:t>pasangan</a:t>
            </a:r>
            <a:r>
              <a:rPr lang="en-US" dirty="0"/>
              <a:t> (</a:t>
            </a:r>
            <a:r>
              <a:rPr lang="en-US" dirty="0" err="1"/>
              <a:t>dua</a:t>
            </a:r>
            <a:r>
              <a:rPr lang="en-US" dirty="0"/>
              <a:t>), </a:t>
            </a:r>
            <a:endParaRPr lang="id-ID" dirty="0"/>
          </a:p>
          <a:p>
            <a:pPr>
              <a:buNone/>
            </a:pPr>
            <a:r>
              <a:rPr lang="id-ID" dirty="0"/>
              <a:t>	-</a:t>
            </a:r>
            <a:r>
              <a:rPr lang="en-US" dirty="0"/>
              <a:t> </a:t>
            </a:r>
            <a:r>
              <a:rPr lang="en-US" dirty="0" err="1"/>
              <a:t>kuad</a:t>
            </a:r>
            <a:r>
              <a:rPr lang="en-US" dirty="0"/>
              <a:t> (</a:t>
            </a:r>
            <a:r>
              <a:rPr lang="en-US" dirty="0" err="1"/>
              <a:t>empat</a:t>
            </a:r>
            <a:r>
              <a:rPr lang="en-US" dirty="0"/>
              <a:t>),  </a:t>
            </a:r>
            <a:endParaRPr lang="id-ID" dirty="0"/>
          </a:p>
          <a:p>
            <a:pPr>
              <a:buNone/>
            </a:pPr>
            <a:r>
              <a:rPr lang="id-ID" dirty="0"/>
              <a:t>	- </a:t>
            </a:r>
            <a:r>
              <a:rPr lang="en-US" dirty="0" err="1"/>
              <a:t>oktet</a:t>
            </a:r>
            <a:r>
              <a:rPr lang="en-US" dirty="0"/>
              <a:t> (</a:t>
            </a:r>
            <a:r>
              <a:rPr lang="en-US" dirty="0" err="1"/>
              <a:t>delapan</a:t>
            </a:r>
            <a:r>
              <a:rPr lang="en-US" dirty="0"/>
              <a:t>).</a:t>
            </a:r>
            <a:endParaRPr lang="id-ID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4095" y="857233"/>
            <a:ext cx="10088217" cy="5268931"/>
          </a:xfrm>
        </p:spPr>
        <p:txBody>
          <a:bodyPr/>
          <a:lstStyle/>
          <a:p>
            <a:pPr>
              <a:buNone/>
            </a:pPr>
            <a:r>
              <a:rPr lang="id-ID" b="1" dirty="0"/>
              <a:t>Pasangan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24034" y="1500174"/>
            <a:ext cx="348530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203" name="Rectangle 3"/>
          <p:cNvSpPr>
            <a:spLocks noChangeArrowheads="1"/>
          </p:cNvSpPr>
          <p:nvPr/>
        </p:nvSpPr>
        <p:spPr bwMode="auto">
          <a:xfrm>
            <a:off x="2309787" y="4572009"/>
            <a:ext cx="7471917" cy="1508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 err="1">
                <a:latin typeface="Arial" pitchFamily="34" charset="0"/>
                <a:ea typeface="Times New Roman" pitchFamily="18" charset="0"/>
                <a:cs typeface="Arial" pitchFamily="34" charset="0"/>
              </a:rPr>
              <a:t>Sebelum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ea typeface="Times New Roman" pitchFamily="18" charset="0"/>
                <a:cs typeface="Arial" pitchFamily="34" charset="0"/>
              </a:rPr>
              <a:t>disederhanakan</a:t>
            </a:r>
            <a:r>
              <a:rPr lang="id-ID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: </a:t>
            </a:r>
            <a:r>
              <a:rPr lang="en-US" sz="2400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f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(</a:t>
            </a:r>
            <a:r>
              <a:rPr lang="en-US" sz="2400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w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, </a:t>
            </a:r>
            <a:r>
              <a:rPr lang="en-US" sz="2400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x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, </a:t>
            </a:r>
            <a:r>
              <a:rPr lang="en-US" sz="2400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y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, </a:t>
            </a:r>
            <a:r>
              <a:rPr lang="en-US" sz="2400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z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) = </a:t>
            </a:r>
            <a:r>
              <a:rPr lang="en-US" sz="2400" i="1" dirty="0" err="1">
                <a:latin typeface="Arial" pitchFamily="34" charset="0"/>
                <a:ea typeface="Times New Roman" pitchFamily="18" charset="0"/>
                <a:cs typeface="Arial" pitchFamily="34" charset="0"/>
              </a:rPr>
              <a:t>wxyz</a:t>
            </a:r>
            <a:r>
              <a:rPr lang="en-US" sz="2400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+ </a:t>
            </a:r>
            <a:r>
              <a:rPr lang="en-US" sz="2400" i="1" dirty="0" err="1">
                <a:latin typeface="Arial" pitchFamily="34" charset="0"/>
                <a:ea typeface="Times New Roman" pitchFamily="18" charset="0"/>
                <a:cs typeface="Arial" pitchFamily="34" charset="0"/>
              </a:rPr>
              <a:t>wxyz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’</a:t>
            </a:r>
            <a:endParaRPr lang="id-ID" sz="2400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id-ID" sz="2400" dirty="0">
              <a:latin typeface="Arial" pitchFamily="34" charset="0"/>
              <a:cs typeface="Arial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400" dirty="0">
                <a:latin typeface="Arial" pitchFamily="34" charset="0"/>
                <a:cs typeface="Arial" pitchFamily="34" charset="0"/>
              </a:rPr>
              <a:t>Sesudah disederhanakan: </a:t>
            </a:r>
            <a:r>
              <a:rPr lang="en-US" sz="2400" i="1" dirty="0"/>
              <a:t>f</a:t>
            </a:r>
            <a:r>
              <a:rPr lang="en-US" sz="2400" dirty="0"/>
              <a:t>(</a:t>
            </a:r>
            <a:r>
              <a:rPr lang="en-US" sz="2400" i="1" dirty="0"/>
              <a:t>w</a:t>
            </a:r>
            <a:r>
              <a:rPr lang="en-US" sz="2400" dirty="0"/>
              <a:t>, </a:t>
            </a:r>
            <a:r>
              <a:rPr lang="en-US" sz="2400" i="1" dirty="0"/>
              <a:t>x</a:t>
            </a:r>
            <a:r>
              <a:rPr lang="en-US" sz="2400" dirty="0"/>
              <a:t>, </a:t>
            </a:r>
            <a:r>
              <a:rPr lang="en-US" sz="2400" i="1" dirty="0"/>
              <a:t>y</a:t>
            </a:r>
            <a:r>
              <a:rPr lang="en-US" sz="2400" dirty="0"/>
              <a:t>, </a:t>
            </a:r>
            <a:r>
              <a:rPr lang="en-US" sz="2400" i="1" dirty="0"/>
              <a:t>z</a:t>
            </a:r>
            <a:r>
              <a:rPr lang="en-US" sz="2400" dirty="0"/>
              <a:t>) = </a:t>
            </a:r>
            <a:r>
              <a:rPr lang="en-US" sz="2400" i="1" dirty="0" err="1"/>
              <a:t>wxy</a:t>
            </a:r>
            <a:endParaRPr lang="id-ID" sz="2400" dirty="0"/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78113" y="2089692"/>
            <a:ext cx="4350574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1904" y="500043"/>
            <a:ext cx="10031896" cy="5626121"/>
          </a:xfrm>
        </p:spPr>
        <p:txBody>
          <a:bodyPr/>
          <a:lstStyle/>
          <a:p>
            <a:pPr>
              <a:buNone/>
            </a:pPr>
            <a:r>
              <a:rPr lang="id-ID" b="1" dirty="0"/>
              <a:t>Kuad (1)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95472" y="1357298"/>
            <a:ext cx="3335134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238348" y="4143380"/>
            <a:ext cx="6910866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err="1">
                <a:latin typeface="Arial" pitchFamily="34" charset="0"/>
                <a:ea typeface="Times New Roman" pitchFamily="18" charset="0"/>
                <a:cs typeface="Arial" pitchFamily="34" charset="0"/>
              </a:rPr>
              <a:t>Sebelum</a:t>
            </a:r>
            <a:r>
              <a:rPr lang="id-ID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:  </a:t>
            </a:r>
            <a:r>
              <a:rPr lang="en-US" sz="2400" i="1" dirty="0"/>
              <a:t>f</a:t>
            </a:r>
            <a:r>
              <a:rPr lang="en-US" sz="2400" dirty="0"/>
              <a:t>(</a:t>
            </a:r>
            <a:r>
              <a:rPr lang="en-US" sz="2400" i="1" dirty="0"/>
              <a:t>w</a:t>
            </a:r>
            <a:r>
              <a:rPr lang="en-US" sz="2400" dirty="0"/>
              <a:t>, </a:t>
            </a:r>
            <a:r>
              <a:rPr lang="en-US" sz="2400" i="1" dirty="0"/>
              <a:t>x</a:t>
            </a:r>
            <a:r>
              <a:rPr lang="en-US" sz="2400" dirty="0"/>
              <a:t>, </a:t>
            </a:r>
            <a:r>
              <a:rPr lang="en-US" sz="2400" i="1" dirty="0"/>
              <a:t>y</a:t>
            </a:r>
            <a:r>
              <a:rPr lang="en-US" sz="2400" dirty="0"/>
              <a:t>, </a:t>
            </a:r>
            <a:r>
              <a:rPr lang="en-US" sz="2400" i="1" dirty="0"/>
              <a:t>z</a:t>
            </a:r>
            <a:r>
              <a:rPr lang="en-US" sz="2400" dirty="0"/>
              <a:t>) = </a:t>
            </a:r>
            <a:r>
              <a:rPr lang="en-US" sz="2400" i="1" dirty="0" err="1"/>
              <a:t>wxy</a:t>
            </a:r>
            <a:r>
              <a:rPr lang="en-US" sz="2400" dirty="0" err="1"/>
              <a:t>’</a:t>
            </a:r>
            <a:r>
              <a:rPr lang="en-US" sz="2400" i="1" dirty="0" err="1"/>
              <a:t>z</a:t>
            </a:r>
            <a:r>
              <a:rPr lang="en-US" sz="2400" dirty="0"/>
              <a:t>’ + </a:t>
            </a:r>
            <a:r>
              <a:rPr lang="en-US" sz="2400" i="1" dirty="0" err="1"/>
              <a:t>wxy</a:t>
            </a:r>
            <a:r>
              <a:rPr lang="en-US" sz="2400" dirty="0" err="1"/>
              <a:t>’</a:t>
            </a:r>
            <a:r>
              <a:rPr lang="en-US" sz="2400" i="1" dirty="0" err="1"/>
              <a:t>z</a:t>
            </a:r>
            <a:r>
              <a:rPr lang="en-US" sz="2400" dirty="0"/>
              <a:t> + </a:t>
            </a:r>
            <a:r>
              <a:rPr lang="en-US" sz="2400" i="1" dirty="0" err="1"/>
              <a:t>wxyz</a:t>
            </a:r>
            <a:r>
              <a:rPr lang="en-US" sz="2400" dirty="0"/>
              <a:t> + </a:t>
            </a:r>
            <a:r>
              <a:rPr lang="en-US" sz="2400" i="1" dirty="0" err="1"/>
              <a:t>wxyz</a:t>
            </a:r>
            <a:r>
              <a:rPr lang="en-US" sz="2400" dirty="0"/>
              <a:t>’</a:t>
            </a:r>
            <a:endParaRPr lang="id-ID" sz="2400" dirty="0"/>
          </a:p>
          <a:p>
            <a:endParaRPr lang="id-ID" sz="2400" dirty="0">
              <a:latin typeface="Arial" pitchFamily="34" charset="0"/>
              <a:cs typeface="Arial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400" dirty="0">
                <a:latin typeface="Arial" pitchFamily="34" charset="0"/>
                <a:cs typeface="Arial" pitchFamily="34" charset="0"/>
              </a:rPr>
              <a:t>Sesudah:  </a:t>
            </a:r>
            <a:r>
              <a:rPr lang="en-US" sz="2400" i="1" dirty="0"/>
              <a:t>f</a:t>
            </a:r>
            <a:r>
              <a:rPr lang="en-US" sz="2400" dirty="0"/>
              <a:t>(</a:t>
            </a:r>
            <a:r>
              <a:rPr lang="en-US" sz="2400" i="1" dirty="0"/>
              <a:t>w</a:t>
            </a:r>
            <a:r>
              <a:rPr lang="en-US" sz="2400" dirty="0"/>
              <a:t>, </a:t>
            </a:r>
            <a:r>
              <a:rPr lang="en-US" sz="2400" i="1" dirty="0"/>
              <a:t>x</a:t>
            </a:r>
            <a:r>
              <a:rPr lang="en-US" sz="2400" dirty="0"/>
              <a:t>, </a:t>
            </a:r>
            <a:r>
              <a:rPr lang="en-US" sz="2400" i="1" dirty="0"/>
              <a:t>y</a:t>
            </a:r>
            <a:r>
              <a:rPr lang="en-US" sz="2400" dirty="0"/>
              <a:t>, </a:t>
            </a:r>
            <a:r>
              <a:rPr lang="en-US" sz="2400" i="1" dirty="0"/>
              <a:t>z</a:t>
            </a:r>
            <a:r>
              <a:rPr lang="en-US" sz="2400" dirty="0"/>
              <a:t>) = </a:t>
            </a:r>
            <a:r>
              <a:rPr lang="en-US" sz="2400" i="1" dirty="0" err="1"/>
              <a:t>wx</a:t>
            </a:r>
            <a:endParaRPr lang="id-ID" sz="2400" dirty="0"/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63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64054" y="1857364"/>
            <a:ext cx="5203947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4339" y="500043"/>
            <a:ext cx="10614991" cy="5626121"/>
          </a:xfrm>
        </p:spPr>
        <p:txBody>
          <a:bodyPr/>
          <a:lstStyle/>
          <a:p>
            <a:pPr>
              <a:buNone/>
            </a:pPr>
            <a:r>
              <a:rPr lang="id-ID" b="1" dirty="0"/>
              <a:t>Kuad (2)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08680" y="984125"/>
            <a:ext cx="3648711" cy="3139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945766" y="4304271"/>
            <a:ext cx="7287572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err="1">
                <a:latin typeface="Arial" pitchFamily="34" charset="0"/>
                <a:ea typeface="Times New Roman" pitchFamily="18" charset="0"/>
                <a:cs typeface="Arial" pitchFamily="34" charset="0"/>
              </a:rPr>
              <a:t>Sebelum</a:t>
            </a:r>
            <a:r>
              <a:rPr lang="id-ID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:  </a:t>
            </a:r>
            <a:r>
              <a:rPr lang="en-US" sz="2400" i="1" dirty="0"/>
              <a:t>f</a:t>
            </a:r>
            <a:r>
              <a:rPr lang="en-US" sz="2400" dirty="0"/>
              <a:t>(</a:t>
            </a:r>
            <a:r>
              <a:rPr lang="en-US" sz="2400" i="1" dirty="0"/>
              <a:t>w</a:t>
            </a:r>
            <a:r>
              <a:rPr lang="en-US" sz="2400" dirty="0"/>
              <a:t>, </a:t>
            </a:r>
            <a:r>
              <a:rPr lang="en-US" sz="2400" i="1" dirty="0"/>
              <a:t>x</a:t>
            </a:r>
            <a:r>
              <a:rPr lang="en-US" sz="2400" dirty="0"/>
              <a:t>, </a:t>
            </a:r>
            <a:r>
              <a:rPr lang="en-US" sz="2400" i="1" dirty="0"/>
              <a:t>y</a:t>
            </a:r>
            <a:r>
              <a:rPr lang="en-US" sz="2400" dirty="0"/>
              <a:t>, </a:t>
            </a:r>
            <a:r>
              <a:rPr lang="en-US" sz="2400" i="1" dirty="0"/>
              <a:t>z</a:t>
            </a:r>
            <a:r>
              <a:rPr lang="en-US" sz="2400" dirty="0"/>
              <a:t>) = </a:t>
            </a:r>
            <a:r>
              <a:rPr lang="en-US" sz="2400" i="1" dirty="0" err="1"/>
              <a:t>wxy</a:t>
            </a:r>
            <a:r>
              <a:rPr lang="en-US" sz="2400" dirty="0" err="1"/>
              <a:t>’</a:t>
            </a:r>
            <a:r>
              <a:rPr lang="en-US" sz="2400" i="1" dirty="0" err="1"/>
              <a:t>z</a:t>
            </a:r>
            <a:r>
              <a:rPr lang="en-US" sz="2400" dirty="0"/>
              <a:t>’ + </a:t>
            </a:r>
            <a:r>
              <a:rPr lang="en-US" sz="2400" i="1" dirty="0" err="1"/>
              <a:t>wxy</a:t>
            </a:r>
            <a:r>
              <a:rPr lang="en-US" sz="2400" dirty="0" err="1"/>
              <a:t>’</a:t>
            </a:r>
            <a:r>
              <a:rPr lang="en-US" sz="2400" i="1" dirty="0" err="1"/>
              <a:t>z</a:t>
            </a:r>
            <a:r>
              <a:rPr lang="en-US" sz="2400" dirty="0"/>
              <a:t> + </a:t>
            </a:r>
            <a:r>
              <a:rPr lang="en-US" sz="2400" i="1" dirty="0" err="1"/>
              <a:t>wx</a:t>
            </a:r>
            <a:r>
              <a:rPr lang="en-US" sz="2400" dirty="0" err="1"/>
              <a:t>’</a:t>
            </a:r>
            <a:r>
              <a:rPr lang="en-US" sz="2400" i="1" dirty="0" err="1"/>
              <a:t>y</a:t>
            </a:r>
            <a:r>
              <a:rPr lang="en-US" sz="2400" dirty="0" err="1"/>
              <a:t>’</a:t>
            </a:r>
            <a:r>
              <a:rPr lang="en-US" sz="2400" i="1" dirty="0" err="1"/>
              <a:t>z</a:t>
            </a:r>
            <a:r>
              <a:rPr lang="en-US" sz="2400" dirty="0"/>
              <a:t>’ + </a:t>
            </a:r>
            <a:r>
              <a:rPr lang="en-US" sz="2400" i="1" dirty="0" err="1"/>
              <a:t>wx</a:t>
            </a:r>
            <a:r>
              <a:rPr lang="en-US" sz="2400" dirty="0" err="1"/>
              <a:t>’</a:t>
            </a:r>
            <a:r>
              <a:rPr lang="en-US" sz="2400" i="1" dirty="0" err="1"/>
              <a:t>y</a:t>
            </a:r>
            <a:r>
              <a:rPr lang="en-US" sz="2400" dirty="0" err="1"/>
              <a:t>’</a:t>
            </a:r>
            <a:r>
              <a:rPr lang="en-US" sz="2400" i="1" dirty="0" err="1"/>
              <a:t>z</a:t>
            </a:r>
            <a:r>
              <a:rPr lang="en-US" sz="2400" dirty="0"/>
              <a:t> </a:t>
            </a:r>
            <a:endParaRPr lang="id-ID" sz="2400" dirty="0"/>
          </a:p>
          <a:p>
            <a:endParaRPr lang="id-ID" sz="2400" dirty="0">
              <a:latin typeface="Arial" pitchFamily="34" charset="0"/>
              <a:cs typeface="Arial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400" dirty="0">
                <a:latin typeface="Arial" pitchFamily="34" charset="0"/>
                <a:cs typeface="Arial" pitchFamily="34" charset="0"/>
              </a:rPr>
              <a:t>Sesudah:  </a:t>
            </a:r>
            <a:r>
              <a:rPr lang="en-US" sz="2400" i="1" dirty="0"/>
              <a:t>f</a:t>
            </a:r>
            <a:r>
              <a:rPr lang="en-US" sz="2400" dirty="0"/>
              <a:t>(</a:t>
            </a:r>
            <a:r>
              <a:rPr lang="en-US" sz="2400" i="1" dirty="0"/>
              <a:t>w</a:t>
            </a:r>
            <a:r>
              <a:rPr lang="en-US" sz="2400" dirty="0"/>
              <a:t>, </a:t>
            </a:r>
            <a:r>
              <a:rPr lang="en-US" sz="2400" i="1" dirty="0"/>
              <a:t>x</a:t>
            </a:r>
            <a:r>
              <a:rPr lang="en-US" sz="2400" dirty="0"/>
              <a:t>, </a:t>
            </a:r>
            <a:r>
              <a:rPr lang="en-US" sz="2400" i="1" dirty="0"/>
              <a:t>y</a:t>
            </a:r>
            <a:r>
              <a:rPr lang="en-US" sz="2400" dirty="0"/>
              <a:t>, </a:t>
            </a:r>
            <a:r>
              <a:rPr lang="en-US" sz="2400" i="1" dirty="0"/>
              <a:t>z</a:t>
            </a:r>
            <a:r>
              <a:rPr lang="en-US" sz="2400" dirty="0"/>
              <a:t>) = </a:t>
            </a:r>
            <a:r>
              <a:rPr lang="en-US" sz="2400" i="1" dirty="0" err="1"/>
              <a:t>wy</a:t>
            </a:r>
            <a:r>
              <a:rPr lang="en-US" sz="2400" i="1" dirty="0"/>
              <a:t>’</a:t>
            </a:r>
            <a:endParaRPr lang="id-ID" sz="2400" dirty="0"/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2939" y="428605"/>
            <a:ext cx="9998765" cy="5697559"/>
          </a:xfrm>
        </p:spPr>
        <p:txBody>
          <a:bodyPr/>
          <a:lstStyle/>
          <a:p>
            <a:pPr>
              <a:buNone/>
            </a:pPr>
            <a:r>
              <a:rPr lang="id-ID" b="1" dirty="0"/>
              <a:t>Oktet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22957" y="640023"/>
            <a:ext cx="3986226" cy="3363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183801" y="4279952"/>
            <a:ext cx="7824398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err="1">
                <a:latin typeface="Arial" pitchFamily="34" charset="0"/>
                <a:ea typeface="Times New Roman" pitchFamily="18" charset="0"/>
                <a:cs typeface="Arial" pitchFamily="34" charset="0"/>
              </a:rPr>
              <a:t>Sebelum</a:t>
            </a:r>
            <a:r>
              <a:rPr lang="id-ID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:  </a:t>
            </a:r>
            <a:r>
              <a:rPr lang="en-US" sz="2400" i="1" dirty="0"/>
              <a:t>f</a:t>
            </a:r>
            <a:r>
              <a:rPr lang="en-US" sz="2400" dirty="0"/>
              <a:t>(</a:t>
            </a:r>
            <a:r>
              <a:rPr lang="en-US" sz="2400" i="1" dirty="0"/>
              <a:t>w</a:t>
            </a:r>
            <a:r>
              <a:rPr lang="en-US" sz="2400" dirty="0"/>
              <a:t>, </a:t>
            </a:r>
            <a:r>
              <a:rPr lang="en-US" sz="2400" i="1" dirty="0"/>
              <a:t>x</a:t>
            </a:r>
            <a:r>
              <a:rPr lang="en-US" sz="2400" dirty="0"/>
              <a:t>, </a:t>
            </a:r>
            <a:r>
              <a:rPr lang="en-US" sz="2400" i="1" dirty="0"/>
              <a:t>y</a:t>
            </a:r>
            <a:r>
              <a:rPr lang="en-US" sz="2400" dirty="0"/>
              <a:t>, </a:t>
            </a:r>
            <a:r>
              <a:rPr lang="en-US" sz="2400" i="1" dirty="0"/>
              <a:t>z</a:t>
            </a:r>
            <a:r>
              <a:rPr lang="en-US" sz="2400" dirty="0"/>
              <a:t>) = </a:t>
            </a:r>
            <a:r>
              <a:rPr lang="en-US" sz="2400" i="1" dirty="0" err="1"/>
              <a:t>wxy</a:t>
            </a:r>
            <a:r>
              <a:rPr lang="en-US" sz="2400" dirty="0" err="1"/>
              <a:t>’</a:t>
            </a:r>
            <a:r>
              <a:rPr lang="en-US" sz="2400" i="1" dirty="0" err="1"/>
              <a:t>z</a:t>
            </a:r>
            <a:r>
              <a:rPr lang="en-US" sz="2400" dirty="0"/>
              <a:t>’ + </a:t>
            </a:r>
            <a:r>
              <a:rPr lang="en-US" sz="2400" i="1" dirty="0" err="1"/>
              <a:t>wxy</a:t>
            </a:r>
            <a:r>
              <a:rPr lang="en-US" sz="2400" dirty="0" err="1"/>
              <a:t>’</a:t>
            </a:r>
            <a:r>
              <a:rPr lang="en-US" sz="2400" i="1" dirty="0" err="1"/>
              <a:t>z</a:t>
            </a:r>
            <a:r>
              <a:rPr lang="en-US" sz="2400" dirty="0"/>
              <a:t> + </a:t>
            </a:r>
            <a:r>
              <a:rPr lang="en-US" sz="2400" i="1" dirty="0" err="1"/>
              <a:t>wxyz</a:t>
            </a:r>
            <a:r>
              <a:rPr lang="en-US" sz="2400" dirty="0"/>
              <a:t>’ + </a:t>
            </a:r>
            <a:r>
              <a:rPr lang="en-US" sz="2400" i="1" dirty="0" err="1"/>
              <a:t>wxy</a:t>
            </a:r>
            <a:r>
              <a:rPr lang="en-US" sz="2400" dirty="0" err="1"/>
              <a:t>’</a:t>
            </a:r>
            <a:r>
              <a:rPr lang="en-US" sz="2400" i="1" dirty="0" err="1"/>
              <a:t>z</a:t>
            </a:r>
            <a:r>
              <a:rPr lang="en-US" sz="2400" i="1" dirty="0"/>
              <a:t> + </a:t>
            </a:r>
            <a:endParaRPr lang="id-ID" sz="2400" i="1" dirty="0"/>
          </a:p>
          <a:p>
            <a:r>
              <a:rPr lang="id-ID" sz="2400" i="1" dirty="0"/>
              <a:t>                                            </a:t>
            </a:r>
            <a:r>
              <a:rPr lang="en-US" sz="2400" dirty="0"/>
              <a:t> </a:t>
            </a:r>
            <a:r>
              <a:rPr lang="en-US" sz="2400" i="1" dirty="0" err="1"/>
              <a:t>wx</a:t>
            </a:r>
            <a:r>
              <a:rPr lang="en-US" sz="2400" dirty="0" err="1"/>
              <a:t>’</a:t>
            </a:r>
            <a:r>
              <a:rPr lang="en-US" sz="2400" i="1" dirty="0" err="1"/>
              <a:t>y</a:t>
            </a:r>
            <a:r>
              <a:rPr lang="en-US" sz="2400" dirty="0" err="1"/>
              <a:t>’</a:t>
            </a:r>
            <a:r>
              <a:rPr lang="en-US" sz="2400" i="1" dirty="0" err="1"/>
              <a:t>z</a:t>
            </a:r>
            <a:r>
              <a:rPr lang="en-US" sz="2400" dirty="0"/>
              <a:t>’ + </a:t>
            </a:r>
            <a:r>
              <a:rPr lang="en-US" sz="2400" i="1" dirty="0" err="1"/>
              <a:t>wx</a:t>
            </a:r>
            <a:r>
              <a:rPr lang="en-US" sz="2400" dirty="0" err="1"/>
              <a:t>’</a:t>
            </a:r>
            <a:r>
              <a:rPr lang="en-US" sz="2400" i="1" dirty="0" err="1"/>
              <a:t>y</a:t>
            </a:r>
            <a:r>
              <a:rPr lang="en-US" sz="2400" dirty="0" err="1"/>
              <a:t>’</a:t>
            </a:r>
            <a:r>
              <a:rPr lang="en-US" sz="2400" i="1" dirty="0" err="1"/>
              <a:t>z</a:t>
            </a:r>
            <a:r>
              <a:rPr lang="en-US" sz="2400" dirty="0"/>
              <a:t> + </a:t>
            </a:r>
            <a:r>
              <a:rPr lang="en-US" sz="2400" i="1" dirty="0" err="1"/>
              <a:t>wx</a:t>
            </a:r>
            <a:r>
              <a:rPr lang="en-US" sz="2400" dirty="0" err="1"/>
              <a:t>’</a:t>
            </a:r>
            <a:r>
              <a:rPr lang="en-US" sz="2400" i="1" dirty="0" err="1"/>
              <a:t>yz</a:t>
            </a:r>
            <a:r>
              <a:rPr lang="en-US" sz="2400" dirty="0"/>
              <a:t> + </a:t>
            </a:r>
            <a:r>
              <a:rPr lang="en-US" sz="2400" i="1" dirty="0" err="1"/>
              <a:t>wx</a:t>
            </a:r>
            <a:r>
              <a:rPr lang="en-US" sz="2400" dirty="0" err="1"/>
              <a:t>’</a:t>
            </a:r>
            <a:r>
              <a:rPr lang="en-US" sz="2400" i="1" dirty="0" err="1"/>
              <a:t>yz</a:t>
            </a:r>
            <a:r>
              <a:rPr lang="en-US" sz="2400" dirty="0"/>
              <a:t>’</a:t>
            </a:r>
            <a:endParaRPr lang="id-ID" sz="2400" dirty="0"/>
          </a:p>
          <a:p>
            <a:endParaRPr lang="id-ID" sz="2400" dirty="0">
              <a:latin typeface="Arial" pitchFamily="34" charset="0"/>
              <a:cs typeface="Arial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400" dirty="0">
                <a:latin typeface="Arial" pitchFamily="34" charset="0"/>
                <a:cs typeface="Arial" pitchFamily="34" charset="0"/>
              </a:rPr>
              <a:t>Sesudah:  </a:t>
            </a:r>
            <a:r>
              <a:rPr lang="en-US" sz="2400" i="1" dirty="0"/>
              <a:t>f</a:t>
            </a:r>
            <a:r>
              <a:rPr lang="en-US" sz="2400" dirty="0"/>
              <a:t>(</a:t>
            </a:r>
            <a:r>
              <a:rPr lang="en-US" sz="2400" i="1" dirty="0"/>
              <a:t>w</a:t>
            </a:r>
            <a:r>
              <a:rPr lang="en-US" sz="2400" dirty="0"/>
              <a:t>, </a:t>
            </a:r>
            <a:r>
              <a:rPr lang="en-US" sz="2400" i="1" dirty="0"/>
              <a:t>x</a:t>
            </a:r>
            <a:r>
              <a:rPr lang="en-US" sz="2400" dirty="0"/>
              <a:t>, </a:t>
            </a:r>
            <a:r>
              <a:rPr lang="en-US" sz="2400" i="1" dirty="0"/>
              <a:t>y</a:t>
            </a:r>
            <a:r>
              <a:rPr lang="en-US" sz="2400" dirty="0"/>
              <a:t>, </a:t>
            </a:r>
            <a:r>
              <a:rPr lang="en-US" sz="2400" i="1" dirty="0"/>
              <a:t>z</a:t>
            </a:r>
            <a:r>
              <a:rPr lang="en-US" sz="2400" dirty="0"/>
              <a:t>) = </a:t>
            </a:r>
            <a:r>
              <a:rPr lang="en-US" sz="2400" i="1" dirty="0"/>
              <a:t>w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9" y="428605"/>
            <a:ext cx="10137913" cy="5697559"/>
          </a:xfrm>
        </p:spPr>
        <p:txBody>
          <a:bodyPr/>
          <a:lstStyle/>
          <a:p>
            <a:pPr>
              <a:buNone/>
            </a:pPr>
            <a:r>
              <a:rPr lang="id-ID" b="1" dirty="0"/>
              <a:t>Penggulungan (1)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1981" y="1416933"/>
            <a:ext cx="8788038" cy="381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9" y="428605"/>
            <a:ext cx="10654748" cy="5697559"/>
          </a:xfrm>
        </p:spPr>
        <p:txBody>
          <a:bodyPr/>
          <a:lstStyle/>
          <a:p>
            <a:pPr>
              <a:buNone/>
            </a:pPr>
            <a:r>
              <a:rPr lang="id-ID" b="1" dirty="0"/>
              <a:t>Penggulungan (2)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38479" y="2071677"/>
            <a:ext cx="4975195" cy="25400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952728" y="5000637"/>
            <a:ext cx="5735866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err="1">
                <a:latin typeface="Arial" pitchFamily="34" charset="0"/>
                <a:ea typeface="Times New Roman" pitchFamily="18" charset="0"/>
                <a:cs typeface="Arial" pitchFamily="34" charset="0"/>
              </a:rPr>
              <a:t>Sebelum</a:t>
            </a:r>
            <a:r>
              <a:rPr lang="id-ID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:  </a:t>
            </a:r>
            <a:r>
              <a:rPr lang="en-US" sz="2400" i="1" dirty="0"/>
              <a:t>f</a:t>
            </a:r>
            <a:r>
              <a:rPr lang="en-US" sz="2400" dirty="0"/>
              <a:t>(</a:t>
            </a:r>
            <a:r>
              <a:rPr lang="en-US" sz="2400" i="1" dirty="0"/>
              <a:t>x</a:t>
            </a:r>
            <a:r>
              <a:rPr lang="en-US" sz="2400" dirty="0"/>
              <a:t>, </a:t>
            </a:r>
            <a:r>
              <a:rPr lang="en-US" sz="2400" i="1" dirty="0"/>
              <a:t>y</a:t>
            </a:r>
            <a:r>
              <a:rPr lang="en-US" sz="2400" dirty="0"/>
              <a:t>, </a:t>
            </a:r>
            <a:r>
              <a:rPr lang="en-US" sz="2400" i="1" dirty="0"/>
              <a:t>z</a:t>
            </a:r>
            <a:r>
              <a:rPr lang="en-US" sz="2400" dirty="0"/>
              <a:t>)  = </a:t>
            </a:r>
            <a:r>
              <a:rPr lang="en-US" sz="2400" i="1" dirty="0" err="1"/>
              <a:t>x</a:t>
            </a:r>
            <a:r>
              <a:rPr lang="en-US" sz="2400" dirty="0" err="1"/>
              <a:t>’</a:t>
            </a:r>
            <a:r>
              <a:rPr lang="en-US" sz="2400" i="1" dirty="0" err="1"/>
              <a:t>yz</a:t>
            </a:r>
            <a:r>
              <a:rPr lang="en-US" sz="2400" dirty="0"/>
              <a:t> + </a:t>
            </a:r>
            <a:r>
              <a:rPr lang="en-US" sz="2400" i="1" dirty="0" err="1"/>
              <a:t>xy</a:t>
            </a:r>
            <a:r>
              <a:rPr lang="en-US" sz="2400" dirty="0" err="1"/>
              <a:t>’</a:t>
            </a:r>
            <a:r>
              <a:rPr lang="en-US" sz="2400" i="1" dirty="0" err="1"/>
              <a:t>z</a:t>
            </a:r>
            <a:r>
              <a:rPr lang="en-US" sz="2400" dirty="0"/>
              <a:t>’ + </a:t>
            </a:r>
            <a:r>
              <a:rPr lang="en-US" sz="2400" i="1" dirty="0"/>
              <a:t>xyz</a:t>
            </a:r>
            <a:r>
              <a:rPr lang="en-US" sz="2400" dirty="0"/>
              <a:t> + </a:t>
            </a:r>
            <a:r>
              <a:rPr lang="en-US" sz="2400" i="1" dirty="0"/>
              <a:t>xyz</a:t>
            </a:r>
            <a:r>
              <a:rPr lang="en-US" sz="2400" dirty="0"/>
              <a:t>’</a:t>
            </a:r>
            <a:endParaRPr lang="id-ID" sz="2400" dirty="0"/>
          </a:p>
          <a:p>
            <a:endParaRPr lang="id-ID" sz="2400" dirty="0">
              <a:latin typeface="Arial" pitchFamily="34" charset="0"/>
              <a:cs typeface="Arial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400" dirty="0">
                <a:latin typeface="Arial" pitchFamily="34" charset="0"/>
                <a:cs typeface="Arial" pitchFamily="34" charset="0"/>
              </a:rPr>
              <a:t>Sesudah:  </a:t>
            </a:r>
            <a:r>
              <a:rPr lang="en-US" sz="2400" i="1" dirty="0"/>
              <a:t>f</a:t>
            </a:r>
            <a:r>
              <a:rPr lang="en-US" sz="2400" dirty="0"/>
              <a:t>(</a:t>
            </a:r>
            <a:r>
              <a:rPr lang="en-US" sz="2400" i="1" dirty="0"/>
              <a:t>x</a:t>
            </a:r>
            <a:r>
              <a:rPr lang="en-US" sz="2400" dirty="0"/>
              <a:t>, </a:t>
            </a:r>
            <a:r>
              <a:rPr lang="en-US" sz="2400" i="1" dirty="0"/>
              <a:t>y</a:t>
            </a:r>
            <a:r>
              <a:rPr lang="en-US" sz="2400" dirty="0"/>
              <a:t>, </a:t>
            </a:r>
            <a:r>
              <a:rPr lang="en-US" sz="2400" i="1" dirty="0"/>
              <a:t>z</a:t>
            </a:r>
            <a:r>
              <a:rPr lang="en-US" sz="2400" dirty="0"/>
              <a:t>)  =  </a:t>
            </a:r>
            <a:r>
              <a:rPr lang="en-US" sz="2400" i="1" dirty="0" err="1"/>
              <a:t>yz</a:t>
            </a:r>
            <a:r>
              <a:rPr lang="en-US" sz="2400" dirty="0"/>
              <a:t> + </a:t>
            </a:r>
            <a:r>
              <a:rPr lang="en-US" sz="2400" i="1" dirty="0" err="1"/>
              <a:t>xz</a:t>
            </a:r>
            <a:r>
              <a:rPr lang="en-US" sz="2400" dirty="0"/>
              <a:t>’ 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4513" name="Rectangle 1"/>
          <p:cNvSpPr>
            <a:spLocks noChangeArrowheads="1"/>
          </p:cNvSpPr>
          <p:nvPr/>
        </p:nvSpPr>
        <p:spPr bwMode="auto">
          <a:xfrm>
            <a:off x="1517139" y="1340778"/>
            <a:ext cx="837581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4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Contoh</a:t>
            </a:r>
            <a:r>
              <a:rPr lang="id-ID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: </a:t>
            </a:r>
            <a:r>
              <a:rPr lang="en-US" sz="2400" dirty="0" err="1">
                <a:latin typeface="Arial" pitchFamily="34" charset="0"/>
                <a:ea typeface="Times New Roman" pitchFamily="18" charset="0"/>
                <a:cs typeface="Arial" pitchFamily="34" charset="0"/>
              </a:rPr>
              <a:t>Sederhanakan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400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f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(</a:t>
            </a:r>
            <a:r>
              <a:rPr lang="en-US" sz="2400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x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, </a:t>
            </a:r>
            <a:r>
              <a:rPr lang="en-US" sz="2400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y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, </a:t>
            </a:r>
            <a:r>
              <a:rPr lang="en-US" sz="2400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z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)  = </a:t>
            </a:r>
            <a:r>
              <a:rPr lang="en-US" sz="2400" i="1" dirty="0" err="1">
                <a:latin typeface="Arial" pitchFamily="34" charset="0"/>
                <a:ea typeface="Times New Roman" pitchFamily="18" charset="0"/>
                <a:cs typeface="Arial" pitchFamily="34" charset="0"/>
              </a:rPr>
              <a:t>x</a:t>
            </a:r>
            <a:r>
              <a:rPr lang="en-US" sz="2400" dirty="0" err="1">
                <a:latin typeface="Arial" pitchFamily="34" charset="0"/>
                <a:ea typeface="Times New Roman" pitchFamily="18" charset="0"/>
                <a:cs typeface="Arial" pitchFamily="34" charset="0"/>
              </a:rPr>
              <a:t>’</a:t>
            </a:r>
            <a:r>
              <a:rPr lang="en-US" sz="2400" i="1" dirty="0" err="1">
                <a:latin typeface="Arial" pitchFamily="34" charset="0"/>
                <a:ea typeface="Times New Roman" pitchFamily="18" charset="0"/>
                <a:cs typeface="Arial" pitchFamily="34" charset="0"/>
              </a:rPr>
              <a:t>yz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+ </a:t>
            </a:r>
            <a:r>
              <a:rPr lang="en-US" sz="2400" i="1" dirty="0" err="1">
                <a:latin typeface="Arial" pitchFamily="34" charset="0"/>
                <a:ea typeface="Times New Roman" pitchFamily="18" charset="0"/>
                <a:cs typeface="Arial" pitchFamily="34" charset="0"/>
              </a:rPr>
              <a:t>xy</a:t>
            </a:r>
            <a:r>
              <a:rPr lang="en-US" sz="2400" dirty="0" err="1">
                <a:latin typeface="Arial" pitchFamily="34" charset="0"/>
                <a:ea typeface="Times New Roman" pitchFamily="18" charset="0"/>
                <a:cs typeface="Arial" pitchFamily="34" charset="0"/>
              </a:rPr>
              <a:t>’</a:t>
            </a:r>
            <a:r>
              <a:rPr lang="en-US" sz="2400" i="1" dirty="0" err="1">
                <a:latin typeface="Arial" pitchFamily="34" charset="0"/>
                <a:ea typeface="Times New Roman" pitchFamily="18" charset="0"/>
                <a:cs typeface="Arial" pitchFamily="34" charset="0"/>
              </a:rPr>
              <a:t>z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’ + </a:t>
            </a:r>
            <a:r>
              <a:rPr lang="en-US" sz="2400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xyz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+ </a:t>
            </a:r>
            <a:r>
              <a:rPr lang="en-US" sz="2400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xyz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’. 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130" y="500043"/>
            <a:ext cx="10558670" cy="5626121"/>
          </a:xfrm>
        </p:spPr>
        <p:txBody>
          <a:bodyPr/>
          <a:lstStyle/>
          <a:p>
            <a:pPr>
              <a:buNone/>
            </a:pPr>
            <a:r>
              <a:rPr lang="id-ID" b="1" dirty="0"/>
              <a:t>Ketidakunikan Hasil Penyederhanaan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012107" y="1123069"/>
            <a:ext cx="95291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dirty="0"/>
              <a:t>H</a:t>
            </a:r>
            <a:r>
              <a:rPr lang="en-US" sz="2400" dirty="0" err="1"/>
              <a:t>asil</a:t>
            </a:r>
            <a:r>
              <a:rPr lang="en-US" sz="2400" dirty="0"/>
              <a:t> </a:t>
            </a:r>
            <a:r>
              <a:rPr lang="en-US" sz="2400" dirty="0" err="1"/>
              <a:t>penyederhanaan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peta</a:t>
            </a:r>
            <a:r>
              <a:rPr lang="en-US" sz="2400" dirty="0"/>
              <a:t> </a:t>
            </a:r>
            <a:r>
              <a:rPr lang="en-US" sz="2400" dirty="0" err="1"/>
              <a:t>Karnaugh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selalu</a:t>
            </a:r>
            <a:r>
              <a:rPr lang="en-US" sz="2400" dirty="0"/>
              <a:t> </a:t>
            </a:r>
            <a:r>
              <a:rPr lang="en-US" sz="2400" dirty="0" err="1"/>
              <a:t>unik</a:t>
            </a:r>
            <a:r>
              <a:rPr lang="en-US" sz="2400" dirty="0"/>
              <a:t>. </a:t>
            </a:r>
            <a:endParaRPr lang="id-ID" sz="2400" dirty="0"/>
          </a:p>
          <a:p>
            <a:r>
              <a:rPr lang="en-US" sz="2400" dirty="0" err="1"/>
              <a:t>Artinya</a:t>
            </a:r>
            <a:r>
              <a:rPr lang="en-US" sz="2400" dirty="0"/>
              <a:t>, </a:t>
            </a:r>
            <a:r>
              <a:rPr lang="en-US" sz="2400" dirty="0" err="1"/>
              <a:t>mungkin</a:t>
            </a:r>
            <a:r>
              <a:rPr lang="en-US" sz="2400" dirty="0"/>
              <a:t> </a:t>
            </a:r>
            <a:r>
              <a:rPr lang="en-US" sz="2400" dirty="0" err="1"/>
              <a:t>terdapat</a:t>
            </a:r>
            <a:r>
              <a:rPr lang="en-US" sz="2400" dirty="0"/>
              <a:t> </a:t>
            </a:r>
            <a:r>
              <a:rPr lang="en-US" sz="2400" dirty="0" err="1"/>
              <a:t>beberapa</a:t>
            </a:r>
            <a:r>
              <a:rPr lang="en-US" sz="2400" dirty="0"/>
              <a:t> </a:t>
            </a:r>
            <a:r>
              <a:rPr lang="en-US" sz="2400" dirty="0" err="1"/>
              <a:t>bentuk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</a:t>
            </a:r>
            <a:r>
              <a:rPr lang="en-US" sz="2400" dirty="0" err="1"/>
              <a:t>minimasi</a:t>
            </a:r>
            <a:r>
              <a:rPr lang="en-US" sz="2400" dirty="0"/>
              <a:t> yang </a:t>
            </a:r>
            <a:r>
              <a:rPr lang="en-US" sz="2400" dirty="0" err="1"/>
              <a:t>berbeda</a:t>
            </a:r>
            <a:r>
              <a:rPr lang="en-US" sz="2400" dirty="0"/>
              <a:t> </a:t>
            </a:r>
            <a:endParaRPr lang="id-ID" sz="2400" dirty="0"/>
          </a:p>
          <a:p>
            <a:r>
              <a:rPr lang="en-US" sz="2400" dirty="0" err="1"/>
              <a:t>meskipun</a:t>
            </a:r>
            <a:r>
              <a:rPr lang="en-US" sz="2400" dirty="0"/>
              <a:t> </a:t>
            </a:r>
            <a:r>
              <a:rPr lang="id-ID" sz="2400" dirty="0"/>
              <a:t> </a:t>
            </a:r>
            <a:r>
              <a:rPr lang="en-US" sz="2400" dirty="0" err="1"/>
              <a:t>jumlah</a:t>
            </a:r>
            <a:r>
              <a:rPr lang="en-US" sz="2400" dirty="0"/>
              <a:t> literal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jumlah</a:t>
            </a:r>
            <a:r>
              <a:rPr lang="en-US" sz="2400" dirty="0"/>
              <a:t> </a:t>
            </a:r>
            <a:r>
              <a:rPr lang="en-US" sz="2400" i="1" dirty="0"/>
              <a:t>term</a:t>
            </a:r>
            <a:r>
              <a:rPr lang="en-US" sz="2400" dirty="0"/>
              <a:t>-</a:t>
            </a:r>
            <a:r>
              <a:rPr lang="en-US" sz="2400" dirty="0" err="1"/>
              <a:t>nya</a:t>
            </a:r>
            <a:r>
              <a:rPr lang="en-US" sz="2400" dirty="0"/>
              <a:t> </a:t>
            </a:r>
            <a:r>
              <a:rPr lang="en-US" sz="2400" dirty="0" err="1"/>
              <a:t>sama</a:t>
            </a:r>
            <a:endParaRPr lang="id-ID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2400299"/>
            <a:ext cx="3829050" cy="33242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1225" y="2377597"/>
            <a:ext cx="3714750" cy="3343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21473" y="5685222"/>
            <a:ext cx="39672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</a:t>
            </a:r>
            <a:r>
              <a:rPr lang="en-US" dirty="0" err="1"/>
              <a:t>w,x,y,z</a:t>
            </a:r>
            <a:r>
              <a:rPr lang="en-US" dirty="0"/>
              <a:t>) = </a:t>
            </a:r>
            <a:r>
              <a:rPr lang="en-US" dirty="0" err="1"/>
              <a:t>w’x’y</a:t>
            </a:r>
            <a:r>
              <a:rPr lang="en-US" dirty="0"/>
              <a:t> + </a:t>
            </a:r>
            <a:r>
              <a:rPr lang="en-US" dirty="0" err="1"/>
              <a:t>w’xy’z</a:t>
            </a:r>
            <a:r>
              <a:rPr lang="en-US" dirty="0"/>
              <a:t> + </a:t>
            </a:r>
            <a:r>
              <a:rPr lang="en-US" dirty="0" err="1"/>
              <a:t>wxy</a:t>
            </a:r>
            <a:r>
              <a:rPr lang="en-US" dirty="0"/>
              <a:t> + </a:t>
            </a:r>
            <a:r>
              <a:rPr lang="en-US" dirty="0" err="1"/>
              <a:t>wy’z</a:t>
            </a:r>
            <a:r>
              <a:rPr lang="en-US" dirty="0"/>
              <a:t>’ +</a:t>
            </a:r>
          </a:p>
          <a:p>
            <a:r>
              <a:rPr lang="en-US" dirty="0"/>
              <a:t>                   </a:t>
            </a:r>
            <a:r>
              <a:rPr lang="en-US" dirty="0" err="1"/>
              <a:t>wx’z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310518" y="5697621"/>
            <a:ext cx="4114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f(</a:t>
            </a:r>
            <a:r>
              <a:rPr lang="en-US" dirty="0" err="1"/>
              <a:t>w,x,y,z</a:t>
            </a:r>
            <a:r>
              <a:rPr lang="en-US" dirty="0"/>
              <a:t>) = </a:t>
            </a:r>
            <a:r>
              <a:rPr lang="en-US" dirty="0" err="1"/>
              <a:t>w’x’y</a:t>
            </a:r>
            <a:r>
              <a:rPr lang="en-US" dirty="0"/>
              <a:t> + </a:t>
            </a:r>
            <a:r>
              <a:rPr lang="en-US" dirty="0" err="1"/>
              <a:t>w’xy’z</a:t>
            </a:r>
            <a:r>
              <a:rPr lang="en-US" dirty="0"/>
              <a:t> + </a:t>
            </a:r>
            <a:r>
              <a:rPr lang="en-US" dirty="0" err="1"/>
              <a:t>wxz</a:t>
            </a:r>
            <a:r>
              <a:rPr lang="en-US" dirty="0"/>
              <a:t>’ + </a:t>
            </a:r>
            <a:r>
              <a:rPr lang="en-US" dirty="0" err="1"/>
              <a:t>wyz</a:t>
            </a:r>
            <a:r>
              <a:rPr lang="en-US" dirty="0"/>
              <a:t> +</a:t>
            </a:r>
          </a:p>
          <a:p>
            <a:r>
              <a:rPr lang="en-US" dirty="0"/>
              <a:t>                   </a:t>
            </a:r>
            <a:r>
              <a:rPr lang="en-US" dirty="0" err="1"/>
              <a:t>wx’y</a:t>
            </a:r>
            <a:r>
              <a:rPr lang="en-US" dirty="0"/>
              <a:t>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9122" cy="1325563"/>
          </a:xfrm>
        </p:spPr>
        <p:txBody>
          <a:bodyPr>
            <a:normAutofit/>
          </a:bodyPr>
          <a:lstStyle/>
          <a:p>
            <a:r>
              <a:rPr lang="id-ID" dirty="0"/>
              <a:t>Tips menyederhanakan dengan Peta Karnaugh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Kelompokkan</a:t>
            </a:r>
            <a:r>
              <a:rPr lang="en-US" dirty="0"/>
              <a:t> 1 yang </a:t>
            </a:r>
            <a:r>
              <a:rPr lang="en-US" dirty="0" err="1"/>
              <a:t>bertetangga</a:t>
            </a:r>
            <a:r>
              <a:rPr lang="en-US" dirty="0"/>
              <a:t> </a:t>
            </a:r>
            <a:r>
              <a:rPr lang="en-US" dirty="0" err="1"/>
              <a:t>sebanyak</a:t>
            </a:r>
            <a:r>
              <a:rPr lang="en-US" dirty="0"/>
              <a:t> </a:t>
            </a:r>
            <a:r>
              <a:rPr lang="en-US" dirty="0" err="1"/>
              <a:t>mungkin</a:t>
            </a:r>
            <a:endParaRPr lang="id-ID" dirty="0"/>
          </a:p>
          <a:p>
            <a:endParaRPr lang="id-ID" dirty="0"/>
          </a:p>
          <a:p>
            <a:r>
              <a:rPr lang="id-ID" dirty="0"/>
              <a:t>D</a:t>
            </a:r>
            <a:r>
              <a:rPr lang="en-US" dirty="0" err="1"/>
              <a:t>imulai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/>
              <a:t>oktet</a:t>
            </a:r>
            <a:r>
              <a:rPr lang="en-US" dirty="0"/>
              <a:t> </a:t>
            </a:r>
            <a:r>
              <a:rPr lang="en-US" dirty="0" err="1"/>
              <a:t>sebanyak-banyaknya</a:t>
            </a:r>
            <a:r>
              <a:rPr lang="en-US" dirty="0"/>
              <a:t>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r>
              <a:rPr lang="en-US" dirty="0"/>
              <a:t>,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kuad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terakhir</a:t>
            </a:r>
            <a:r>
              <a:rPr lang="en-US" dirty="0"/>
              <a:t> </a:t>
            </a:r>
            <a:r>
              <a:rPr lang="en-US" dirty="0" err="1"/>
              <a:t>pasangan</a:t>
            </a:r>
            <a:r>
              <a:rPr lang="en-US" dirty="0"/>
              <a:t>. </a:t>
            </a:r>
            <a:endParaRPr lang="id-ID" dirty="0"/>
          </a:p>
          <a:p>
            <a:endParaRPr lang="id-ID" dirty="0"/>
          </a:p>
          <a:p>
            <a:endParaRPr lang="id-ID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Contoh minimisasi 1: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23071" y="1585898"/>
            <a:ext cx="3838172" cy="3294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2526946" y="5130253"/>
            <a:ext cx="844585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/>
              <a:t>H</a:t>
            </a:r>
            <a:r>
              <a:rPr lang="en-US" sz="2800" dirty="0" err="1"/>
              <a:t>asil</a:t>
            </a:r>
            <a:r>
              <a:rPr lang="en-US" sz="2800" dirty="0"/>
              <a:t> </a:t>
            </a:r>
            <a:r>
              <a:rPr lang="en-US" sz="2800" dirty="0" err="1"/>
              <a:t>penyederhanaan</a:t>
            </a:r>
            <a:r>
              <a:rPr lang="id-ID" sz="2800" dirty="0"/>
              <a:t>:</a:t>
            </a:r>
            <a:r>
              <a:rPr lang="en-US" sz="2800" dirty="0"/>
              <a:t>  </a:t>
            </a:r>
            <a:r>
              <a:rPr lang="en-US" sz="2800" i="1" dirty="0"/>
              <a:t>f</a:t>
            </a:r>
            <a:r>
              <a:rPr lang="en-US" sz="2800" dirty="0"/>
              <a:t>(</a:t>
            </a:r>
            <a:r>
              <a:rPr lang="en-US" sz="2800" i="1" dirty="0"/>
              <a:t>w</a:t>
            </a:r>
            <a:r>
              <a:rPr lang="en-US" sz="2800" dirty="0"/>
              <a:t>, </a:t>
            </a:r>
            <a:r>
              <a:rPr lang="en-US" sz="2800" i="1" dirty="0"/>
              <a:t>x</a:t>
            </a:r>
            <a:r>
              <a:rPr lang="en-US" sz="2800" dirty="0"/>
              <a:t>, </a:t>
            </a:r>
            <a:r>
              <a:rPr lang="en-US" sz="2800" i="1" dirty="0"/>
              <a:t>y</a:t>
            </a:r>
            <a:r>
              <a:rPr lang="en-US" sz="2800" dirty="0"/>
              <a:t>, </a:t>
            </a:r>
            <a:r>
              <a:rPr lang="en-US" sz="2800" i="1" dirty="0"/>
              <a:t>z</a:t>
            </a:r>
            <a:r>
              <a:rPr lang="en-US" sz="2800" dirty="0"/>
              <a:t>) = </a:t>
            </a:r>
            <a:r>
              <a:rPr lang="en-US" sz="2800" i="1" dirty="0" err="1"/>
              <a:t>wy</a:t>
            </a:r>
            <a:r>
              <a:rPr lang="en-US" sz="2800" dirty="0"/>
              <a:t>’ + </a:t>
            </a:r>
            <a:r>
              <a:rPr lang="en-US" sz="2800" i="1" dirty="0" err="1"/>
              <a:t>yz</a:t>
            </a:r>
            <a:r>
              <a:rPr lang="en-US" sz="2800" dirty="0"/>
              <a:t>’ + </a:t>
            </a:r>
            <a:r>
              <a:rPr lang="en-US" sz="2800" i="1" dirty="0" err="1"/>
              <a:t>w</a:t>
            </a:r>
            <a:r>
              <a:rPr lang="en-US" sz="2800" dirty="0" err="1"/>
              <a:t>’</a:t>
            </a:r>
            <a:r>
              <a:rPr lang="en-US" sz="2800" i="1" dirty="0" err="1"/>
              <a:t>x</a:t>
            </a:r>
            <a:r>
              <a:rPr lang="en-US" sz="2800" dirty="0" err="1"/>
              <a:t>’</a:t>
            </a:r>
            <a:r>
              <a:rPr lang="en-US" sz="2800" i="1" dirty="0" err="1"/>
              <a:t>z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Contoh minimisasi 2: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90731" y="1631526"/>
            <a:ext cx="4191000" cy="3594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2289164" y="5349867"/>
            <a:ext cx="739676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/>
              <a:t>H</a:t>
            </a:r>
            <a:r>
              <a:rPr lang="en-US" sz="2800" dirty="0" err="1"/>
              <a:t>asil</a:t>
            </a:r>
            <a:r>
              <a:rPr lang="en-US" sz="2800" dirty="0"/>
              <a:t> </a:t>
            </a:r>
            <a:r>
              <a:rPr lang="en-US" sz="2800" dirty="0" err="1"/>
              <a:t>penyederhanaan</a:t>
            </a:r>
            <a:r>
              <a:rPr lang="id-ID" sz="2800" dirty="0"/>
              <a:t>:</a:t>
            </a:r>
            <a:r>
              <a:rPr lang="en-US" sz="2800" dirty="0"/>
              <a:t> </a:t>
            </a:r>
            <a:r>
              <a:rPr lang="en-US" sz="2800" i="1" dirty="0"/>
              <a:t>f</a:t>
            </a:r>
            <a:r>
              <a:rPr lang="en-US" sz="2800" dirty="0"/>
              <a:t>(</a:t>
            </a:r>
            <a:r>
              <a:rPr lang="en-US" sz="2800" i="1" dirty="0"/>
              <a:t>w</a:t>
            </a:r>
            <a:r>
              <a:rPr lang="en-US" sz="2800" dirty="0"/>
              <a:t>, </a:t>
            </a:r>
            <a:r>
              <a:rPr lang="en-US" sz="2800" i="1" dirty="0"/>
              <a:t>x</a:t>
            </a:r>
            <a:r>
              <a:rPr lang="en-US" sz="2800" dirty="0"/>
              <a:t>, </a:t>
            </a:r>
            <a:r>
              <a:rPr lang="en-US" sz="2800" i="1" dirty="0"/>
              <a:t>y</a:t>
            </a:r>
            <a:r>
              <a:rPr lang="en-US" sz="2800" dirty="0"/>
              <a:t>, </a:t>
            </a:r>
            <a:r>
              <a:rPr lang="en-US" sz="2800" i="1" dirty="0"/>
              <a:t>z</a:t>
            </a:r>
            <a:r>
              <a:rPr lang="en-US" sz="2800" dirty="0"/>
              <a:t>) = </a:t>
            </a:r>
            <a:r>
              <a:rPr lang="en-US" sz="2800" i="1" dirty="0"/>
              <a:t>z</a:t>
            </a:r>
            <a:r>
              <a:rPr lang="en-US" sz="2800" dirty="0"/>
              <a:t> + </a:t>
            </a:r>
            <a:r>
              <a:rPr lang="en-US" sz="2800" i="1" dirty="0" err="1"/>
              <a:t>xy</a:t>
            </a:r>
            <a:r>
              <a:rPr lang="en-US" sz="2800" dirty="0"/>
              <a:t> + </a:t>
            </a:r>
            <a:r>
              <a:rPr lang="en-US" sz="2800" i="1" dirty="0" err="1"/>
              <a:t>wx</a:t>
            </a:r>
            <a:r>
              <a:rPr lang="en-US" sz="2800" dirty="0" err="1"/>
              <a:t>’</a:t>
            </a:r>
            <a:r>
              <a:rPr lang="en-US" sz="2800" i="1" dirty="0" err="1"/>
              <a:t>y</a:t>
            </a:r>
            <a:r>
              <a:rPr lang="en-US" sz="2800" dirty="0"/>
              <a:t>’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Contoh minimisasi 3: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599930" y="5239092"/>
            <a:ext cx="837831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800" dirty="0"/>
              <a:t>H</a:t>
            </a:r>
            <a:r>
              <a:rPr lang="en-US" sz="2800" dirty="0" err="1"/>
              <a:t>asil</a:t>
            </a:r>
            <a:r>
              <a:rPr lang="en-US" sz="2800" dirty="0"/>
              <a:t> </a:t>
            </a:r>
            <a:r>
              <a:rPr lang="en-US" sz="2800" dirty="0" err="1"/>
              <a:t>penyederhanaan</a:t>
            </a:r>
            <a:r>
              <a:rPr lang="id-ID" sz="2800" dirty="0"/>
              <a:t>:</a:t>
            </a:r>
            <a:r>
              <a:rPr lang="en-US" sz="2800" dirty="0"/>
              <a:t> </a:t>
            </a:r>
            <a:r>
              <a:rPr lang="en-US" sz="2800" i="1" dirty="0"/>
              <a:t>f</a:t>
            </a:r>
            <a:r>
              <a:rPr lang="en-US" sz="2800" dirty="0"/>
              <a:t>(</a:t>
            </a:r>
            <a:r>
              <a:rPr lang="en-US" sz="2800" i="1" dirty="0"/>
              <a:t>w</a:t>
            </a:r>
            <a:r>
              <a:rPr lang="en-US" sz="2800" dirty="0"/>
              <a:t>, </a:t>
            </a:r>
            <a:r>
              <a:rPr lang="en-US" sz="2800" i="1" dirty="0"/>
              <a:t>x</a:t>
            </a:r>
            <a:r>
              <a:rPr lang="en-US" sz="2800" dirty="0"/>
              <a:t>, </a:t>
            </a:r>
            <a:r>
              <a:rPr lang="en-US" sz="2800" i="1" dirty="0"/>
              <a:t>y</a:t>
            </a:r>
            <a:r>
              <a:rPr lang="en-US" sz="2800" dirty="0"/>
              <a:t>, </a:t>
            </a:r>
            <a:r>
              <a:rPr lang="en-US" sz="2800" i="1" dirty="0"/>
              <a:t>z</a:t>
            </a:r>
            <a:r>
              <a:rPr lang="en-US" sz="2800" dirty="0"/>
              <a:t>)  =  </a:t>
            </a:r>
            <a:r>
              <a:rPr lang="en-US" sz="2800" i="1" dirty="0" err="1"/>
              <a:t>wx</a:t>
            </a:r>
            <a:r>
              <a:rPr lang="en-US" sz="2800" dirty="0"/>
              <a:t> + </a:t>
            </a:r>
            <a:r>
              <a:rPr lang="en-US" sz="2800" i="1" dirty="0" err="1"/>
              <a:t>wz</a:t>
            </a:r>
            <a:r>
              <a:rPr lang="en-US" sz="2800" dirty="0"/>
              <a:t> + </a:t>
            </a:r>
            <a:r>
              <a:rPr lang="en-US" sz="2800" i="1" dirty="0" err="1"/>
              <a:t>wy</a:t>
            </a:r>
            <a:r>
              <a:rPr lang="en-US" sz="2800" dirty="0"/>
              <a:t> + </a:t>
            </a:r>
            <a:r>
              <a:rPr lang="en-US" sz="2800" i="1" dirty="0"/>
              <a:t>xyz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22385" y="1644658"/>
            <a:ext cx="4140075" cy="3548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Contoh minimisasi 4: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5836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12249" y="1809745"/>
            <a:ext cx="8339104" cy="4427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69411" y="316508"/>
            <a:ext cx="6566476" cy="6039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Contoh minimisasi </a:t>
            </a:r>
            <a:r>
              <a:rPr lang="en-US" dirty="0"/>
              <a:t>5</a:t>
            </a:r>
            <a:r>
              <a:rPr lang="id-ID" dirty="0"/>
              <a:t>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0657" name="Rectangle 1"/>
          <p:cNvSpPr>
            <a:spLocks noChangeArrowheads="1"/>
          </p:cNvSpPr>
          <p:nvPr/>
        </p:nvSpPr>
        <p:spPr bwMode="auto">
          <a:xfrm>
            <a:off x="2452663" y="1500175"/>
            <a:ext cx="745428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 err="1">
                <a:latin typeface="Arial" pitchFamily="34" charset="0"/>
                <a:ea typeface="Times New Roman" pitchFamily="18" charset="0"/>
                <a:cs typeface="Arial" pitchFamily="34" charset="0"/>
              </a:rPr>
              <a:t>Minimisasi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ea typeface="Times New Roman" pitchFamily="18" charset="0"/>
                <a:cs typeface="Arial" pitchFamily="34" charset="0"/>
              </a:rPr>
              <a:t>fungsi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Boolean </a:t>
            </a:r>
            <a:r>
              <a:rPr lang="en-US" sz="2400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f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(</a:t>
            </a:r>
            <a:r>
              <a:rPr lang="en-US" sz="2400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x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, </a:t>
            </a:r>
            <a:r>
              <a:rPr lang="en-US" sz="2400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y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, </a:t>
            </a:r>
            <a:r>
              <a:rPr lang="en-US" sz="2400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z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)  =  </a:t>
            </a:r>
            <a:r>
              <a:rPr lang="en-US" sz="2400" dirty="0">
                <a:latin typeface="Times New Roman" pitchFamily="18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</a:t>
            </a:r>
            <a:r>
              <a:rPr lang="en-US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(0, 2, 4, 5, 6)</a:t>
            </a:r>
            <a:endParaRPr lang="en-US" sz="2400" dirty="0">
              <a:latin typeface="Times New Roman" pitchFamily="18" charset="0"/>
              <a:ea typeface="Times New Roman" pitchFamily="18" charset="0"/>
              <a:cs typeface="Arial" pitchFamily="34" charset="0"/>
              <a:sym typeface="Symbol" pitchFamily="18" charset="2"/>
            </a:endParaRPr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52663" y="2285992"/>
            <a:ext cx="7400537" cy="3799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Contoh minimisasi </a:t>
            </a:r>
            <a:r>
              <a:rPr lang="en-US" dirty="0"/>
              <a:t>6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2939" y="1600200"/>
            <a:ext cx="9750287" cy="468632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dirty="0" err="1"/>
              <a:t>Minimisasi</a:t>
            </a:r>
            <a:r>
              <a:rPr lang="en-US" sz="2400" dirty="0"/>
              <a:t> </a:t>
            </a:r>
            <a:r>
              <a:rPr lang="id-ID" sz="2400" dirty="0"/>
              <a:t> </a:t>
            </a:r>
            <a:r>
              <a:rPr lang="en-US" sz="2400" i="1" dirty="0"/>
              <a:t>f</a:t>
            </a:r>
            <a:r>
              <a:rPr lang="en-US" sz="2400" dirty="0"/>
              <a:t>(</a:t>
            </a:r>
            <a:r>
              <a:rPr lang="en-US" sz="2400" i="1" dirty="0"/>
              <a:t>w</a:t>
            </a:r>
            <a:r>
              <a:rPr lang="en-US" sz="2400" dirty="0"/>
              <a:t>, </a:t>
            </a:r>
            <a:r>
              <a:rPr lang="en-US" sz="2400" i="1" dirty="0"/>
              <a:t>x</a:t>
            </a:r>
            <a:r>
              <a:rPr lang="en-US" sz="2400" dirty="0"/>
              <a:t>, </a:t>
            </a:r>
            <a:r>
              <a:rPr lang="en-US" sz="2400" i="1" dirty="0"/>
              <a:t>y</a:t>
            </a:r>
            <a:r>
              <a:rPr lang="en-US" sz="2400" dirty="0"/>
              <a:t>, </a:t>
            </a:r>
            <a:r>
              <a:rPr lang="en-US" sz="2400" i="1" dirty="0"/>
              <a:t>z</a:t>
            </a:r>
            <a:r>
              <a:rPr lang="en-US" sz="2400" dirty="0"/>
              <a:t>)  =  </a:t>
            </a:r>
            <a:r>
              <a:rPr lang="en-US" sz="2400" i="1" dirty="0" err="1"/>
              <a:t>w</a:t>
            </a:r>
            <a:r>
              <a:rPr lang="en-US" sz="2400" dirty="0" err="1"/>
              <a:t>’</a:t>
            </a:r>
            <a:r>
              <a:rPr lang="en-US" sz="2400" i="1" dirty="0" err="1"/>
              <a:t>x</a:t>
            </a:r>
            <a:r>
              <a:rPr lang="en-US" sz="2400" dirty="0" err="1"/>
              <a:t>’</a:t>
            </a:r>
            <a:r>
              <a:rPr lang="en-US" sz="2400" i="1" dirty="0" err="1"/>
              <a:t>y</a:t>
            </a:r>
            <a:r>
              <a:rPr lang="en-US" sz="2400" dirty="0"/>
              <a:t>’ + </a:t>
            </a:r>
            <a:r>
              <a:rPr lang="en-US" sz="2400" i="1" dirty="0" err="1"/>
              <a:t>x</a:t>
            </a:r>
            <a:r>
              <a:rPr lang="en-US" sz="2400" dirty="0" err="1"/>
              <a:t>’</a:t>
            </a:r>
            <a:r>
              <a:rPr lang="en-US" sz="2400" i="1" dirty="0" err="1"/>
              <a:t>yz</a:t>
            </a:r>
            <a:r>
              <a:rPr lang="en-US" sz="2400" dirty="0"/>
              <a:t>’ + </a:t>
            </a:r>
            <a:r>
              <a:rPr lang="en-US" sz="2400" i="1" dirty="0" err="1"/>
              <a:t>w</a:t>
            </a:r>
            <a:r>
              <a:rPr lang="en-US" sz="2400" dirty="0" err="1"/>
              <a:t>’</a:t>
            </a:r>
            <a:r>
              <a:rPr lang="en-US" sz="2400" i="1" dirty="0" err="1"/>
              <a:t>xyz</a:t>
            </a:r>
            <a:r>
              <a:rPr lang="en-US" sz="2400" dirty="0"/>
              <a:t>’ + </a:t>
            </a:r>
            <a:r>
              <a:rPr lang="en-US" sz="2400" i="1" dirty="0" err="1"/>
              <a:t>wx</a:t>
            </a:r>
            <a:r>
              <a:rPr lang="en-US" sz="2400" dirty="0" err="1"/>
              <a:t>’</a:t>
            </a:r>
            <a:r>
              <a:rPr lang="en-US" sz="2400" i="1" dirty="0" err="1"/>
              <a:t>y</a:t>
            </a:r>
            <a:r>
              <a:rPr lang="en-US" sz="2400" dirty="0"/>
              <a:t>’</a:t>
            </a:r>
            <a:endParaRPr lang="id-ID" sz="2400" dirty="0"/>
          </a:p>
          <a:p>
            <a:pPr>
              <a:buNone/>
            </a:pPr>
            <a:r>
              <a:rPr lang="en-US" sz="2400" u="sng" dirty="0" err="1"/>
              <a:t>Penyelesaian</a:t>
            </a:r>
            <a:r>
              <a:rPr lang="en-US" sz="2400" dirty="0"/>
              <a:t>: </a:t>
            </a:r>
            <a:endParaRPr lang="id-ID" sz="2400" dirty="0"/>
          </a:p>
          <a:p>
            <a:pPr>
              <a:buNone/>
            </a:pPr>
            <a:endParaRPr lang="id-ID" sz="2400" dirty="0"/>
          </a:p>
          <a:p>
            <a:pPr>
              <a:buNone/>
            </a:pPr>
            <a:endParaRPr lang="id-ID" sz="2400" dirty="0"/>
          </a:p>
          <a:p>
            <a:pPr>
              <a:buNone/>
            </a:pPr>
            <a:endParaRPr lang="id-ID" sz="2400" dirty="0"/>
          </a:p>
          <a:p>
            <a:pPr>
              <a:buNone/>
            </a:pPr>
            <a:endParaRPr lang="id-ID" sz="2400" dirty="0"/>
          </a:p>
          <a:p>
            <a:pPr>
              <a:buNone/>
            </a:pPr>
            <a:endParaRPr lang="id-ID" sz="2400" dirty="0"/>
          </a:p>
          <a:p>
            <a:pPr>
              <a:buNone/>
            </a:pPr>
            <a:endParaRPr lang="id-ID" sz="2400" dirty="0"/>
          </a:p>
          <a:p>
            <a:pPr>
              <a:buNone/>
            </a:pPr>
            <a:endParaRPr lang="id-ID" sz="2400" dirty="0"/>
          </a:p>
          <a:p>
            <a:pPr>
              <a:buNone/>
            </a:pPr>
            <a:endParaRPr lang="id-ID" sz="2400" dirty="0"/>
          </a:p>
          <a:p>
            <a:pPr>
              <a:buNone/>
            </a:pPr>
            <a:r>
              <a:rPr lang="en-US" sz="2400" dirty="0" err="1"/>
              <a:t>Hasil</a:t>
            </a:r>
            <a:r>
              <a:rPr lang="en-US" sz="2400" dirty="0"/>
              <a:t> </a:t>
            </a:r>
            <a:r>
              <a:rPr lang="en-US" sz="2400" dirty="0" err="1"/>
              <a:t>penyederhanaan</a:t>
            </a:r>
            <a:r>
              <a:rPr lang="en-US" sz="2400" dirty="0"/>
              <a:t>:</a:t>
            </a:r>
            <a:r>
              <a:rPr lang="id-ID" sz="2400" dirty="0"/>
              <a:t> </a:t>
            </a:r>
            <a:r>
              <a:rPr lang="en-US" sz="2400" i="1" dirty="0"/>
              <a:t>f</a:t>
            </a:r>
            <a:r>
              <a:rPr lang="en-US" sz="2400" dirty="0"/>
              <a:t>(</a:t>
            </a:r>
            <a:r>
              <a:rPr lang="en-US" sz="2400" i="1" dirty="0"/>
              <a:t>w</a:t>
            </a:r>
            <a:r>
              <a:rPr lang="en-US" sz="2400" dirty="0"/>
              <a:t>, </a:t>
            </a:r>
            <a:r>
              <a:rPr lang="en-US" sz="2400" i="1" dirty="0"/>
              <a:t>x</a:t>
            </a:r>
            <a:r>
              <a:rPr lang="en-US" sz="2400" dirty="0"/>
              <a:t>, </a:t>
            </a:r>
            <a:r>
              <a:rPr lang="en-US" sz="2400" i="1" dirty="0"/>
              <a:t>y</a:t>
            </a:r>
            <a:r>
              <a:rPr lang="en-US" sz="2400" dirty="0"/>
              <a:t>, </a:t>
            </a:r>
            <a:r>
              <a:rPr lang="en-US" sz="2400" i="1" dirty="0"/>
              <a:t>z</a:t>
            </a:r>
            <a:r>
              <a:rPr lang="en-US" sz="2400" dirty="0"/>
              <a:t>)  =  </a:t>
            </a:r>
            <a:r>
              <a:rPr lang="en-US" sz="2400" i="1" dirty="0" err="1"/>
              <a:t>x</a:t>
            </a:r>
            <a:r>
              <a:rPr lang="en-US" sz="2400" dirty="0" err="1"/>
              <a:t>’</a:t>
            </a:r>
            <a:r>
              <a:rPr lang="en-US" sz="2400" i="1" dirty="0" err="1"/>
              <a:t>y</a:t>
            </a:r>
            <a:r>
              <a:rPr lang="en-US" sz="2400" dirty="0"/>
              <a:t>’ + </a:t>
            </a:r>
            <a:r>
              <a:rPr lang="en-US" sz="2400" i="1" dirty="0" err="1"/>
              <a:t>x</a:t>
            </a:r>
            <a:r>
              <a:rPr lang="en-US" sz="2400" dirty="0" err="1"/>
              <a:t>’</a:t>
            </a:r>
            <a:r>
              <a:rPr lang="en-US" sz="2400" i="1" dirty="0" err="1"/>
              <a:t>z</a:t>
            </a:r>
            <a:r>
              <a:rPr lang="en-US" sz="2400" dirty="0"/>
              <a:t>’ + </a:t>
            </a:r>
            <a:r>
              <a:rPr lang="en-US" sz="2400" i="1" dirty="0" err="1"/>
              <a:t>w</a:t>
            </a:r>
            <a:r>
              <a:rPr lang="en-US" sz="2400" dirty="0" err="1"/>
              <a:t>’</a:t>
            </a:r>
            <a:r>
              <a:rPr lang="en-US" sz="2400" i="1" dirty="0" err="1"/>
              <a:t>yz</a:t>
            </a:r>
            <a:r>
              <a:rPr lang="en-US" sz="2400" dirty="0"/>
              <a:t>’</a:t>
            </a:r>
            <a:endParaRPr lang="id-ID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graphicFrame>
        <p:nvGraphicFramePr>
          <p:cNvPr id="71681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1386521"/>
              </p:ext>
            </p:extLst>
          </p:nvPr>
        </p:nvGraphicFramePr>
        <p:xfrm>
          <a:off x="3278862" y="2255033"/>
          <a:ext cx="3857433" cy="3329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81784" imgH="1795272" progId="Visio.Drawing.5">
                  <p:embed/>
                </p:oleObj>
              </mc:Choice>
              <mc:Fallback>
                <p:oleObj r:id="rId2" imgW="2081784" imgH="1795272" progId="Visio.Drawing.5">
                  <p:embed/>
                  <p:pic>
                    <p:nvPicPr>
                      <p:cNvPr id="7168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8862" y="2255033"/>
                        <a:ext cx="3857433" cy="33290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Contoh minimisasi </a:t>
            </a:r>
            <a:r>
              <a:rPr lang="en-US" dirty="0"/>
              <a:t>7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2817" y="1357298"/>
            <a:ext cx="9879496" cy="492922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dirty="0" err="1"/>
              <a:t>Minimisasi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Boolean </a:t>
            </a:r>
            <a:r>
              <a:rPr lang="en-US" sz="2400" i="1" dirty="0"/>
              <a:t>f</a:t>
            </a:r>
            <a:r>
              <a:rPr lang="en-US" sz="2400" dirty="0"/>
              <a:t>(</a:t>
            </a:r>
            <a:r>
              <a:rPr lang="en-US" sz="2400" i="1" dirty="0"/>
              <a:t>w</a:t>
            </a:r>
            <a:r>
              <a:rPr lang="en-US" sz="2400" dirty="0"/>
              <a:t>, </a:t>
            </a:r>
            <a:r>
              <a:rPr lang="en-US" sz="2400" i="1" dirty="0"/>
              <a:t>x</a:t>
            </a:r>
            <a:r>
              <a:rPr lang="en-US" sz="2400" dirty="0"/>
              <a:t>, </a:t>
            </a:r>
            <a:r>
              <a:rPr lang="en-US" sz="2400" i="1" dirty="0"/>
              <a:t>y</a:t>
            </a:r>
            <a:r>
              <a:rPr lang="en-US" sz="2400" dirty="0"/>
              <a:t>, </a:t>
            </a:r>
            <a:r>
              <a:rPr lang="en-US" sz="2400" i="1" dirty="0"/>
              <a:t>z</a:t>
            </a:r>
            <a:r>
              <a:rPr lang="en-US" sz="2400" dirty="0"/>
              <a:t>)  =  </a:t>
            </a:r>
            <a:r>
              <a:rPr lang="en-US" sz="2400" dirty="0">
                <a:sym typeface="Symbol"/>
              </a:rPr>
              <a:t></a:t>
            </a:r>
            <a:r>
              <a:rPr lang="en-US" sz="2400" dirty="0"/>
              <a:t> (0,1,2,4,5,6,8,9,12,13,14)</a:t>
            </a:r>
            <a:endParaRPr lang="id-ID" sz="2400" dirty="0"/>
          </a:p>
          <a:p>
            <a:pPr>
              <a:buNone/>
            </a:pPr>
            <a:r>
              <a:rPr lang="en-US" sz="2400" u="sng" dirty="0" err="1"/>
              <a:t>Penyelesaian</a:t>
            </a:r>
            <a:r>
              <a:rPr lang="en-US" sz="2400" dirty="0"/>
              <a:t>: </a:t>
            </a:r>
            <a:endParaRPr lang="id-ID" sz="2400" dirty="0"/>
          </a:p>
          <a:p>
            <a:pPr>
              <a:buNone/>
            </a:pPr>
            <a:endParaRPr lang="id-ID" sz="2400" dirty="0"/>
          </a:p>
          <a:p>
            <a:pPr>
              <a:buNone/>
            </a:pPr>
            <a:endParaRPr lang="id-ID" sz="2400" dirty="0"/>
          </a:p>
          <a:p>
            <a:pPr>
              <a:buNone/>
            </a:pPr>
            <a:endParaRPr lang="id-ID" sz="2400" dirty="0"/>
          </a:p>
          <a:p>
            <a:pPr>
              <a:buNone/>
            </a:pPr>
            <a:endParaRPr lang="id-ID" sz="2400" dirty="0"/>
          </a:p>
          <a:p>
            <a:pPr>
              <a:buNone/>
            </a:pPr>
            <a:endParaRPr lang="id-ID" sz="2400" dirty="0"/>
          </a:p>
          <a:p>
            <a:pPr>
              <a:buNone/>
            </a:pPr>
            <a:endParaRPr lang="id-ID" sz="2400" dirty="0"/>
          </a:p>
          <a:p>
            <a:pPr>
              <a:buNone/>
            </a:pPr>
            <a:endParaRPr lang="id-ID" sz="2400" dirty="0"/>
          </a:p>
          <a:p>
            <a:pPr>
              <a:buNone/>
            </a:pPr>
            <a:endParaRPr lang="id-ID" sz="2400" dirty="0"/>
          </a:p>
          <a:p>
            <a:pPr>
              <a:buNone/>
            </a:pPr>
            <a:r>
              <a:rPr lang="en-US" sz="2400" dirty="0" err="1"/>
              <a:t>Hasil</a:t>
            </a:r>
            <a:r>
              <a:rPr lang="en-US" sz="2400" dirty="0"/>
              <a:t> </a:t>
            </a:r>
            <a:r>
              <a:rPr lang="en-US" sz="2400" dirty="0" err="1"/>
              <a:t>penyederhanaan</a:t>
            </a:r>
            <a:r>
              <a:rPr lang="en-US" sz="2400" dirty="0"/>
              <a:t>:</a:t>
            </a:r>
            <a:r>
              <a:rPr lang="id-ID" sz="2400" dirty="0"/>
              <a:t> </a:t>
            </a:r>
            <a:r>
              <a:rPr lang="en-US" sz="2400" i="1" dirty="0"/>
              <a:t>f</a:t>
            </a:r>
            <a:r>
              <a:rPr lang="en-US" sz="2400" dirty="0"/>
              <a:t>(</a:t>
            </a:r>
            <a:r>
              <a:rPr lang="en-US" sz="2400" i="1" dirty="0"/>
              <a:t>w</a:t>
            </a:r>
            <a:r>
              <a:rPr lang="en-US" sz="2400" dirty="0"/>
              <a:t>, </a:t>
            </a:r>
            <a:r>
              <a:rPr lang="en-US" sz="2400" i="1" dirty="0"/>
              <a:t>x</a:t>
            </a:r>
            <a:r>
              <a:rPr lang="en-US" sz="2400" dirty="0"/>
              <a:t>, </a:t>
            </a:r>
            <a:r>
              <a:rPr lang="en-US" sz="2400" i="1" dirty="0"/>
              <a:t>y</a:t>
            </a:r>
            <a:r>
              <a:rPr lang="en-US" sz="2400" dirty="0"/>
              <a:t>, </a:t>
            </a:r>
            <a:r>
              <a:rPr lang="en-US" sz="2400" i="1" dirty="0"/>
              <a:t>z</a:t>
            </a:r>
            <a:r>
              <a:rPr lang="en-US" sz="2400" dirty="0"/>
              <a:t>)  =  </a:t>
            </a:r>
            <a:r>
              <a:rPr lang="en-US" sz="2400" i="1" dirty="0"/>
              <a:t>y</a:t>
            </a:r>
            <a:r>
              <a:rPr lang="en-US" sz="2400" dirty="0"/>
              <a:t>’ + </a:t>
            </a:r>
            <a:r>
              <a:rPr lang="en-US" sz="2400" i="1" dirty="0" err="1"/>
              <a:t>w</a:t>
            </a:r>
            <a:r>
              <a:rPr lang="en-US" sz="2400" dirty="0" err="1"/>
              <a:t>’</a:t>
            </a:r>
            <a:r>
              <a:rPr lang="en-US" sz="2400" i="1" dirty="0" err="1"/>
              <a:t>z</a:t>
            </a:r>
            <a:r>
              <a:rPr lang="en-US" sz="2400" dirty="0"/>
              <a:t>’ + </a:t>
            </a:r>
            <a:r>
              <a:rPr lang="en-US" sz="2400" i="1" dirty="0" err="1"/>
              <a:t>xz</a:t>
            </a:r>
            <a:r>
              <a:rPr lang="en-US" sz="2400" dirty="0"/>
              <a:t>’	</a:t>
            </a:r>
            <a:endParaRPr lang="id-ID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73732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graphicFrame>
        <p:nvGraphicFramePr>
          <p:cNvPr id="737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717112"/>
              </p:ext>
            </p:extLst>
          </p:nvPr>
        </p:nvGraphicFramePr>
        <p:xfrm>
          <a:off x="3787623" y="1871147"/>
          <a:ext cx="3826204" cy="3214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81784" imgH="1751076" progId="Visio.Drawing.5">
                  <p:embed/>
                </p:oleObj>
              </mc:Choice>
              <mc:Fallback>
                <p:oleObj r:id="rId2" imgW="2081784" imgH="1751076" progId="Visio.Drawing.5">
                  <p:embed/>
                  <p:pic>
                    <p:nvPicPr>
                      <p:cNvPr id="737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7623" y="1871147"/>
                        <a:ext cx="3826204" cy="32147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Contoh minimisasi </a:t>
            </a:r>
            <a:r>
              <a:rPr lang="en-US" dirty="0"/>
              <a:t>8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3913" y="1357297"/>
            <a:ext cx="10227365" cy="53641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err="1"/>
              <a:t>Sederhanakan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</a:t>
            </a:r>
            <a:r>
              <a:rPr lang="en-US" sz="2400" i="1" dirty="0"/>
              <a:t>f</a:t>
            </a:r>
            <a:r>
              <a:rPr lang="en-US" sz="2400" dirty="0"/>
              <a:t>(</a:t>
            </a:r>
            <a:r>
              <a:rPr lang="en-US" sz="2400" i="1" dirty="0" err="1"/>
              <a:t>w</a:t>
            </a:r>
            <a:r>
              <a:rPr lang="en-US" sz="2400" dirty="0" err="1"/>
              <a:t>,</a:t>
            </a:r>
            <a:r>
              <a:rPr lang="en-US" sz="2400" i="1" dirty="0" err="1"/>
              <a:t>x</a:t>
            </a:r>
            <a:r>
              <a:rPr lang="en-US" sz="2400" dirty="0" err="1"/>
              <a:t>,</a:t>
            </a:r>
            <a:r>
              <a:rPr lang="en-US" sz="2400" i="1" dirty="0" err="1"/>
              <a:t>y</a:t>
            </a:r>
            <a:r>
              <a:rPr lang="en-US" sz="2400" dirty="0" err="1"/>
              <a:t>,</a:t>
            </a:r>
            <a:r>
              <a:rPr lang="en-US" sz="2400" i="1" dirty="0" err="1"/>
              <a:t>z</a:t>
            </a:r>
            <a:r>
              <a:rPr lang="en-US" sz="2400" dirty="0"/>
              <a:t>) = (</a:t>
            </a:r>
            <a:r>
              <a:rPr lang="en-US" sz="2400" i="1" dirty="0"/>
              <a:t>w</a:t>
            </a:r>
            <a:r>
              <a:rPr lang="en-US" sz="2400" dirty="0"/>
              <a:t> + </a:t>
            </a:r>
            <a:r>
              <a:rPr lang="en-US" sz="2400" i="1" dirty="0"/>
              <a:t>x</a:t>
            </a:r>
            <a:r>
              <a:rPr lang="en-US" sz="2400" dirty="0"/>
              <a:t>’)(</a:t>
            </a:r>
            <a:r>
              <a:rPr lang="en-US" sz="2400" i="1" dirty="0"/>
              <a:t>w</a:t>
            </a:r>
            <a:r>
              <a:rPr lang="en-US" sz="2400" dirty="0"/>
              <a:t> + </a:t>
            </a:r>
            <a:r>
              <a:rPr lang="en-US" sz="2400" i="1" dirty="0"/>
              <a:t>x</a:t>
            </a:r>
            <a:r>
              <a:rPr lang="en-US" sz="2400" dirty="0"/>
              <a:t> + </a:t>
            </a:r>
            <a:r>
              <a:rPr lang="en-US" sz="2400" i="1" dirty="0"/>
              <a:t>y</a:t>
            </a:r>
            <a:r>
              <a:rPr lang="en-US" sz="2400" dirty="0"/>
              <a:t>)(</a:t>
            </a:r>
            <a:r>
              <a:rPr lang="en-US" sz="2400" i="1" dirty="0"/>
              <a:t>w</a:t>
            </a:r>
            <a:r>
              <a:rPr lang="en-US" sz="2400" dirty="0"/>
              <a:t>’ + </a:t>
            </a:r>
            <a:r>
              <a:rPr lang="en-US" sz="2400" i="1" dirty="0"/>
              <a:t>x</a:t>
            </a:r>
            <a:r>
              <a:rPr lang="en-US" sz="2400" dirty="0"/>
              <a:t>’ + </a:t>
            </a:r>
            <a:r>
              <a:rPr lang="en-US" sz="2400" i="1" dirty="0"/>
              <a:t>y</a:t>
            </a:r>
            <a:r>
              <a:rPr lang="en-US" sz="2400" dirty="0"/>
              <a:t>’)(</a:t>
            </a:r>
            <a:r>
              <a:rPr lang="en-US" sz="2400" i="1" dirty="0"/>
              <a:t>w</a:t>
            </a:r>
            <a:r>
              <a:rPr lang="en-US" sz="2400" dirty="0"/>
              <a:t>’ + </a:t>
            </a:r>
            <a:r>
              <a:rPr lang="en-US" sz="2400" i="1" dirty="0"/>
              <a:t>x</a:t>
            </a:r>
            <a:r>
              <a:rPr lang="en-US" sz="2400" dirty="0"/>
              <a:t> + </a:t>
            </a:r>
            <a:r>
              <a:rPr lang="en-US" sz="2400" i="1" dirty="0"/>
              <a:t>y</a:t>
            </a:r>
            <a:r>
              <a:rPr lang="en-US" sz="2400" dirty="0"/>
              <a:t> + </a:t>
            </a:r>
            <a:r>
              <a:rPr lang="en-US" sz="2400" i="1" dirty="0"/>
              <a:t>z</a:t>
            </a:r>
            <a:r>
              <a:rPr lang="en-US" sz="2400" dirty="0"/>
              <a:t>’) . </a:t>
            </a:r>
            <a:r>
              <a:rPr lang="en-US" sz="2400" dirty="0" err="1"/>
              <a:t>Hasil</a:t>
            </a:r>
            <a:r>
              <a:rPr lang="en-US" sz="2400" dirty="0"/>
              <a:t> </a:t>
            </a:r>
            <a:r>
              <a:rPr lang="en-US" sz="2400" dirty="0" err="1"/>
              <a:t>penyederhanaan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bentuk</a:t>
            </a:r>
            <a:r>
              <a:rPr lang="en-US" sz="2400" dirty="0"/>
              <a:t> </a:t>
            </a:r>
            <a:r>
              <a:rPr lang="en-US" sz="2400" dirty="0" err="1"/>
              <a:t>baku</a:t>
            </a:r>
            <a:r>
              <a:rPr lang="en-US" sz="2400" dirty="0"/>
              <a:t> SOP </a:t>
            </a:r>
            <a:r>
              <a:rPr lang="en-US" sz="2400" dirty="0" err="1"/>
              <a:t>dan</a:t>
            </a:r>
            <a:r>
              <a:rPr lang="en-US" sz="2400" dirty="0"/>
              <a:t> POS.	</a:t>
            </a:r>
            <a:endParaRPr lang="id-ID" sz="2400" dirty="0"/>
          </a:p>
          <a:p>
            <a:pPr marL="0" indent="0">
              <a:buNone/>
            </a:pPr>
            <a:r>
              <a:rPr lang="en-US" sz="2400" u="sng" dirty="0" err="1"/>
              <a:t>Penyelesaian</a:t>
            </a:r>
            <a:r>
              <a:rPr lang="en-US" sz="2400" dirty="0"/>
              <a:t>: </a:t>
            </a:r>
            <a:endParaRPr lang="id-ID" sz="2400" dirty="0"/>
          </a:p>
          <a:p>
            <a:pPr>
              <a:buNone/>
            </a:pPr>
            <a:endParaRPr lang="id-ID" sz="2400" dirty="0"/>
          </a:p>
          <a:p>
            <a:pPr>
              <a:buNone/>
            </a:pPr>
            <a:endParaRPr lang="id-ID" sz="2400" dirty="0"/>
          </a:p>
          <a:p>
            <a:pPr>
              <a:buNone/>
            </a:pPr>
            <a:endParaRPr lang="id-ID" sz="2400" dirty="0"/>
          </a:p>
          <a:p>
            <a:pPr>
              <a:buNone/>
            </a:pPr>
            <a:endParaRPr lang="id-ID" sz="2400" dirty="0"/>
          </a:p>
          <a:p>
            <a:pPr>
              <a:buNone/>
            </a:pPr>
            <a:endParaRPr lang="id-ID" sz="2400" dirty="0"/>
          </a:p>
          <a:p>
            <a:pPr>
              <a:buNone/>
            </a:pPr>
            <a:endParaRPr lang="id-ID" sz="2400" dirty="0"/>
          </a:p>
          <a:p>
            <a:pPr>
              <a:buNone/>
            </a:pPr>
            <a:r>
              <a:rPr lang="en-US" sz="2400" dirty="0"/>
              <a:t>Hasil </a:t>
            </a:r>
            <a:r>
              <a:rPr lang="en-US" sz="2400" dirty="0" err="1"/>
              <a:t>penyederhanaan</a:t>
            </a:r>
            <a:r>
              <a:rPr lang="en-US" sz="2400" dirty="0"/>
              <a:t> </a:t>
            </a:r>
            <a:endParaRPr lang="id-ID" sz="2400" dirty="0"/>
          </a:p>
          <a:p>
            <a:pPr>
              <a:buNone/>
            </a:pPr>
            <a:r>
              <a:rPr lang="en-US" sz="2000" dirty="0"/>
              <a:t>SOP: 	</a:t>
            </a:r>
            <a:r>
              <a:rPr lang="en-US" sz="2000" i="1" dirty="0"/>
              <a:t>f</a:t>
            </a:r>
            <a:r>
              <a:rPr lang="en-US" sz="2000" dirty="0"/>
              <a:t>(</a:t>
            </a:r>
            <a:r>
              <a:rPr lang="en-US" sz="2000" i="1" dirty="0"/>
              <a:t>w</a:t>
            </a:r>
            <a:r>
              <a:rPr lang="en-US" sz="2000" dirty="0"/>
              <a:t>, </a:t>
            </a:r>
            <a:r>
              <a:rPr lang="en-US" sz="2000" i="1" dirty="0"/>
              <a:t>x</a:t>
            </a:r>
            <a:r>
              <a:rPr lang="en-US" sz="2000" dirty="0"/>
              <a:t>, </a:t>
            </a:r>
            <a:r>
              <a:rPr lang="en-US" sz="2000" i="1" dirty="0"/>
              <a:t>y</a:t>
            </a:r>
            <a:r>
              <a:rPr lang="en-US" sz="2000" dirty="0"/>
              <a:t>, </a:t>
            </a:r>
            <a:r>
              <a:rPr lang="en-US" sz="2000" i="1" dirty="0"/>
              <a:t>z</a:t>
            </a:r>
            <a:r>
              <a:rPr lang="en-US" sz="2000" dirty="0"/>
              <a:t>) = </a:t>
            </a:r>
            <a:r>
              <a:rPr lang="en-US" sz="2000" i="1" dirty="0" err="1"/>
              <a:t>x</a:t>
            </a:r>
            <a:r>
              <a:rPr lang="en-US" sz="2000" dirty="0" err="1"/>
              <a:t>’</a:t>
            </a:r>
            <a:r>
              <a:rPr lang="en-US" sz="2000" i="1" dirty="0" err="1"/>
              <a:t>y</a:t>
            </a:r>
            <a:r>
              <a:rPr lang="en-US" sz="2000" dirty="0"/>
              <a:t> + </a:t>
            </a:r>
            <a:r>
              <a:rPr lang="en-US" sz="2000" i="1" dirty="0" err="1"/>
              <a:t>wxy</a:t>
            </a:r>
            <a:r>
              <a:rPr lang="en-US" sz="2000" dirty="0"/>
              <a:t>’ + </a:t>
            </a:r>
            <a:r>
              <a:rPr lang="en-US" sz="2000" i="1" dirty="0" err="1"/>
              <a:t>wy</a:t>
            </a:r>
            <a:r>
              <a:rPr lang="en-US" sz="2000" dirty="0" err="1"/>
              <a:t>’</a:t>
            </a:r>
            <a:r>
              <a:rPr lang="en-US" sz="2000" i="1" dirty="0" err="1"/>
              <a:t>z</a:t>
            </a:r>
            <a:r>
              <a:rPr lang="en-US" sz="2000" dirty="0"/>
              <a:t>’		(</a:t>
            </a:r>
            <a:r>
              <a:rPr lang="en-US" sz="2000" dirty="0" err="1"/>
              <a:t>garis</a:t>
            </a:r>
            <a:r>
              <a:rPr lang="en-US" sz="2000" dirty="0"/>
              <a:t> </a:t>
            </a:r>
            <a:r>
              <a:rPr lang="en-US" sz="2000" dirty="0" err="1"/>
              <a:t>penuh</a:t>
            </a:r>
            <a:r>
              <a:rPr lang="en-US" sz="2000" dirty="0"/>
              <a:t>)	</a:t>
            </a:r>
            <a:endParaRPr lang="id-ID" sz="2000" dirty="0"/>
          </a:p>
          <a:p>
            <a:pPr>
              <a:buNone/>
            </a:pPr>
            <a:r>
              <a:rPr lang="en-US" sz="2000" dirty="0"/>
              <a:t>POS:	</a:t>
            </a:r>
            <a:r>
              <a:rPr lang="en-US" sz="2000" i="1" dirty="0"/>
              <a:t>f</a:t>
            </a:r>
            <a:r>
              <a:rPr lang="en-US" sz="2000" dirty="0"/>
              <a:t>(</a:t>
            </a:r>
            <a:r>
              <a:rPr lang="en-US" sz="2000" i="1" dirty="0"/>
              <a:t>w</a:t>
            </a:r>
            <a:r>
              <a:rPr lang="en-US" sz="2000" dirty="0"/>
              <a:t>, </a:t>
            </a:r>
            <a:r>
              <a:rPr lang="en-US" sz="2000" i="1" dirty="0"/>
              <a:t>x</a:t>
            </a:r>
            <a:r>
              <a:rPr lang="en-US" sz="2000" dirty="0"/>
              <a:t>, </a:t>
            </a:r>
            <a:r>
              <a:rPr lang="en-US" sz="2000" i="1" dirty="0"/>
              <a:t>y</a:t>
            </a:r>
            <a:r>
              <a:rPr lang="en-US" sz="2000" dirty="0"/>
              <a:t>, </a:t>
            </a:r>
            <a:r>
              <a:rPr lang="en-US" sz="2000" i="1" dirty="0"/>
              <a:t>z</a:t>
            </a:r>
            <a:r>
              <a:rPr lang="en-US" sz="2000" dirty="0"/>
              <a:t>) = (</a:t>
            </a:r>
            <a:r>
              <a:rPr lang="en-US" sz="2000" i="1" dirty="0"/>
              <a:t>x</a:t>
            </a:r>
            <a:r>
              <a:rPr lang="en-US" sz="2000" dirty="0"/>
              <a:t>’ + </a:t>
            </a:r>
            <a:r>
              <a:rPr lang="en-US" sz="2000" i="1" dirty="0"/>
              <a:t>y</a:t>
            </a:r>
            <a:r>
              <a:rPr lang="en-US" sz="2000" dirty="0"/>
              <a:t>’)(</a:t>
            </a:r>
            <a:r>
              <a:rPr lang="en-US" sz="2000" i="1" dirty="0"/>
              <a:t>w</a:t>
            </a:r>
            <a:r>
              <a:rPr lang="en-US" sz="2000" dirty="0"/>
              <a:t> + </a:t>
            </a:r>
            <a:r>
              <a:rPr lang="en-US" sz="2000" i="1" dirty="0"/>
              <a:t>y</a:t>
            </a:r>
            <a:r>
              <a:rPr lang="en-US" sz="2000" dirty="0"/>
              <a:t>)(</a:t>
            </a:r>
            <a:r>
              <a:rPr lang="en-US" sz="2000" i="1" dirty="0"/>
              <a:t>x</a:t>
            </a:r>
            <a:r>
              <a:rPr lang="en-US" sz="2000" dirty="0"/>
              <a:t> + </a:t>
            </a:r>
            <a:r>
              <a:rPr lang="en-US" sz="2000" i="1" dirty="0"/>
              <a:t>y</a:t>
            </a:r>
            <a:r>
              <a:rPr lang="en-US" sz="2000" dirty="0"/>
              <a:t> + </a:t>
            </a:r>
            <a:r>
              <a:rPr lang="en-US" sz="2000" i="1" dirty="0"/>
              <a:t>z</a:t>
            </a:r>
            <a:r>
              <a:rPr lang="en-US" sz="2000" dirty="0"/>
              <a:t>’)	(</a:t>
            </a:r>
            <a:r>
              <a:rPr lang="en-US" sz="2000" dirty="0" err="1"/>
              <a:t>garis</a:t>
            </a:r>
            <a:r>
              <a:rPr lang="en-US" sz="2000" dirty="0"/>
              <a:t> </a:t>
            </a:r>
            <a:r>
              <a:rPr lang="en-US" sz="2000" dirty="0" err="1"/>
              <a:t>putus-putus</a:t>
            </a:r>
            <a:r>
              <a:rPr lang="en-US" sz="2000" dirty="0"/>
              <a:t>)</a:t>
            </a:r>
            <a:endParaRPr lang="id-ID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73732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graphicFrame>
        <p:nvGraphicFramePr>
          <p:cNvPr id="747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9808024"/>
              </p:ext>
            </p:extLst>
          </p:nvPr>
        </p:nvGraphicFramePr>
        <p:xfrm>
          <a:off x="3658416" y="2113724"/>
          <a:ext cx="3484715" cy="3071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10156" imgH="1766316" progId="Visio.Drawing.5">
                  <p:embed/>
                </p:oleObj>
              </mc:Choice>
              <mc:Fallback>
                <p:oleObj r:id="rId2" imgW="2010156" imgH="1766316" progId="Visio.Drawing.5">
                  <p:embed/>
                  <p:pic>
                    <p:nvPicPr>
                      <p:cNvPr id="7475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8416" y="2113724"/>
                        <a:ext cx="3484715" cy="30718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Contoh minimisasi </a:t>
            </a:r>
            <a:r>
              <a:rPr lang="en-US" dirty="0"/>
              <a:t>9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3670" y="1428737"/>
            <a:ext cx="9849678" cy="4697427"/>
          </a:xfrm>
        </p:spPr>
        <p:txBody>
          <a:bodyPr/>
          <a:lstStyle/>
          <a:p>
            <a:pPr>
              <a:buNone/>
            </a:pPr>
            <a:r>
              <a:rPr lang="en-US" sz="2400" dirty="0" err="1"/>
              <a:t>Sederhanakan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</a:t>
            </a:r>
            <a:r>
              <a:rPr lang="en-US" sz="2400" i="1" dirty="0"/>
              <a:t>f</a:t>
            </a:r>
            <a:r>
              <a:rPr lang="en-US" sz="2400" dirty="0"/>
              <a:t>(</a:t>
            </a:r>
            <a:r>
              <a:rPr lang="en-US" sz="2400" i="1" dirty="0"/>
              <a:t>x</a:t>
            </a:r>
            <a:r>
              <a:rPr lang="en-US" sz="2400" dirty="0"/>
              <a:t>, </a:t>
            </a:r>
            <a:r>
              <a:rPr lang="en-US" sz="2400" i="1" dirty="0"/>
              <a:t>y</a:t>
            </a:r>
            <a:r>
              <a:rPr lang="en-US" sz="2400" dirty="0"/>
              <a:t>, </a:t>
            </a:r>
            <a:r>
              <a:rPr lang="en-US" sz="2400" i="1" dirty="0"/>
              <a:t>z</a:t>
            </a:r>
            <a:r>
              <a:rPr lang="en-US" sz="2400" dirty="0"/>
              <a:t>, </a:t>
            </a:r>
            <a:r>
              <a:rPr lang="en-US" sz="2400" i="1" dirty="0"/>
              <a:t>t</a:t>
            </a:r>
            <a:r>
              <a:rPr lang="en-US" sz="2400" dirty="0"/>
              <a:t>) = </a:t>
            </a:r>
            <a:r>
              <a:rPr lang="en-US" sz="2400" i="1" dirty="0" err="1"/>
              <a:t>xy</a:t>
            </a:r>
            <a:r>
              <a:rPr lang="en-US" sz="2400" dirty="0"/>
              <a:t>’ + </a:t>
            </a:r>
            <a:r>
              <a:rPr lang="en-US" sz="2400" i="1" dirty="0"/>
              <a:t>xyz</a:t>
            </a:r>
            <a:r>
              <a:rPr lang="en-US" sz="2400" dirty="0"/>
              <a:t> + </a:t>
            </a:r>
            <a:r>
              <a:rPr lang="en-US" sz="2400" i="1" dirty="0" err="1"/>
              <a:t>x</a:t>
            </a:r>
            <a:r>
              <a:rPr lang="en-US" sz="2400" dirty="0" err="1"/>
              <a:t>’</a:t>
            </a:r>
            <a:r>
              <a:rPr lang="en-US" sz="2400" i="1" dirty="0" err="1"/>
              <a:t>y</a:t>
            </a:r>
            <a:r>
              <a:rPr lang="en-US" sz="2400" dirty="0" err="1"/>
              <a:t>’</a:t>
            </a:r>
            <a:r>
              <a:rPr lang="en-US" sz="2400" i="1" dirty="0" err="1"/>
              <a:t>z</a:t>
            </a:r>
            <a:r>
              <a:rPr lang="en-US" sz="2400" dirty="0"/>
              <a:t>’ + </a:t>
            </a:r>
            <a:r>
              <a:rPr lang="en-US" sz="2400" i="1" dirty="0" err="1"/>
              <a:t>x</a:t>
            </a:r>
            <a:r>
              <a:rPr lang="en-US" sz="2400" dirty="0" err="1"/>
              <a:t>’</a:t>
            </a:r>
            <a:r>
              <a:rPr lang="en-US" sz="2400" i="1" dirty="0" err="1"/>
              <a:t>yzt</a:t>
            </a:r>
            <a:r>
              <a:rPr lang="en-US" sz="2400" dirty="0"/>
              <a:t>’</a:t>
            </a:r>
            <a:endParaRPr lang="id-ID" sz="2400" dirty="0"/>
          </a:p>
          <a:p>
            <a:pPr>
              <a:buNone/>
            </a:pPr>
            <a:r>
              <a:rPr lang="en-US" sz="2400" u="sng" dirty="0" err="1"/>
              <a:t>Penyelesaian</a:t>
            </a:r>
            <a:r>
              <a:rPr lang="en-US" sz="2400" dirty="0"/>
              <a:t>:</a:t>
            </a:r>
            <a:endParaRPr lang="id-ID" sz="2400" dirty="0"/>
          </a:p>
          <a:p>
            <a:pPr>
              <a:buNone/>
            </a:pPr>
            <a:endParaRPr lang="id-ID" sz="2400" dirty="0"/>
          </a:p>
          <a:p>
            <a:pPr>
              <a:buNone/>
            </a:pPr>
            <a:endParaRPr lang="id-ID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5778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graphicFrame>
        <p:nvGraphicFramePr>
          <p:cNvPr id="75777" name="Object 1"/>
          <p:cNvGraphicFramePr>
            <a:graphicFrameLocks noChangeAspect="1"/>
          </p:cNvGraphicFramePr>
          <p:nvPr/>
        </p:nvGraphicFramePr>
        <p:xfrm>
          <a:off x="2524100" y="2857496"/>
          <a:ext cx="3176534" cy="2845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08632" imgH="1795272" progId="Visio.Drawing.5">
                  <p:embed/>
                </p:oleObj>
              </mc:Choice>
              <mc:Fallback>
                <p:oleObj r:id="rId2" imgW="2008632" imgH="1795272" progId="Visio.Drawing.5">
                  <p:embed/>
                  <p:pic>
                    <p:nvPicPr>
                      <p:cNvPr id="75777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4100" y="2857496"/>
                        <a:ext cx="3176534" cy="28453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graphicFrame>
        <p:nvGraphicFramePr>
          <p:cNvPr id="75779" name="Object 3"/>
          <p:cNvGraphicFramePr>
            <a:graphicFrameLocks noChangeAspect="1"/>
          </p:cNvGraphicFramePr>
          <p:nvPr/>
        </p:nvGraphicFramePr>
        <p:xfrm>
          <a:off x="6238876" y="2928934"/>
          <a:ext cx="3105096" cy="2781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008632" imgH="1795272" progId="Visio.Drawing.5">
                  <p:embed/>
                </p:oleObj>
              </mc:Choice>
              <mc:Fallback>
                <p:oleObj r:id="rId4" imgW="2008632" imgH="1795272" progId="Visio.Drawing.5">
                  <p:embed/>
                  <p:pic>
                    <p:nvPicPr>
                      <p:cNvPr id="7577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76" y="2928934"/>
                        <a:ext cx="3105096" cy="27813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666977" y="2357430"/>
            <a:ext cx="3256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Pengelompokan yang berlebihan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4" y="2357430"/>
            <a:ext cx="2791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Pengelompokan yang benar</a:t>
            </a:r>
          </a:p>
        </p:txBody>
      </p:sp>
      <p:sp>
        <p:nvSpPr>
          <p:cNvPr id="75781" name="Rectangle 5"/>
          <p:cNvSpPr>
            <a:spLocks noChangeArrowheads="1"/>
          </p:cNvSpPr>
          <p:nvPr/>
        </p:nvSpPr>
        <p:spPr bwMode="auto">
          <a:xfrm>
            <a:off x="2705485" y="5718165"/>
            <a:ext cx="535781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Fungsi</a:t>
            </a:r>
            <a:r>
              <a:rPr lang="en-US" sz="20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minimasi</a:t>
            </a:r>
            <a:r>
              <a:rPr lang="en-US" sz="20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 </a:t>
            </a:r>
            <a:r>
              <a:rPr lang="en-US" sz="2000" i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</a:t>
            </a:r>
            <a:r>
              <a:rPr lang="en-US" sz="20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</a:t>
            </a:r>
            <a:r>
              <a:rPr lang="en-US" sz="2000" i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x</a:t>
            </a:r>
            <a:r>
              <a:rPr lang="en-US" sz="20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lang="en-US" sz="2000" i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y</a:t>
            </a:r>
            <a:r>
              <a:rPr lang="en-US" sz="20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lang="en-US" sz="2000" i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z</a:t>
            </a:r>
            <a:r>
              <a:rPr lang="en-US" sz="20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lang="en-US" sz="2000" i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</a:t>
            </a:r>
            <a:r>
              <a:rPr lang="en-US" sz="20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 = </a:t>
            </a:r>
            <a:r>
              <a:rPr lang="en-US" sz="2000" i="1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y</a:t>
            </a:r>
            <a:r>
              <a:rPr lang="en-US" sz="2000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’</a:t>
            </a:r>
            <a:r>
              <a:rPr lang="en-US" sz="2000" i="1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z</a:t>
            </a:r>
            <a:r>
              <a:rPr lang="en-US" sz="20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’ + </a:t>
            </a:r>
            <a:r>
              <a:rPr lang="en-US" sz="2000" i="1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xz</a:t>
            </a:r>
            <a:r>
              <a:rPr lang="en-US" sz="20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+ </a:t>
            </a:r>
            <a:r>
              <a:rPr lang="en-US" sz="2000" i="1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yzt</a:t>
            </a:r>
            <a:r>
              <a:rPr lang="en-US" sz="20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’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Contoh minimisasi 1</a:t>
            </a:r>
            <a:r>
              <a:rPr lang="en-US" dirty="0"/>
              <a:t>0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3913" y="1500175"/>
            <a:ext cx="10359887" cy="4625989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 err="1"/>
              <a:t>Minimasi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yang </a:t>
            </a:r>
            <a:r>
              <a:rPr lang="en-US" sz="2400" dirty="0" err="1"/>
              <a:t>telah</a:t>
            </a:r>
            <a:r>
              <a:rPr lang="en-US" sz="2400" dirty="0"/>
              <a:t> </a:t>
            </a:r>
            <a:r>
              <a:rPr lang="en-US" sz="2400" dirty="0" err="1"/>
              <a:t>dipetakan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peta</a:t>
            </a:r>
            <a:r>
              <a:rPr lang="en-US" sz="2400" dirty="0"/>
              <a:t> </a:t>
            </a:r>
            <a:r>
              <a:rPr lang="en-US" sz="2400" dirty="0" err="1"/>
              <a:t>Karnaugh</a:t>
            </a:r>
            <a:r>
              <a:rPr lang="en-US" sz="2400" dirty="0"/>
              <a:t> </a:t>
            </a:r>
            <a:r>
              <a:rPr lang="en-US" sz="2400" dirty="0" err="1"/>
              <a:t>di</a:t>
            </a:r>
            <a:r>
              <a:rPr lang="en-US" sz="2400" dirty="0"/>
              <a:t> </a:t>
            </a:r>
            <a:r>
              <a:rPr lang="en-US" sz="2400" dirty="0" err="1"/>
              <a:t>bawah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bentuk</a:t>
            </a:r>
            <a:r>
              <a:rPr lang="en-US" sz="2400" dirty="0"/>
              <a:t> </a:t>
            </a:r>
            <a:r>
              <a:rPr lang="en-US" sz="2400" dirty="0" err="1"/>
              <a:t>baku</a:t>
            </a:r>
            <a:r>
              <a:rPr lang="en-US" sz="2400" dirty="0"/>
              <a:t> SOP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bentuk</a:t>
            </a:r>
            <a:r>
              <a:rPr lang="en-US" sz="2400" dirty="0"/>
              <a:t> </a:t>
            </a:r>
            <a:r>
              <a:rPr lang="en-US" sz="2400" dirty="0" err="1"/>
              <a:t>baku</a:t>
            </a:r>
            <a:r>
              <a:rPr lang="en-US" sz="2400" dirty="0"/>
              <a:t> POS</a:t>
            </a:r>
            <a:r>
              <a:rPr lang="en-US" dirty="0"/>
              <a:t>.</a:t>
            </a:r>
            <a:endParaRPr lang="id-ID" dirty="0"/>
          </a:p>
          <a:p>
            <a:pPr>
              <a:buNone/>
            </a:pPr>
            <a:endParaRPr lang="id-ID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6802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graphicFrame>
        <p:nvGraphicFramePr>
          <p:cNvPr id="76801" name="Object 1"/>
          <p:cNvGraphicFramePr>
            <a:graphicFrameLocks noChangeAspect="1"/>
          </p:cNvGraphicFramePr>
          <p:nvPr/>
        </p:nvGraphicFramePr>
        <p:xfrm>
          <a:off x="4024298" y="2285992"/>
          <a:ext cx="3786214" cy="33712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83308" imgH="1859280" progId="Visio.Drawing.5">
                  <p:embed/>
                </p:oleObj>
              </mc:Choice>
              <mc:Fallback>
                <p:oleObj r:id="rId2" imgW="2083308" imgH="1859280" progId="Visio.Drawing.5">
                  <p:embed/>
                  <p:pic>
                    <p:nvPicPr>
                      <p:cNvPr id="7680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4298" y="2285992"/>
                        <a:ext cx="3786214" cy="337128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381224" y="5357827"/>
            <a:ext cx="78581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Penyelesaian:</a:t>
            </a:r>
          </a:p>
          <a:p>
            <a:r>
              <a:rPr lang="en-US" sz="2000" dirty="0"/>
              <a:t>SOP : </a:t>
            </a:r>
            <a:r>
              <a:rPr lang="en-US" sz="2000" i="1" dirty="0"/>
              <a:t>f</a:t>
            </a:r>
            <a:r>
              <a:rPr lang="en-US" sz="2000" dirty="0"/>
              <a:t>(</a:t>
            </a:r>
            <a:r>
              <a:rPr lang="en-US" sz="2000" i="1" dirty="0"/>
              <a:t>w</a:t>
            </a:r>
            <a:r>
              <a:rPr lang="en-US" sz="2000" dirty="0"/>
              <a:t>, </a:t>
            </a:r>
            <a:r>
              <a:rPr lang="en-US" sz="2000" i="1" dirty="0"/>
              <a:t>x</a:t>
            </a:r>
            <a:r>
              <a:rPr lang="en-US" sz="2000" dirty="0"/>
              <a:t>, </a:t>
            </a:r>
            <a:r>
              <a:rPr lang="en-US" sz="2000" i="1" dirty="0"/>
              <a:t>y</a:t>
            </a:r>
            <a:r>
              <a:rPr lang="en-US" sz="2000" dirty="0"/>
              <a:t>, </a:t>
            </a:r>
            <a:r>
              <a:rPr lang="en-US" sz="2000" i="1" dirty="0"/>
              <a:t>z</a:t>
            </a:r>
            <a:r>
              <a:rPr lang="en-US" sz="2000" dirty="0"/>
              <a:t>)  =  </a:t>
            </a:r>
            <a:r>
              <a:rPr lang="en-US" sz="2000" i="1" dirty="0" err="1"/>
              <a:t>yz</a:t>
            </a:r>
            <a:r>
              <a:rPr lang="en-US" sz="2000" dirty="0"/>
              <a:t> + </a:t>
            </a:r>
            <a:r>
              <a:rPr lang="en-US" sz="2000" i="1" dirty="0" err="1"/>
              <a:t>wz</a:t>
            </a:r>
            <a:r>
              <a:rPr lang="en-US" sz="2000" dirty="0"/>
              <a:t> + </a:t>
            </a:r>
            <a:r>
              <a:rPr lang="en-US" sz="2000" i="1" dirty="0" err="1"/>
              <a:t>xz</a:t>
            </a:r>
            <a:r>
              <a:rPr lang="en-US" sz="2000" dirty="0"/>
              <a:t> + </a:t>
            </a:r>
            <a:r>
              <a:rPr lang="en-US" sz="2000" i="1" dirty="0" err="1"/>
              <a:t>w</a:t>
            </a:r>
            <a:r>
              <a:rPr lang="en-US" sz="2000" dirty="0" err="1"/>
              <a:t>’</a:t>
            </a:r>
            <a:r>
              <a:rPr lang="en-US" sz="2000" i="1" dirty="0" err="1"/>
              <a:t>xy</a:t>
            </a:r>
            <a:r>
              <a:rPr lang="en-US" sz="2000" dirty="0"/>
              <a:t>’		(</a:t>
            </a:r>
            <a:r>
              <a:rPr lang="en-US" sz="2000" dirty="0" err="1"/>
              <a:t>garis</a:t>
            </a:r>
            <a:r>
              <a:rPr lang="en-US" sz="2000" dirty="0"/>
              <a:t> </a:t>
            </a:r>
            <a:r>
              <a:rPr lang="en-US" sz="2000" dirty="0" err="1"/>
              <a:t>penuh</a:t>
            </a:r>
            <a:r>
              <a:rPr lang="en-US" sz="2000" dirty="0"/>
              <a:t>)</a:t>
            </a:r>
            <a:endParaRPr lang="id-ID" sz="2000" dirty="0"/>
          </a:p>
          <a:p>
            <a:r>
              <a:rPr lang="en-US" sz="2000" dirty="0"/>
              <a:t>POS:  </a:t>
            </a:r>
            <a:r>
              <a:rPr lang="en-US" sz="2000" i="1" dirty="0"/>
              <a:t>f</a:t>
            </a:r>
            <a:r>
              <a:rPr lang="en-US" sz="2000" dirty="0"/>
              <a:t>(</a:t>
            </a:r>
            <a:r>
              <a:rPr lang="en-US" sz="2000" i="1" dirty="0"/>
              <a:t>w</a:t>
            </a:r>
            <a:r>
              <a:rPr lang="en-US" sz="2000" dirty="0"/>
              <a:t>, </a:t>
            </a:r>
            <a:r>
              <a:rPr lang="en-US" sz="2000" i="1" dirty="0"/>
              <a:t>x</a:t>
            </a:r>
            <a:r>
              <a:rPr lang="en-US" sz="2000" dirty="0"/>
              <a:t>, </a:t>
            </a:r>
            <a:r>
              <a:rPr lang="en-US" sz="2000" i="1" dirty="0"/>
              <a:t>y</a:t>
            </a:r>
            <a:r>
              <a:rPr lang="en-US" sz="2000" dirty="0"/>
              <a:t>, </a:t>
            </a:r>
            <a:r>
              <a:rPr lang="en-US" sz="2000" i="1" dirty="0"/>
              <a:t>z</a:t>
            </a:r>
            <a:r>
              <a:rPr lang="en-US" sz="2000" dirty="0"/>
              <a:t>) = (</a:t>
            </a:r>
            <a:r>
              <a:rPr lang="en-US" sz="2000" i="1" dirty="0"/>
              <a:t>y</a:t>
            </a:r>
            <a:r>
              <a:rPr lang="en-US" sz="2000" dirty="0"/>
              <a:t>’ + </a:t>
            </a:r>
            <a:r>
              <a:rPr lang="en-US" sz="2000" i="1" dirty="0"/>
              <a:t>z</a:t>
            </a:r>
            <a:r>
              <a:rPr lang="en-US" sz="2000" dirty="0"/>
              <a:t>)(</a:t>
            </a:r>
            <a:r>
              <a:rPr lang="en-US" sz="2000" i="1" dirty="0"/>
              <a:t>w</a:t>
            </a:r>
            <a:r>
              <a:rPr lang="en-US" sz="2000" dirty="0"/>
              <a:t>’ + </a:t>
            </a:r>
            <a:r>
              <a:rPr lang="en-US" sz="2000" i="1" dirty="0"/>
              <a:t>z</a:t>
            </a:r>
            <a:r>
              <a:rPr lang="en-US" sz="2000" dirty="0"/>
              <a:t>)(</a:t>
            </a:r>
            <a:r>
              <a:rPr lang="en-US" sz="2000" i="1" dirty="0"/>
              <a:t>x</a:t>
            </a:r>
            <a:r>
              <a:rPr lang="en-US" sz="2000" dirty="0"/>
              <a:t> + </a:t>
            </a:r>
            <a:r>
              <a:rPr lang="en-US" sz="2000" i="1" dirty="0"/>
              <a:t>z</a:t>
            </a:r>
            <a:r>
              <a:rPr lang="en-US" sz="2000" dirty="0"/>
              <a:t>)(</a:t>
            </a:r>
            <a:r>
              <a:rPr lang="en-US" sz="2000" i="1" dirty="0"/>
              <a:t>w</a:t>
            </a:r>
            <a:r>
              <a:rPr lang="en-US" sz="2000" dirty="0"/>
              <a:t> + </a:t>
            </a:r>
            <a:r>
              <a:rPr lang="en-US" sz="2000" i="1" dirty="0"/>
              <a:t>x</a:t>
            </a:r>
            <a:r>
              <a:rPr lang="en-US" sz="2000" dirty="0"/>
              <a:t> + </a:t>
            </a:r>
            <a:r>
              <a:rPr lang="en-US" sz="2000" i="1" dirty="0"/>
              <a:t>y</a:t>
            </a:r>
            <a:r>
              <a:rPr lang="en-US" sz="2000" dirty="0"/>
              <a:t>)	(</a:t>
            </a:r>
            <a:r>
              <a:rPr lang="en-US" sz="2000" dirty="0" err="1"/>
              <a:t>garis</a:t>
            </a:r>
            <a:r>
              <a:rPr lang="en-US" sz="2000" dirty="0"/>
              <a:t> </a:t>
            </a:r>
            <a:r>
              <a:rPr lang="en-US" sz="2000" dirty="0" err="1"/>
              <a:t>putus-putus</a:t>
            </a:r>
            <a:endParaRPr lang="id-ID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Contoh minimisasi 1</a:t>
            </a:r>
            <a:r>
              <a:rPr lang="en-US" dirty="0"/>
              <a:t>1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4217" y="1428737"/>
            <a:ext cx="9266583" cy="469742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d-ID" dirty="0"/>
              <a:t>Sederhanakan rangkaian logika berikuit: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641" y="2362693"/>
            <a:ext cx="5972175" cy="378142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571481"/>
            <a:ext cx="10744200" cy="5554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d-ID" u="sng" dirty="0"/>
              <a:t>Penyelesaian</a:t>
            </a:r>
            <a:r>
              <a:rPr lang="id-ID" dirty="0"/>
              <a:t>: Fungsi yang berkoresponden dengan rangkaian logika tsb: 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)  = </a:t>
            </a:r>
            <a:r>
              <a:rPr lang="en-US" i="1" dirty="0" err="1"/>
              <a:t>x</a:t>
            </a:r>
            <a:r>
              <a:rPr lang="en-US" dirty="0" err="1"/>
              <a:t>’</a:t>
            </a:r>
            <a:r>
              <a:rPr lang="en-US" i="1" dirty="0" err="1"/>
              <a:t>yz</a:t>
            </a:r>
            <a:r>
              <a:rPr lang="en-US" dirty="0"/>
              <a:t> + </a:t>
            </a:r>
            <a:r>
              <a:rPr lang="en-US" i="1" dirty="0" err="1"/>
              <a:t>x</a:t>
            </a:r>
            <a:r>
              <a:rPr lang="en-US" dirty="0" err="1"/>
              <a:t>’</a:t>
            </a:r>
            <a:r>
              <a:rPr lang="en-US" i="1" dirty="0" err="1"/>
              <a:t>yz</a:t>
            </a:r>
            <a:r>
              <a:rPr lang="en-US" dirty="0"/>
              <a:t>’ + </a:t>
            </a:r>
            <a:r>
              <a:rPr lang="en-US" i="1" dirty="0" err="1"/>
              <a:t>xy</a:t>
            </a:r>
            <a:r>
              <a:rPr lang="en-US" dirty="0" err="1"/>
              <a:t>’</a:t>
            </a:r>
            <a:r>
              <a:rPr lang="en-US" i="1" dirty="0" err="1"/>
              <a:t>z</a:t>
            </a:r>
            <a:r>
              <a:rPr lang="en-US" dirty="0"/>
              <a:t>’ + </a:t>
            </a:r>
            <a:r>
              <a:rPr lang="en-US" i="1" dirty="0" err="1"/>
              <a:t>xy</a:t>
            </a:r>
            <a:r>
              <a:rPr lang="en-US" dirty="0" err="1"/>
              <a:t>’</a:t>
            </a:r>
            <a:r>
              <a:rPr lang="en-US" i="1" dirty="0" err="1"/>
              <a:t>z</a:t>
            </a:r>
            <a:endParaRPr lang="id-ID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8" name="TextBox 7"/>
          <p:cNvSpPr txBox="1"/>
          <p:nvPr/>
        </p:nvSpPr>
        <p:spPr>
          <a:xfrm>
            <a:off x="5667373" y="2452506"/>
            <a:ext cx="41905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Fungsi</a:t>
            </a:r>
            <a:r>
              <a:rPr lang="en-US" sz="2400" dirty="0"/>
              <a:t> Boolean </a:t>
            </a:r>
            <a:r>
              <a:rPr lang="en-US" sz="2400" dirty="0" err="1"/>
              <a:t>hasil</a:t>
            </a:r>
            <a:r>
              <a:rPr lang="en-US" sz="2400" dirty="0"/>
              <a:t> </a:t>
            </a:r>
            <a:r>
              <a:rPr lang="en-US" sz="2400" dirty="0" err="1"/>
              <a:t>minimisasi</a:t>
            </a:r>
            <a:r>
              <a:rPr lang="id-ID" sz="2400" dirty="0"/>
              <a:t>:</a:t>
            </a:r>
          </a:p>
          <a:p>
            <a:r>
              <a:rPr lang="id-ID" sz="2400" dirty="0"/>
              <a:t>  </a:t>
            </a:r>
            <a:r>
              <a:rPr lang="en-US" sz="2400" dirty="0"/>
              <a:t>  </a:t>
            </a:r>
            <a:r>
              <a:rPr lang="id-ID" sz="2400" dirty="0"/>
              <a:t>  </a:t>
            </a:r>
            <a:r>
              <a:rPr lang="en-US" sz="2400" i="1" dirty="0"/>
              <a:t>f</a:t>
            </a:r>
            <a:r>
              <a:rPr lang="en-US" sz="2400" dirty="0"/>
              <a:t>(</a:t>
            </a:r>
            <a:r>
              <a:rPr lang="en-US" sz="2400" i="1" dirty="0"/>
              <a:t>x</a:t>
            </a:r>
            <a:r>
              <a:rPr lang="en-US" sz="2400" dirty="0"/>
              <a:t>, </a:t>
            </a:r>
            <a:r>
              <a:rPr lang="en-US" sz="2400" i="1" dirty="0"/>
              <a:t>y</a:t>
            </a:r>
            <a:r>
              <a:rPr lang="en-US" sz="2400" dirty="0"/>
              <a:t>, </a:t>
            </a:r>
            <a:r>
              <a:rPr lang="en-US" sz="2400" i="1" dirty="0"/>
              <a:t>z</a:t>
            </a:r>
            <a:r>
              <a:rPr lang="en-US" sz="2400" dirty="0"/>
              <a:t>)  =  </a:t>
            </a:r>
            <a:r>
              <a:rPr lang="en-US" sz="2400" i="1" dirty="0" err="1"/>
              <a:t>x</a:t>
            </a:r>
            <a:r>
              <a:rPr lang="en-US" sz="2400" dirty="0" err="1"/>
              <a:t>’</a:t>
            </a:r>
            <a:r>
              <a:rPr lang="en-US" sz="2400" i="1" dirty="0" err="1"/>
              <a:t>y</a:t>
            </a:r>
            <a:r>
              <a:rPr lang="en-US" sz="2400" dirty="0"/>
              <a:t> + </a:t>
            </a:r>
            <a:r>
              <a:rPr lang="en-US" sz="2400" i="1" dirty="0" err="1"/>
              <a:t>xy</a:t>
            </a:r>
            <a:r>
              <a:rPr lang="en-US" sz="2400" dirty="0"/>
              <a:t>’</a:t>
            </a:r>
            <a:endParaRPr lang="id-ID" sz="2400" dirty="0"/>
          </a:p>
        </p:txBody>
      </p:sp>
      <p:graphicFrame>
        <p:nvGraphicFramePr>
          <p:cNvPr id="849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769611"/>
              </p:ext>
            </p:extLst>
          </p:nvPr>
        </p:nvGraphicFramePr>
        <p:xfrm>
          <a:off x="6085005" y="3459113"/>
          <a:ext cx="5268795" cy="263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472560" imgH="1738800" progId="">
                  <p:embed/>
                </p:oleObj>
              </mc:Choice>
              <mc:Fallback>
                <p:oleObj r:id="rId2" imgW="3472560" imgH="1738800" progId="">
                  <p:embed/>
                  <p:pic>
                    <p:nvPicPr>
                      <p:cNvPr id="849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5005" y="3459113"/>
                        <a:ext cx="5268795" cy="26369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1420230" y="4377472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d-ID" sz="2000" dirty="0"/>
              <a:t>Rangkaian logika hasil penyederhanaan: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25C4D8-5B98-4342-BA9C-FCACB4A92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3" y="1720850"/>
            <a:ext cx="4200233" cy="21272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1A6AFD-A53B-45FF-87CF-1B321695A633}"/>
              </a:ext>
            </a:extLst>
          </p:cNvPr>
          <p:cNvSpPr txBox="1"/>
          <p:nvPr/>
        </p:nvSpPr>
        <p:spPr>
          <a:xfrm>
            <a:off x="2032370" y="2498672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758687" y="487565"/>
            <a:ext cx="686540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3600" b="1" dirty="0">
                <a:latin typeface="Chiltons Bold"/>
                <a:ea typeface="Times New Roman" panose="02020603050405020304" pitchFamily="18" charset="0"/>
                <a:cs typeface="Times New Roman" panose="02020603050405020304" pitchFamily="18" charset="0"/>
              </a:rPr>
              <a:t>Peta </a:t>
            </a:r>
            <a:r>
              <a:rPr lang="en-US" altLang="en-US" sz="3600" b="1" dirty="0" err="1">
                <a:latin typeface="Chiltons Bold"/>
                <a:ea typeface="Times New Roman" panose="02020603050405020304" pitchFamily="18" charset="0"/>
                <a:cs typeface="Times New Roman" panose="02020603050405020304" pitchFamily="18" charset="0"/>
              </a:rPr>
              <a:t>Karnaugh</a:t>
            </a:r>
            <a:r>
              <a:rPr lang="en-US" altLang="en-US" sz="3600" b="1" dirty="0">
                <a:latin typeface="Chiltons Bold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latin typeface="Chiltons Bold"/>
                <a:ea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altLang="en-US" sz="3600" b="1" dirty="0">
                <a:latin typeface="Chiltons Bold"/>
                <a:ea typeface="Times New Roman" panose="02020603050405020304" pitchFamily="18" charset="0"/>
                <a:cs typeface="Times New Roman" panose="02020603050405020304" pitchFamily="18" charset="0"/>
              </a:rPr>
              <a:t> Lima </a:t>
            </a:r>
            <a:r>
              <a:rPr lang="en-US" altLang="en-US" sz="3600" b="1" dirty="0" err="1">
                <a:latin typeface="Chiltons Bold"/>
                <a:ea typeface="Times New Roman" panose="02020603050405020304" pitchFamily="18" charset="0"/>
                <a:cs typeface="Times New Roman" panose="02020603050405020304" pitchFamily="18" charset="0"/>
              </a:rPr>
              <a:t>Peubah</a:t>
            </a:r>
            <a:r>
              <a:rPr lang="en-US" altLang="en-US" sz="3600" dirty="0"/>
              <a:t> 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364" y="1412776"/>
            <a:ext cx="9424461" cy="39512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389068" y="5364064"/>
            <a:ext cx="78217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Dua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kotak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dianggap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bertetangga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jika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secara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fisik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berdekatan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dan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merupakan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pencerminan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terhadap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garis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ganda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2379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3913" y="692697"/>
            <a:ext cx="10048461" cy="5544615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 err="1"/>
              <a:t>Contoh</a:t>
            </a:r>
            <a:r>
              <a:rPr lang="en-US" sz="2400" dirty="0"/>
              <a:t>: </a:t>
            </a:r>
            <a:r>
              <a:rPr lang="en-US" sz="2400" dirty="0" err="1"/>
              <a:t>Carilah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</a:t>
            </a:r>
            <a:r>
              <a:rPr lang="en-US" sz="2400" dirty="0" err="1"/>
              <a:t>sederhana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 </a:t>
            </a:r>
          </a:p>
          <a:p>
            <a:pPr marL="0" indent="0">
              <a:buNone/>
            </a:pPr>
            <a:r>
              <a:rPr lang="en-US" sz="2400" i="1" dirty="0"/>
              <a:t>f</a:t>
            </a:r>
            <a:r>
              <a:rPr lang="en-US" sz="2400" dirty="0"/>
              <a:t>(</a:t>
            </a:r>
            <a:r>
              <a:rPr lang="en-US" sz="2400" i="1" dirty="0"/>
              <a:t>v</a:t>
            </a:r>
            <a:r>
              <a:rPr lang="en-US" sz="2400" dirty="0"/>
              <a:t>, </a:t>
            </a:r>
            <a:r>
              <a:rPr lang="en-US" sz="2400" i="1" dirty="0"/>
              <a:t>w</a:t>
            </a:r>
            <a:r>
              <a:rPr lang="en-US" sz="2400" dirty="0"/>
              <a:t>, </a:t>
            </a:r>
            <a:r>
              <a:rPr lang="en-US" sz="2400" i="1" dirty="0"/>
              <a:t>x</a:t>
            </a:r>
            <a:r>
              <a:rPr lang="en-US" sz="2400" dirty="0"/>
              <a:t>, </a:t>
            </a:r>
            <a:r>
              <a:rPr lang="en-US" sz="2400" i="1" dirty="0"/>
              <a:t>y</a:t>
            </a:r>
            <a:r>
              <a:rPr lang="en-US" sz="2400" dirty="0"/>
              <a:t>, </a:t>
            </a:r>
            <a:r>
              <a:rPr lang="en-US" sz="2400" i="1" dirty="0"/>
              <a:t>z</a:t>
            </a:r>
            <a:r>
              <a:rPr lang="en-US" sz="2400" dirty="0"/>
              <a:t>) = </a:t>
            </a:r>
            <a:r>
              <a:rPr lang="en-US" sz="2400" dirty="0">
                <a:sym typeface="Symbol" panose="05050102010706020507" pitchFamily="18" charset="2"/>
              </a:rPr>
              <a:t></a:t>
            </a:r>
            <a:r>
              <a:rPr lang="en-US" sz="2400" dirty="0"/>
              <a:t> (0, 2, 4, 6, 9, 11, 13, 15, 17, 21, 25, 27, 29, 31)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D2CE9D-E9B8-471E-AA46-43CF95B09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300" y="1893912"/>
            <a:ext cx="8382000" cy="4343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17F6BC-F8F3-47C3-85F3-E66436894A47}"/>
              </a:ext>
            </a:extLst>
          </p:cNvPr>
          <p:cNvSpPr txBox="1"/>
          <p:nvPr/>
        </p:nvSpPr>
        <p:spPr>
          <a:xfrm>
            <a:off x="5128104" y="2489200"/>
            <a:ext cx="574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011</a:t>
            </a:r>
          </a:p>
        </p:txBody>
      </p:sp>
    </p:spTree>
    <p:extLst>
      <p:ext uri="{BB962C8B-B14F-4D97-AF65-F5344CB8AC3E}">
        <p14:creationId xmlns:p14="http://schemas.microsoft.com/office/powerpoint/2010/main" val="27386482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dirty="0"/>
              <a:t>Keadaan </a:t>
            </a:r>
            <a:r>
              <a:rPr lang="id-ID" i="1" dirty="0"/>
              <a:t>don’t 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4156" y="1500175"/>
            <a:ext cx="10515599" cy="4625989"/>
          </a:xfrm>
        </p:spPr>
        <p:txBody>
          <a:bodyPr>
            <a:normAutofit/>
          </a:bodyPr>
          <a:lstStyle/>
          <a:p>
            <a:pPr marL="276225" indent="-276225"/>
            <a:r>
              <a:rPr lang="id-ID" sz="2400" dirty="0"/>
              <a:t> </a:t>
            </a:r>
            <a:r>
              <a:rPr lang="en-US" sz="2400" dirty="0" err="1"/>
              <a:t>Keadaan</a:t>
            </a:r>
            <a:r>
              <a:rPr lang="en-US" sz="2400" dirty="0"/>
              <a:t> </a:t>
            </a:r>
            <a:r>
              <a:rPr lang="en-US" sz="2400" i="1" dirty="0"/>
              <a:t>don’t care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kondisi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dirty="0" err="1"/>
              <a:t>peubah</a:t>
            </a:r>
            <a:r>
              <a:rPr lang="en-US" sz="2400" dirty="0"/>
              <a:t> yang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diperhitungkan</a:t>
            </a:r>
            <a:r>
              <a:rPr lang="en-US" sz="2400" dirty="0"/>
              <a:t> oleh </a:t>
            </a:r>
            <a:r>
              <a:rPr lang="en-US" sz="2400" dirty="0" err="1"/>
              <a:t>fungsinya</a:t>
            </a:r>
            <a:r>
              <a:rPr lang="en-US" sz="2400" dirty="0"/>
              <a:t>. </a:t>
            </a:r>
            <a:endParaRPr lang="id-ID" sz="2400" dirty="0"/>
          </a:p>
          <a:p>
            <a:pPr marL="0" indent="0"/>
            <a:endParaRPr lang="id-ID" sz="2400" dirty="0"/>
          </a:p>
          <a:p>
            <a:pPr marL="276225" indent="-276225"/>
            <a:r>
              <a:rPr lang="id-ID" sz="2400" dirty="0"/>
              <a:t> </a:t>
            </a:r>
            <a:r>
              <a:rPr lang="en-US" sz="2400" dirty="0" err="1"/>
              <a:t>Artinya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1 </a:t>
            </a:r>
            <a:r>
              <a:rPr lang="en-US" sz="2400" dirty="0" err="1"/>
              <a:t>atau</a:t>
            </a:r>
            <a:r>
              <a:rPr lang="en-US" sz="2400" dirty="0"/>
              <a:t>  0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peubah</a:t>
            </a:r>
            <a:r>
              <a:rPr lang="en-US" sz="2400" dirty="0"/>
              <a:t> </a:t>
            </a:r>
            <a:r>
              <a:rPr lang="en-US" sz="2400" i="1" dirty="0"/>
              <a:t>don’t  care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berpengaruh</a:t>
            </a:r>
            <a:r>
              <a:rPr lang="en-US" sz="2400" dirty="0"/>
              <a:t> pada </a:t>
            </a:r>
            <a:r>
              <a:rPr lang="en-US" sz="2400" dirty="0" err="1"/>
              <a:t>hasil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</a:t>
            </a:r>
            <a:r>
              <a:rPr lang="en-US" sz="2400" dirty="0" err="1"/>
              <a:t>tersebut</a:t>
            </a:r>
            <a:r>
              <a:rPr lang="id-ID" sz="2400" dirty="0"/>
              <a:t>.</a:t>
            </a:r>
          </a:p>
          <a:p>
            <a:pPr marL="276225" indent="-276225"/>
            <a:endParaRPr lang="id-ID" sz="2400" dirty="0"/>
          </a:p>
          <a:p>
            <a:pPr marL="276225" indent="-276225"/>
            <a:r>
              <a:rPr lang="en-US" sz="2400" dirty="0" err="1"/>
              <a:t>Contoh</a:t>
            </a:r>
            <a:r>
              <a:rPr lang="id-ID" sz="2400" dirty="0"/>
              <a:t>: </a:t>
            </a:r>
          </a:p>
          <a:p>
            <a:pPr marL="276225" indent="-276225">
              <a:buNone/>
            </a:pPr>
            <a:r>
              <a:rPr lang="id-ID" sz="2400" dirty="0"/>
              <a:t>	</a:t>
            </a:r>
            <a:r>
              <a:rPr lang="en-US" sz="2400" dirty="0"/>
              <a:t>-</a:t>
            </a:r>
            <a:r>
              <a:rPr lang="id-ID" sz="2400" dirty="0"/>
              <a:t> </a:t>
            </a:r>
            <a:r>
              <a:rPr lang="en-US" sz="2400" dirty="0"/>
              <a:t>P</a:t>
            </a:r>
            <a:r>
              <a:rPr lang="id-ID" sz="2400" dirty="0"/>
              <a:t>eraga digital angka desimal </a:t>
            </a:r>
            <a:r>
              <a:rPr lang="en-US" sz="2400" dirty="0"/>
              <a:t>0 </a:t>
            </a:r>
            <a:r>
              <a:rPr lang="en-US" sz="2400" dirty="0" err="1"/>
              <a:t>sampai</a:t>
            </a:r>
            <a:r>
              <a:rPr lang="en-US" sz="2400" dirty="0"/>
              <a:t> 9. </a:t>
            </a:r>
            <a:endParaRPr lang="id-ID" sz="2400" dirty="0"/>
          </a:p>
          <a:p>
            <a:pPr marL="276225" indent="-276225">
              <a:buNone/>
            </a:pPr>
            <a:r>
              <a:rPr lang="id-ID" sz="2400" dirty="0"/>
              <a:t>	- </a:t>
            </a:r>
            <a:r>
              <a:rPr lang="en-US" sz="2400" dirty="0" err="1"/>
              <a:t>Jumlah</a:t>
            </a:r>
            <a:r>
              <a:rPr lang="en-US" sz="2400" dirty="0"/>
              <a:t> bit yang </a:t>
            </a:r>
            <a:r>
              <a:rPr lang="en-US" sz="2400" dirty="0" err="1"/>
              <a:t>diperlukan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merepresentasikan</a:t>
            </a:r>
            <a:r>
              <a:rPr lang="en-US" sz="2400" dirty="0"/>
              <a:t> </a:t>
            </a:r>
            <a:r>
              <a:rPr lang="en-US" sz="2400" dirty="0" err="1"/>
              <a:t>angka</a:t>
            </a:r>
            <a:r>
              <a:rPr lang="en-US" sz="2400" dirty="0"/>
              <a:t> 0 </a:t>
            </a:r>
            <a:r>
              <a:rPr lang="en-US" sz="2400" dirty="0" err="1"/>
              <a:t>sampai</a:t>
            </a:r>
            <a:r>
              <a:rPr lang="en-US" sz="2400" dirty="0"/>
              <a:t> 9 </a:t>
            </a:r>
            <a:r>
              <a:rPr lang="id-ID" sz="2400" dirty="0"/>
              <a:t>=  4 bit.</a:t>
            </a:r>
          </a:p>
          <a:p>
            <a:pPr marL="276225" indent="-276225">
              <a:buNone/>
            </a:pPr>
            <a:r>
              <a:rPr lang="id-ID" sz="2400" dirty="0"/>
              <a:t>	- </a:t>
            </a:r>
            <a:r>
              <a:rPr lang="en-US" sz="2400" dirty="0" err="1"/>
              <a:t>Sehingga</a:t>
            </a:r>
            <a:r>
              <a:rPr lang="en-US" sz="2400" dirty="0"/>
              <a:t>, b</a:t>
            </a:r>
            <a:r>
              <a:rPr lang="id-ID" sz="2400" dirty="0"/>
              <a:t>it-bit untuk angka 10-15 tidak terpakai </a:t>
            </a:r>
          </a:p>
          <a:p>
            <a:pPr marL="276225" indent="-276225"/>
            <a:endParaRPr lang="id-ID" sz="2400" dirty="0"/>
          </a:p>
          <a:p>
            <a:pPr marL="276225" indent="-276225"/>
            <a:endParaRPr lang="id-ID" sz="2400" dirty="0"/>
          </a:p>
          <a:p>
            <a:pPr marL="276225" indent="-276225"/>
            <a:endParaRPr lang="id-ID" dirty="0"/>
          </a:p>
          <a:p>
            <a:pPr>
              <a:buNone/>
            </a:pPr>
            <a:endParaRPr lang="id-ID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76802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788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81356" y="857233"/>
            <a:ext cx="3929090" cy="4779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881818" y="3786190"/>
          <a:ext cx="3143272" cy="185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98400" imgH="393480" progId="Equation.3">
                  <p:embed/>
                </p:oleObj>
              </mc:Choice>
              <mc:Fallback>
                <p:oleObj name="Equation" r:id="rId3" imgW="698400" imgH="393480" progId="Equation.3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1818" y="3786190"/>
                        <a:ext cx="3143272" cy="1857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4727" y="642919"/>
            <a:ext cx="9351818" cy="5340369"/>
          </a:xfrm>
        </p:spPr>
        <p:txBody>
          <a:bodyPr>
            <a:noAutofit/>
          </a:bodyPr>
          <a:lstStyle/>
          <a:p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menyederhanakan</a:t>
            </a:r>
            <a:r>
              <a:rPr lang="en-US" sz="2400" dirty="0"/>
              <a:t> </a:t>
            </a:r>
            <a:r>
              <a:rPr lang="en-US" sz="2400" dirty="0" err="1"/>
              <a:t>Peta</a:t>
            </a:r>
            <a:r>
              <a:rPr lang="en-US" sz="2400" dirty="0"/>
              <a:t> </a:t>
            </a:r>
            <a:r>
              <a:rPr lang="en-US" sz="2400" dirty="0" err="1"/>
              <a:t>Karnaugh</a:t>
            </a:r>
            <a:r>
              <a:rPr lang="en-US" sz="2400" dirty="0"/>
              <a:t> yang </a:t>
            </a:r>
            <a:r>
              <a:rPr lang="en-US" sz="2400" dirty="0" err="1"/>
              <a:t>mengandung</a:t>
            </a:r>
            <a:r>
              <a:rPr lang="en-US" sz="2400" dirty="0"/>
              <a:t> </a:t>
            </a:r>
            <a:r>
              <a:rPr lang="en-US" sz="2400" dirty="0" err="1"/>
              <a:t>keadaan</a:t>
            </a:r>
            <a:r>
              <a:rPr lang="en-US" sz="2400" dirty="0"/>
              <a:t> </a:t>
            </a:r>
            <a:r>
              <a:rPr lang="en-US" sz="2400" i="1" dirty="0"/>
              <a:t>don’t care</a:t>
            </a:r>
            <a:r>
              <a:rPr lang="en-US" sz="2400" dirty="0"/>
              <a:t>,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dua</a:t>
            </a:r>
            <a:r>
              <a:rPr lang="en-US" sz="2400" dirty="0"/>
              <a:t> </a:t>
            </a:r>
            <a:r>
              <a:rPr lang="en-US" sz="2400" dirty="0" err="1"/>
              <a:t>hal</a:t>
            </a:r>
            <a:r>
              <a:rPr lang="en-US" sz="2400" dirty="0"/>
              <a:t> </a:t>
            </a:r>
            <a:r>
              <a:rPr lang="en-US" sz="2400" dirty="0" err="1"/>
              <a:t>penting</a:t>
            </a:r>
            <a:r>
              <a:rPr lang="en-US" sz="2400" dirty="0"/>
              <a:t> </a:t>
            </a:r>
            <a:r>
              <a:rPr lang="id-ID" sz="2400" dirty="0"/>
              <a:t>sebagai </a:t>
            </a:r>
            <a:r>
              <a:rPr lang="en-US" sz="2400" dirty="0"/>
              <a:t> </a:t>
            </a:r>
            <a:r>
              <a:rPr lang="en-US" sz="2400" dirty="0" err="1"/>
              <a:t>pegangan</a:t>
            </a:r>
            <a:r>
              <a:rPr lang="en-US" sz="2400" dirty="0"/>
              <a:t>. </a:t>
            </a:r>
            <a:endParaRPr lang="id-ID" sz="2400" dirty="0"/>
          </a:p>
          <a:p>
            <a:endParaRPr lang="id-ID" sz="2400" dirty="0"/>
          </a:p>
          <a:p>
            <a:r>
              <a:rPr lang="en-US" sz="2400" dirty="0" err="1"/>
              <a:t>Pertama</a:t>
            </a:r>
            <a:r>
              <a:rPr lang="en-US" sz="2400" dirty="0"/>
              <a:t>, </a:t>
            </a:r>
            <a:r>
              <a:rPr lang="en-US" sz="2400" dirty="0" err="1"/>
              <a:t>kita</a:t>
            </a:r>
            <a:r>
              <a:rPr lang="en-US" sz="2400" dirty="0"/>
              <a:t> </a:t>
            </a:r>
            <a:r>
              <a:rPr lang="en-US" sz="2400" dirty="0" err="1"/>
              <a:t>anggap</a:t>
            </a:r>
            <a:r>
              <a:rPr lang="en-US" sz="2400" dirty="0"/>
              <a:t> </a:t>
            </a:r>
            <a:r>
              <a:rPr lang="en-US" sz="2400" dirty="0" err="1"/>
              <a:t>semua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i="1" dirty="0"/>
              <a:t>don’t care</a:t>
            </a:r>
            <a:r>
              <a:rPr lang="en-US" sz="2400" dirty="0"/>
              <a:t> (</a:t>
            </a:r>
            <a:r>
              <a:rPr lang="en-US" sz="2400" i="1" dirty="0"/>
              <a:t>X</a:t>
            </a:r>
            <a:r>
              <a:rPr lang="en-US" sz="2400" dirty="0"/>
              <a:t>) </a:t>
            </a:r>
            <a:r>
              <a:rPr lang="en-US" sz="2400" dirty="0" err="1"/>
              <a:t>sama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1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kemudian</a:t>
            </a:r>
            <a:r>
              <a:rPr lang="en-US" sz="2400" dirty="0"/>
              <a:t> </a:t>
            </a:r>
            <a:r>
              <a:rPr lang="en-US" sz="2400" dirty="0" err="1"/>
              <a:t>membentuk</a:t>
            </a:r>
            <a:r>
              <a:rPr lang="en-US" sz="2400" dirty="0"/>
              <a:t> </a:t>
            </a:r>
            <a:r>
              <a:rPr lang="en-US" sz="2400" dirty="0" err="1"/>
              <a:t>kelompok</a:t>
            </a:r>
            <a:r>
              <a:rPr lang="en-US" sz="2400" dirty="0"/>
              <a:t> </a:t>
            </a:r>
            <a:r>
              <a:rPr lang="en-US" sz="2400" dirty="0" err="1"/>
              <a:t>sebesar</a:t>
            </a:r>
            <a:r>
              <a:rPr lang="en-US" sz="2400" dirty="0"/>
              <a:t> </a:t>
            </a:r>
            <a:r>
              <a:rPr lang="en-US" sz="2400" dirty="0" err="1"/>
              <a:t>mungkin</a:t>
            </a:r>
            <a:r>
              <a:rPr lang="en-US" sz="2400" dirty="0"/>
              <a:t> yang </a:t>
            </a:r>
            <a:r>
              <a:rPr lang="en-US" sz="2400" dirty="0" err="1"/>
              <a:t>melibatkan</a:t>
            </a:r>
            <a:r>
              <a:rPr lang="en-US" sz="2400" dirty="0"/>
              <a:t> </a:t>
            </a:r>
            <a:r>
              <a:rPr lang="en-US" sz="2400" dirty="0" err="1"/>
              <a:t>angka</a:t>
            </a:r>
            <a:r>
              <a:rPr lang="en-US" sz="2400" dirty="0"/>
              <a:t> 1 </a:t>
            </a:r>
            <a:r>
              <a:rPr lang="en-US" sz="2400" dirty="0" err="1"/>
              <a:t>termasuk</a:t>
            </a:r>
            <a:r>
              <a:rPr lang="en-US" sz="2400" dirty="0"/>
              <a:t> </a:t>
            </a:r>
            <a:r>
              <a:rPr lang="en-US" sz="2400" dirty="0" err="1"/>
              <a:t>tanda</a:t>
            </a:r>
            <a:r>
              <a:rPr lang="en-US" sz="2400" dirty="0"/>
              <a:t> </a:t>
            </a:r>
            <a:r>
              <a:rPr lang="en-US" sz="2400" i="1" dirty="0"/>
              <a:t>X</a:t>
            </a:r>
            <a:r>
              <a:rPr lang="en-US" sz="2400" dirty="0"/>
              <a:t> </a:t>
            </a:r>
            <a:r>
              <a:rPr lang="en-US" sz="2400" dirty="0" err="1"/>
              <a:t>tersebut</a:t>
            </a:r>
            <a:r>
              <a:rPr lang="en-US" sz="2400" dirty="0"/>
              <a:t>. </a:t>
            </a:r>
            <a:endParaRPr lang="id-ID" sz="2400" dirty="0"/>
          </a:p>
          <a:p>
            <a:endParaRPr lang="id-ID" sz="2400" dirty="0"/>
          </a:p>
          <a:p>
            <a:r>
              <a:rPr lang="en-US" sz="2400" dirty="0" err="1"/>
              <a:t>Kedua</a:t>
            </a:r>
            <a:r>
              <a:rPr lang="en-US" sz="2400" dirty="0"/>
              <a:t>, </a:t>
            </a:r>
            <a:r>
              <a:rPr lang="en-US" sz="2400" dirty="0" err="1"/>
              <a:t>semua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i="1" dirty="0"/>
              <a:t>X</a:t>
            </a:r>
            <a:r>
              <a:rPr lang="en-US" sz="2400" dirty="0"/>
              <a:t> yang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termasuk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kelompok</a:t>
            </a:r>
            <a:r>
              <a:rPr lang="en-US" sz="2400" dirty="0"/>
              <a:t> </a:t>
            </a:r>
            <a:r>
              <a:rPr lang="en-US" sz="2400" dirty="0" err="1"/>
              <a:t>tersebut</a:t>
            </a:r>
            <a:r>
              <a:rPr lang="en-US" sz="2400" dirty="0"/>
              <a:t> </a:t>
            </a:r>
            <a:r>
              <a:rPr lang="en-US" sz="2400" dirty="0" err="1"/>
              <a:t>kita</a:t>
            </a:r>
            <a:r>
              <a:rPr lang="en-US" sz="2400" dirty="0"/>
              <a:t> </a:t>
            </a:r>
            <a:r>
              <a:rPr lang="en-US" sz="2400" dirty="0" err="1"/>
              <a:t>anggap</a:t>
            </a:r>
            <a:r>
              <a:rPr lang="en-US" sz="2400" dirty="0"/>
              <a:t> </a:t>
            </a:r>
            <a:r>
              <a:rPr lang="en-US" sz="2400" dirty="0" err="1"/>
              <a:t>bernilai</a:t>
            </a:r>
            <a:r>
              <a:rPr lang="en-US" sz="2400" dirty="0"/>
              <a:t> 0. </a:t>
            </a:r>
            <a:endParaRPr lang="id-ID" sz="2400" dirty="0"/>
          </a:p>
          <a:p>
            <a:endParaRPr lang="id-ID" sz="2400" dirty="0"/>
          </a:p>
          <a:p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cara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, </a:t>
            </a:r>
            <a:r>
              <a:rPr lang="en-US" sz="2400" dirty="0" err="1"/>
              <a:t>keadaan-keadaan</a:t>
            </a:r>
            <a:r>
              <a:rPr lang="en-US" sz="2400" dirty="0"/>
              <a:t> </a:t>
            </a:r>
            <a:r>
              <a:rPr lang="en-US" sz="2400" i="1" dirty="0"/>
              <a:t>X</a:t>
            </a:r>
            <a:r>
              <a:rPr lang="en-US" sz="2400" dirty="0"/>
              <a:t> </a:t>
            </a:r>
            <a:r>
              <a:rPr lang="en-US" sz="2400" dirty="0" err="1"/>
              <a:t>telah</a:t>
            </a:r>
            <a:r>
              <a:rPr lang="en-US" sz="2400" dirty="0"/>
              <a:t> </a:t>
            </a:r>
            <a:r>
              <a:rPr lang="en-US" sz="2400" dirty="0" err="1"/>
              <a:t>dimanfaatkan</a:t>
            </a:r>
            <a:r>
              <a:rPr lang="en-US" sz="2400" dirty="0"/>
              <a:t> </a:t>
            </a:r>
            <a:r>
              <a:rPr lang="en-US" sz="2400" dirty="0" err="1"/>
              <a:t>semaksimal</a:t>
            </a:r>
            <a:r>
              <a:rPr lang="en-US" sz="2400" dirty="0"/>
              <a:t> </a:t>
            </a:r>
            <a:r>
              <a:rPr lang="en-US" sz="2400" dirty="0" err="1"/>
              <a:t>mungkin</a:t>
            </a:r>
            <a:r>
              <a:rPr lang="id-ID" sz="2400" dirty="0"/>
              <a:t>,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kita</a:t>
            </a:r>
            <a:r>
              <a:rPr lang="en-US" sz="2400" dirty="0"/>
              <a:t> </a:t>
            </a:r>
            <a:r>
              <a:rPr lang="en-US" sz="2400" dirty="0" err="1"/>
              <a:t>boleh</a:t>
            </a:r>
            <a:r>
              <a:rPr lang="en-US" sz="2400" dirty="0"/>
              <a:t> </a:t>
            </a:r>
            <a:r>
              <a:rPr lang="en-US" sz="2400" dirty="0" err="1"/>
              <a:t>melakukannya</a:t>
            </a:r>
            <a:r>
              <a:rPr lang="en-US" sz="2400" dirty="0"/>
              <a:t> </a:t>
            </a:r>
            <a:r>
              <a:rPr lang="en-US" sz="2400" dirty="0" err="1"/>
              <a:t>secara</a:t>
            </a:r>
            <a:r>
              <a:rPr lang="en-US" sz="2400" dirty="0"/>
              <a:t> </a:t>
            </a:r>
            <a:r>
              <a:rPr lang="en-US" sz="2400" dirty="0" err="1"/>
              <a:t>bebas</a:t>
            </a:r>
            <a:r>
              <a:rPr lang="id-ID" sz="2400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3548" y="785795"/>
            <a:ext cx="10147852" cy="5340369"/>
          </a:xfrm>
        </p:spPr>
        <p:txBody>
          <a:bodyPr/>
          <a:lstStyle/>
          <a:p>
            <a:pPr marL="0" indent="0">
              <a:buNone/>
            </a:pPr>
            <a:r>
              <a:rPr lang="id-ID" sz="2400" b="1" dirty="0"/>
              <a:t>Contoh</a:t>
            </a:r>
            <a:r>
              <a:rPr lang="id-ID" sz="2400" dirty="0"/>
              <a:t>:  S</a:t>
            </a:r>
            <a:r>
              <a:rPr lang="en-US" sz="2400" dirty="0" err="1"/>
              <a:t>ebuah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Boolean, </a:t>
            </a:r>
            <a:r>
              <a:rPr lang="en-US" sz="2400" i="1" dirty="0"/>
              <a:t>f</a:t>
            </a:r>
            <a:r>
              <a:rPr lang="id-ID" sz="2400" dirty="0"/>
              <a:t>,</a:t>
            </a:r>
            <a:r>
              <a:rPr lang="en-US" sz="2400" dirty="0"/>
              <a:t> </a:t>
            </a:r>
            <a:r>
              <a:rPr lang="id-ID" sz="2400" dirty="0"/>
              <a:t> dinyatakan dengan tabel  berikut. </a:t>
            </a:r>
            <a:r>
              <a:rPr lang="en-US" sz="2400" dirty="0" err="1"/>
              <a:t>Minimisasi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</a:t>
            </a:r>
            <a:r>
              <a:rPr lang="en-US" sz="2400" i="1" dirty="0"/>
              <a:t>f</a:t>
            </a:r>
            <a:r>
              <a:rPr lang="en-US" sz="2400" dirty="0"/>
              <a:t> </a:t>
            </a:r>
            <a:r>
              <a:rPr lang="en-US" sz="2400" dirty="0" err="1"/>
              <a:t>sesederhana</a:t>
            </a:r>
            <a:r>
              <a:rPr lang="en-US" sz="2400" dirty="0"/>
              <a:t> </a:t>
            </a:r>
            <a:r>
              <a:rPr lang="en-US" sz="2400" dirty="0" err="1"/>
              <a:t>mungkin</a:t>
            </a:r>
            <a:r>
              <a:rPr lang="en-US" sz="2400" dirty="0"/>
              <a:t>.</a:t>
            </a:r>
            <a:endParaRPr lang="id-ID" sz="2400" dirty="0"/>
          </a:p>
          <a:p>
            <a:pPr>
              <a:buNone/>
            </a:pPr>
            <a:endParaRPr lang="id-ID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37279" y="1690713"/>
            <a:ext cx="4388603" cy="4550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9" y="785795"/>
            <a:ext cx="9680713" cy="534036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d-ID" dirty="0"/>
              <a:t>Penyelesaian:</a:t>
            </a:r>
          </a:p>
          <a:p>
            <a:pPr>
              <a:buNone/>
            </a:pPr>
            <a:endParaRPr lang="id-ID" dirty="0"/>
          </a:p>
          <a:p>
            <a:pPr>
              <a:buNone/>
            </a:pPr>
            <a:endParaRPr lang="id-ID" dirty="0"/>
          </a:p>
          <a:p>
            <a:pPr>
              <a:buNone/>
            </a:pPr>
            <a:endParaRPr lang="id-ID" dirty="0"/>
          </a:p>
          <a:p>
            <a:pPr>
              <a:buNone/>
            </a:pPr>
            <a:endParaRPr lang="id-ID" dirty="0"/>
          </a:p>
          <a:p>
            <a:pPr>
              <a:buNone/>
            </a:pPr>
            <a:endParaRPr lang="id-ID" dirty="0"/>
          </a:p>
          <a:p>
            <a:pPr>
              <a:buNone/>
            </a:pPr>
            <a:endParaRPr lang="id-ID" dirty="0"/>
          </a:p>
          <a:p>
            <a:pPr>
              <a:buNone/>
            </a:pPr>
            <a:endParaRPr lang="id-ID" dirty="0"/>
          </a:p>
          <a:p>
            <a:pPr>
              <a:buNone/>
            </a:pPr>
            <a:endParaRPr lang="id-ID" dirty="0"/>
          </a:p>
          <a:p>
            <a:pPr>
              <a:buNone/>
            </a:pP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penyederhanaan</a:t>
            </a:r>
            <a:r>
              <a:rPr lang="en-US" dirty="0"/>
              <a:t>: 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w</a:t>
            </a:r>
            <a:r>
              <a:rPr lang="en-US" dirty="0"/>
              <a:t>, 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) = </a:t>
            </a:r>
            <a:r>
              <a:rPr lang="en-US" i="1" dirty="0" err="1"/>
              <a:t>xz</a:t>
            </a:r>
            <a:r>
              <a:rPr lang="en-US" dirty="0"/>
              <a:t> + </a:t>
            </a:r>
            <a:r>
              <a:rPr lang="en-US" i="1" dirty="0" err="1"/>
              <a:t>y</a:t>
            </a:r>
            <a:r>
              <a:rPr lang="en-US" dirty="0" err="1"/>
              <a:t>’</a:t>
            </a:r>
            <a:r>
              <a:rPr lang="en-US" i="1" dirty="0" err="1"/>
              <a:t>z</a:t>
            </a:r>
            <a:r>
              <a:rPr lang="en-US" dirty="0"/>
              <a:t>’ + </a:t>
            </a:r>
            <a:r>
              <a:rPr lang="en-US" i="1" dirty="0" err="1"/>
              <a:t>yz</a:t>
            </a:r>
            <a:r>
              <a:rPr lang="en-US" dirty="0"/>
              <a:t>  	</a:t>
            </a:r>
            <a:endParaRPr lang="id-ID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80898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915F0B-913F-425B-8231-3965B7BA0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262" y="1212850"/>
            <a:ext cx="4562475" cy="3848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1AA1CF-935D-40DC-8B38-0A98A91AD7C5}"/>
              </a:ext>
            </a:extLst>
          </p:cNvPr>
          <p:cNvSpPr txBox="1"/>
          <p:nvPr/>
        </p:nvSpPr>
        <p:spPr>
          <a:xfrm>
            <a:off x="5226619" y="4368800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5191" y="785795"/>
            <a:ext cx="10376452" cy="5340369"/>
          </a:xfrm>
        </p:spPr>
        <p:txBody>
          <a:bodyPr/>
          <a:lstStyle/>
          <a:p>
            <a:pPr marL="0" indent="0">
              <a:buNone/>
            </a:pPr>
            <a:r>
              <a:rPr lang="id-ID" sz="2400" b="1" dirty="0"/>
              <a:t>Contoh</a:t>
            </a:r>
            <a:r>
              <a:rPr lang="id-ID" sz="2400" dirty="0"/>
              <a:t>: </a:t>
            </a:r>
            <a:r>
              <a:rPr lang="en-US" sz="2400" dirty="0" err="1"/>
              <a:t>Minimisasi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Boolean </a:t>
            </a:r>
            <a:r>
              <a:rPr lang="en-US" sz="2400" dirty="0" err="1"/>
              <a:t>berikut</a:t>
            </a:r>
            <a:r>
              <a:rPr lang="en-US" sz="2400" dirty="0"/>
              <a:t> (</a:t>
            </a:r>
            <a:r>
              <a:rPr lang="id-ID" sz="2400" dirty="0"/>
              <a:t> dalam bentuk </a:t>
            </a:r>
            <a:r>
              <a:rPr lang="en-US" sz="2400" dirty="0" err="1"/>
              <a:t>baku</a:t>
            </a:r>
            <a:r>
              <a:rPr lang="en-US" sz="2400" dirty="0"/>
              <a:t> SOP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bentuk</a:t>
            </a:r>
            <a:r>
              <a:rPr lang="en-US" sz="2400" dirty="0"/>
              <a:t> </a:t>
            </a:r>
            <a:r>
              <a:rPr lang="en-US" sz="2400" dirty="0" err="1"/>
              <a:t>baku</a:t>
            </a:r>
            <a:r>
              <a:rPr lang="en-US" sz="2400" dirty="0"/>
              <a:t> POS):</a:t>
            </a:r>
            <a:r>
              <a:rPr lang="id-ID" sz="2400" dirty="0"/>
              <a:t> </a:t>
            </a:r>
            <a:r>
              <a:rPr lang="en-US" sz="2400" dirty="0"/>
              <a:t> </a:t>
            </a:r>
            <a:r>
              <a:rPr lang="en-US" sz="2400" i="1" dirty="0"/>
              <a:t>f</a:t>
            </a:r>
            <a:r>
              <a:rPr lang="en-US" sz="2400" dirty="0"/>
              <a:t>(</a:t>
            </a:r>
            <a:r>
              <a:rPr lang="en-US" sz="2400" i="1" dirty="0"/>
              <a:t>w</a:t>
            </a:r>
            <a:r>
              <a:rPr lang="en-US" sz="2400" dirty="0"/>
              <a:t>, </a:t>
            </a:r>
            <a:r>
              <a:rPr lang="en-US" sz="2400" i="1" dirty="0"/>
              <a:t>x</a:t>
            </a:r>
            <a:r>
              <a:rPr lang="en-US" sz="2400" dirty="0"/>
              <a:t>, </a:t>
            </a:r>
            <a:r>
              <a:rPr lang="en-US" sz="2400" i="1" dirty="0"/>
              <a:t>y</a:t>
            </a:r>
            <a:r>
              <a:rPr lang="en-US" sz="2400" dirty="0"/>
              <a:t>, </a:t>
            </a:r>
            <a:r>
              <a:rPr lang="en-US" sz="2400" i="1" dirty="0"/>
              <a:t>z</a:t>
            </a:r>
            <a:r>
              <a:rPr lang="en-US" sz="2400" dirty="0"/>
              <a:t>) = </a:t>
            </a:r>
            <a:r>
              <a:rPr lang="en-US" sz="2400" dirty="0">
                <a:sym typeface="Symbol"/>
              </a:rPr>
              <a:t></a:t>
            </a:r>
            <a:r>
              <a:rPr lang="en-US" sz="2400" dirty="0"/>
              <a:t> (1, 3, 7, 11, 15)</a:t>
            </a:r>
            <a:endParaRPr lang="id-ID" sz="2400" dirty="0"/>
          </a:p>
          <a:p>
            <a:pPr>
              <a:buNone/>
            </a:pPr>
            <a:r>
              <a:rPr lang="en-US" sz="2400" dirty="0"/>
              <a:t> 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kondisi</a:t>
            </a:r>
            <a:r>
              <a:rPr lang="en-US" sz="2400" dirty="0"/>
              <a:t> </a:t>
            </a:r>
            <a:r>
              <a:rPr lang="en-US" sz="2400" i="1" dirty="0"/>
              <a:t>don’t care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i="1" dirty="0"/>
              <a:t>d</a:t>
            </a:r>
            <a:r>
              <a:rPr lang="en-US" sz="2400" dirty="0"/>
              <a:t>(</a:t>
            </a:r>
            <a:r>
              <a:rPr lang="en-US" sz="2400" i="1" dirty="0"/>
              <a:t>w</a:t>
            </a:r>
            <a:r>
              <a:rPr lang="en-US" sz="2400" dirty="0"/>
              <a:t>, </a:t>
            </a:r>
            <a:r>
              <a:rPr lang="en-US" sz="2400" i="1" dirty="0"/>
              <a:t>x</a:t>
            </a:r>
            <a:r>
              <a:rPr lang="en-US" sz="2400" dirty="0"/>
              <a:t>, </a:t>
            </a:r>
            <a:r>
              <a:rPr lang="en-US" sz="2400" i="1" dirty="0"/>
              <a:t>y</a:t>
            </a:r>
            <a:r>
              <a:rPr lang="en-US" sz="2400" dirty="0"/>
              <a:t>, </a:t>
            </a:r>
            <a:r>
              <a:rPr lang="en-US" sz="2400" i="1" dirty="0"/>
              <a:t>z</a:t>
            </a:r>
            <a:r>
              <a:rPr lang="en-US" sz="2400" dirty="0"/>
              <a:t>) = </a:t>
            </a:r>
            <a:r>
              <a:rPr lang="en-US" sz="2400" dirty="0">
                <a:sym typeface="Symbol"/>
              </a:rPr>
              <a:t></a:t>
            </a:r>
            <a:r>
              <a:rPr lang="en-US" sz="2400" dirty="0"/>
              <a:t> (0, 2, 5)</a:t>
            </a:r>
            <a:r>
              <a:rPr lang="id-ID" sz="2400" dirty="0"/>
              <a:t>.</a:t>
            </a:r>
          </a:p>
          <a:p>
            <a:pPr>
              <a:buNone/>
            </a:pPr>
            <a:r>
              <a:rPr lang="id-ID" sz="2400" u="sng" dirty="0"/>
              <a:t>Penyelesaian</a:t>
            </a:r>
            <a:r>
              <a:rPr lang="id-ID" sz="2400" dirty="0"/>
              <a:t>:</a:t>
            </a:r>
          </a:p>
          <a:p>
            <a:pPr>
              <a:buNone/>
            </a:pPr>
            <a:endParaRPr lang="id-ID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2F347-2177-4539-9195-2E0D0E2C8E9D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graphicFrame>
        <p:nvGraphicFramePr>
          <p:cNvPr id="82945" name="Object 1"/>
          <p:cNvGraphicFramePr>
            <a:graphicFrameLocks noChangeAspect="1"/>
          </p:cNvGraphicFramePr>
          <p:nvPr/>
        </p:nvGraphicFramePr>
        <p:xfrm>
          <a:off x="4095736" y="2071679"/>
          <a:ext cx="3786214" cy="3225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54352" imgH="1751076" progId="Visio.Drawing.5">
                  <p:embed/>
                </p:oleObj>
              </mc:Choice>
              <mc:Fallback>
                <p:oleObj r:id="rId2" imgW="2054352" imgH="1751076" progId="Visio.Drawing.5">
                  <p:embed/>
                  <p:pic>
                    <p:nvPicPr>
                      <p:cNvPr id="8294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5736" y="2071679"/>
                        <a:ext cx="3786214" cy="322529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242077" y="5340687"/>
            <a:ext cx="70020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Hasil</a:t>
            </a:r>
            <a:r>
              <a:rPr lang="en-US" sz="2000" dirty="0"/>
              <a:t> </a:t>
            </a:r>
            <a:r>
              <a:rPr lang="en-US" sz="2000" dirty="0" err="1"/>
              <a:t>penyederhanaan</a:t>
            </a:r>
            <a:r>
              <a:rPr lang="id-ID" sz="2000" dirty="0"/>
              <a:t>: </a:t>
            </a:r>
            <a:r>
              <a:rPr lang="en-US" sz="2000" dirty="0"/>
              <a:t> </a:t>
            </a:r>
            <a:endParaRPr lang="id-ID" sz="2000" dirty="0"/>
          </a:p>
          <a:p>
            <a:r>
              <a:rPr lang="id-ID" sz="2000" dirty="0"/>
              <a:t>  SOP: </a:t>
            </a:r>
            <a:r>
              <a:rPr lang="en-US" sz="2000" i="1" dirty="0"/>
              <a:t>f</a:t>
            </a:r>
            <a:r>
              <a:rPr lang="en-US" sz="2000" dirty="0"/>
              <a:t>(</a:t>
            </a:r>
            <a:r>
              <a:rPr lang="en-US" sz="2000" i="1" dirty="0"/>
              <a:t>w</a:t>
            </a:r>
            <a:r>
              <a:rPr lang="en-US" sz="2000" dirty="0"/>
              <a:t>, </a:t>
            </a:r>
            <a:r>
              <a:rPr lang="en-US" sz="2000" i="1" dirty="0"/>
              <a:t>x</a:t>
            </a:r>
            <a:r>
              <a:rPr lang="en-US" sz="2000" dirty="0"/>
              <a:t>, </a:t>
            </a:r>
            <a:r>
              <a:rPr lang="en-US" sz="2000" i="1" dirty="0"/>
              <a:t>y</a:t>
            </a:r>
            <a:r>
              <a:rPr lang="en-US" sz="2000" dirty="0"/>
              <a:t>, </a:t>
            </a:r>
            <a:r>
              <a:rPr lang="en-US" sz="2000" i="1" dirty="0"/>
              <a:t>z</a:t>
            </a:r>
            <a:r>
              <a:rPr lang="en-US" sz="2000" dirty="0"/>
              <a:t>) = </a:t>
            </a:r>
            <a:r>
              <a:rPr lang="en-US" sz="2000" i="1" dirty="0" err="1"/>
              <a:t>yz</a:t>
            </a:r>
            <a:r>
              <a:rPr lang="en-US" sz="2000" dirty="0"/>
              <a:t> + </a:t>
            </a:r>
            <a:r>
              <a:rPr lang="en-US" sz="2000" i="1" dirty="0" err="1"/>
              <a:t>w</a:t>
            </a:r>
            <a:r>
              <a:rPr lang="en-US" sz="2000" dirty="0" err="1"/>
              <a:t>’</a:t>
            </a:r>
            <a:r>
              <a:rPr lang="en-US" sz="2000" i="1" dirty="0" err="1"/>
              <a:t>z</a:t>
            </a:r>
            <a:r>
              <a:rPr lang="en-US" sz="2000" dirty="0"/>
              <a:t>	</a:t>
            </a:r>
            <a:r>
              <a:rPr lang="id-ID" sz="2000" dirty="0"/>
              <a:t>(</a:t>
            </a:r>
            <a:r>
              <a:rPr lang="en-US" sz="2000" dirty="0" err="1"/>
              <a:t>kelompok</a:t>
            </a:r>
            <a:r>
              <a:rPr lang="en-US" sz="2000" dirty="0"/>
              <a:t> </a:t>
            </a:r>
            <a:r>
              <a:rPr lang="en-US" sz="2000" dirty="0" err="1"/>
              <a:t>garis</a:t>
            </a:r>
            <a:r>
              <a:rPr lang="en-US" sz="2000" dirty="0"/>
              <a:t> </a:t>
            </a:r>
            <a:r>
              <a:rPr lang="en-US" sz="2000" dirty="0" err="1"/>
              <a:t>penuh</a:t>
            </a:r>
            <a:r>
              <a:rPr lang="en-US" sz="2000" dirty="0"/>
              <a:t>)</a:t>
            </a:r>
            <a:endParaRPr lang="id-ID" sz="2000" dirty="0"/>
          </a:p>
          <a:p>
            <a:r>
              <a:rPr lang="id-ID" sz="2000" dirty="0"/>
              <a:t>  POS: </a:t>
            </a:r>
            <a:r>
              <a:rPr lang="en-US" sz="2000" i="1" dirty="0"/>
              <a:t>f</a:t>
            </a:r>
            <a:r>
              <a:rPr lang="en-US" sz="2000" dirty="0"/>
              <a:t>(</a:t>
            </a:r>
            <a:r>
              <a:rPr lang="en-US" sz="2000" i="1" dirty="0"/>
              <a:t>w</a:t>
            </a:r>
            <a:r>
              <a:rPr lang="en-US" sz="2000" dirty="0"/>
              <a:t>, </a:t>
            </a:r>
            <a:r>
              <a:rPr lang="en-US" sz="2000" i="1" dirty="0"/>
              <a:t>x</a:t>
            </a:r>
            <a:r>
              <a:rPr lang="en-US" sz="2000" dirty="0"/>
              <a:t>, </a:t>
            </a:r>
            <a:r>
              <a:rPr lang="en-US" sz="2000" i="1" dirty="0"/>
              <a:t>y</a:t>
            </a:r>
            <a:r>
              <a:rPr lang="en-US" sz="2000" dirty="0"/>
              <a:t>, </a:t>
            </a:r>
            <a:r>
              <a:rPr lang="en-US" sz="2000" i="1" dirty="0"/>
              <a:t>z</a:t>
            </a:r>
            <a:r>
              <a:rPr lang="en-US" sz="2000" dirty="0"/>
              <a:t>) = </a:t>
            </a:r>
            <a:r>
              <a:rPr lang="en-US" sz="2000" i="1" dirty="0"/>
              <a:t>z</a:t>
            </a:r>
            <a:r>
              <a:rPr lang="en-US" sz="2000" dirty="0"/>
              <a:t> (</a:t>
            </a:r>
            <a:r>
              <a:rPr lang="en-US" sz="2000" i="1" dirty="0"/>
              <a:t>w</a:t>
            </a:r>
            <a:r>
              <a:rPr lang="en-US" sz="2000" dirty="0"/>
              <a:t>’ + </a:t>
            </a:r>
            <a:r>
              <a:rPr lang="en-US" sz="2000" i="1" dirty="0"/>
              <a:t>y</a:t>
            </a:r>
            <a:r>
              <a:rPr lang="en-US" sz="2000" dirty="0"/>
              <a:t>)	(</a:t>
            </a:r>
            <a:r>
              <a:rPr lang="en-US" sz="2000" dirty="0" err="1"/>
              <a:t>kelompok</a:t>
            </a:r>
            <a:r>
              <a:rPr lang="en-US" sz="2000" dirty="0"/>
              <a:t> </a:t>
            </a:r>
            <a:r>
              <a:rPr lang="en-US" sz="2000" dirty="0" err="1"/>
              <a:t>garis</a:t>
            </a:r>
            <a:r>
              <a:rPr lang="en-US" sz="2000" dirty="0"/>
              <a:t> </a:t>
            </a:r>
            <a:r>
              <a:rPr lang="en-US" sz="2000" dirty="0" err="1"/>
              <a:t>putus-putus</a:t>
            </a:r>
            <a:r>
              <a:rPr lang="id-ID" sz="2000" dirty="0"/>
              <a:t>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613AF-B73F-28C0-023A-3D85B1313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407C5-489D-F663-4CA8-2A5699D9F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70127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 err="1"/>
              <a:t>Diberikan</a:t>
            </a:r>
            <a:r>
              <a:rPr lang="en-US" sz="2400" dirty="0"/>
              <a:t> dua </a:t>
            </a:r>
            <a:r>
              <a:rPr lang="en-US" sz="2400" dirty="0" err="1"/>
              <a:t>buah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Boolean f dan g. </a:t>
            </a:r>
            <a:r>
              <a:rPr lang="en-US" sz="2400" dirty="0" err="1"/>
              <a:t>Maka</a:t>
            </a:r>
            <a:r>
              <a:rPr lang="en-US" sz="2400" dirty="0"/>
              <a:t>, </a:t>
            </a:r>
            <a:r>
              <a:rPr lang="en-US" sz="2400" dirty="0" err="1"/>
              <a:t>fungsi</a:t>
            </a:r>
            <a:r>
              <a:rPr lang="en-US" sz="2400" dirty="0"/>
              <a:t> h = f + g </a:t>
            </a:r>
            <a:r>
              <a:rPr lang="en-US" sz="2400" dirty="0" err="1"/>
              <a:t>diperoleh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meng-OR-</a:t>
            </a:r>
            <a:r>
              <a:rPr lang="en-US" sz="2400" dirty="0" err="1"/>
              <a:t>kan</a:t>
            </a:r>
            <a:r>
              <a:rPr lang="en-US" sz="2400" dirty="0"/>
              <a:t>  f  dan g: 								   	f = </a:t>
            </a:r>
            <a:r>
              <a:rPr lang="en-US" sz="2400" dirty="0" err="1"/>
              <a:t>wxy</a:t>
            </a:r>
            <a:r>
              <a:rPr lang="en-US" sz="2400" dirty="0"/>
              <a:t>’ + </a:t>
            </a:r>
            <a:r>
              <a:rPr lang="en-US" sz="2400" dirty="0" err="1"/>
              <a:t>y’z</a:t>
            </a:r>
            <a:r>
              <a:rPr lang="en-US" sz="2400" dirty="0"/>
              <a:t> + </a:t>
            </a:r>
            <a:r>
              <a:rPr lang="en-US" sz="2400" dirty="0" err="1"/>
              <a:t>w’yz</a:t>
            </a:r>
            <a:r>
              <a:rPr lang="en-US" sz="2400" dirty="0"/>
              <a:t>’ + </a:t>
            </a:r>
            <a:r>
              <a:rPr lang="en-US" sz="2400" dirty="0" err="1"/>
              <a:t>x’yz</a:t>
            </a:r>
            <a:r>
              <a:rPr lang="en-US" sz="2400" dirty="0"/>
              <a:t>’</a:t>
            </a:r>
          </a:p>
          <a:p>
            <a:pPr marL="0" indent="0">
              <a:buNone/>
            </a:pPr>
            <a:r>
              <a:rPr lang="en-US" sz="2400" dirty="0"/>
              <a:t>	g = (w + x + y’ + z’) (x’ + y’ + z) (w’ + y + z’ )</a:t>
            </a:r>
          </a:p>
          <a:p>
            <a:pPr marL="0" indent="0">
              <a:buNone/>
            </a:pP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mengunakan</a:t>
            </a:r>
            <a:r>
              <a:rPr lang="en-US" sz="2400" dirty="0"/>
              <a:t> </a:t>
            </a:r>
            <a:r>
              <a:rPr lang="en-US" sz="2400" dirty="0" err="1"/>
              <a:t>peta</a:t>
            </a:r>
            <a:r>
              <a:rPr lang="en-US" sz="2400" dirty="0"/>
              <a:t> Karnaugh, </a:t>
            </a:r>
            <a:r>
              <a:rPr lang="en-US" sz="2400" dirty="0" err="1"/>
              <a:t>temukan</a:t>
            </a:r>
            <a:r>
              <a:rPr lang="en-US" sz="2400" dirty="0"/>
              <a:t> </a:t>
            </a:r>
            <a:r>
              <a:rPr lang="en-US" sz="2400" dirty="0" err="1"/>
              <a:t>bentuk</a:t>
            </a:r>
            <a:r>
              <a:rPr lang="en-US" sz="2400" dirty="0"/>
              <a:t> yang paling </a:t>
            </a:r>
            <a:r>
              <a:rPr lang="en-US" sz="2400" dirty="0" err="1"/>
              <a:t>sederhana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h = </a:t>
            </a:r>
            <a:r>
              <a:rPr lang="en-US" sz="2400" dirty="0" err="1"/>
              <a:t>f+g</a:t>
            </a:r>
            <a:r>
              <a:rPr lang="en-US" sz="2400" dirty="0"/>
              <a:t>. </a:t>
            </a:r>
            <a:r>
              <a:rPr lang="en-US" sz="2400" dirty="0" err="1"/>
              <a:t>Gambarkan</a:t>
            </a:r>
            <a:r>
              <a:rPr lang="en-US" sz="2400" dirty="0"/>
              <a:t> juga </a:t>
            </a:r>
            <a:r>
              <a:rPr lang="en-US" sz="2400" dirty="0" err="1"/>
              <a:t>rangkaian</a:t>
            </a:r>
            <a:r>
              <a:rPr lang="en-US" sz="2400" dirty="0"/>
              <a:t> </a:t>
            </a:r>
            <a:r>
              <a:rPr lang="en-US" sz="2400" dirty="0" err="1"/>
              <a:t>logika</a:t>
            </a:r>
            <a:r>
              <a:rPr lang="en-US" sz="2400" dirty="0"/>
              <a:t> </a:t>
            </a:r>
            <a:r>
              <a:rPr lang="en-US" sz="2400" dirty="0" err="1"/>
              <a:t>hasil</a:t>
            </a:r>
            <a:r>
              <a:rPr lang="en-US" sz="2400" dirty="0"/>
              <a:t> </a:t>
            </a:r>
            <a:r>
              <a:rPr lang="en-US" sz="2400" dirty="0" err="1"/>
              <a:t>akhirnya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CC89F1-65AA-F5C6-96A4-C10C42566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4102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11119-5706-BEFC-1509-735A8C66E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1890"/>
            <a:ext cx="10515600" cy="526256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 err="1"/>
              <a:t>Jawaban</a:t>
            </a:r>
            <a:r>
              <a:rPr lang="en-US" sz="2400" b="1" dirty="0"/>
              <a:t>: </a:t>
            </a:r>
          </a:p>
          <a:p>
            <a:pPr marL="0" indent="0">
              <a:buNone/>
            </a:pPr>
            <a:endParaRPr lang="en-US" sz="2400" b="1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964AC1-A02E-113A-9056-74CCC5F04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70708"/>
            <a:ext cx="5187810" cy="52625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79BC99-24D3-642A-A545-0225CA8E2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567" y="171090"/>
            <a:ext cx="3939887" cy="3520063"/>
          </a:xfrm>
          <a:prstGeom prst="rect">
            <a:avLst/>
          </a:prstGeom>
        </p:spPr>
      </p:pic>
      <p:pic>
        <p:nvPicPr>
          <p:cNvPr id="10" name="Picture 9" descr="A picture containing antenna&#10;&#10;Description automatically generated">
            <a:extLst>
              <a:ext uri="{FF2B5EF4-FFF2-40B4-BE49-F238E27FC236}">
                <a16:creationId xmlns:a16="http://schemas.microsoft.com/office/drawing/2014/main" id="{832895C6-364B-E618-76B9-0CAB4FB09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1305" y="3811754"/>
            <a:ext cx="4142495" cy="293869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03B66-2AA9-0C0F-15AC-ADCA5D595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1347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4D57A-6115-876B-7759-83444063A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err="1"/>
              <a:t>Bersambung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Bagian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D90BF-1CF3-D94A-C915-4EE01C135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9381A2-D18F-B4EC-5E0E-F9F568311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D64-1C21-414B-8A9B-FC344E87DED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83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1840</Words>
  <Application>Microsoft Office PowerPoint</Application>
  <PresentationFormat>Widescreen</PresentationFormat>
  <Paragraphs>242</Paragraphs>
  <Slides>44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44</vt:i4>
      </vt:variant>
    </vt:vector>
  </HeadingPairs>
  <TitlesOfParts>
    <vt:vector size="55" baseType="lpstr">
      <vt:lpstr>Arial</vt:lpstr>
      <vt:lpstr>Calibri</vt:lpstr>
      <vt:lpstr>Calibri Light</vt:lpstr>
      <vt:lpstr>Chiltons Bold</vt:lpstr>
      <vt:lpstr>Symbol</vt:lpstr>
      <vt:lpstr>Times New Roman</vt:lpstr>
      <vt:lpstr>Wingdings</vt:lpstr>
      <vt:lpstr>Office Theme</vt:lpstr>
      <vt:lpstr>Document</vt:lpstr>
      <vt:lpstr>Visio.Drawing.5</vt:lpstr>
      <vt:lpstr>Equation</vt:lpstr>
      <vt:lpstr>Aljabar Boolean (Bag.2)</vt:lpstr>
      <vt:lpstr>Penyederhanaan Fungsi Boolean</vt:lpstr>
      <vt:lpstr>PowerPoint Presentation</vt:lpstr>
      <vt:lpstr>Peta Karnaugh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Teknik Minimisasi Fungsi Boolean dengan Peta Karnaugh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Tips menyederhanakan dengan Peta Karnaugh</vt:lpstr>
      <vt:lpstr>Contoh minimisasi 1:</vt:lpstr>
      <vt:lpstr>Contoh minimisasi 2:</vt:lpstr>
      <vt:lpstr>Contoh minimisasi 3:</vt:lpstr>
      <vt:lpstr>Contoh minimisasi 4:</vt:lpstr>
      <vt:lpstr>PowerPoint Presentation</vt:lpstr>
      <vt:lpstr>Contoh minimisasi 5:</vt:lpstr>
      <vt:lpstr>Contoh minimisasi 6</vt:lpstr>
      <vt:lpstr>Contoh minimisasi 7</vt:lpstr>
      <vt:lpstr>Contoh minimisasi 8</vt:lpstr>
      <vt:lpstr>Contoh minimisasi 9</vt:lpstr>
      <vt:lpstr>Contoh minimisasi 10</vt:lpstr>
      <vt:lpstr>Contoh minimisasi 11</vt:lpstr>
      <vt:lpstr>PowerPoint Presentation</vt:lpstr>
      <vt:lpstr>Peta Karnaugh untuk Lima Peubah </vt:lpstr>
      <vt:lpstr>PowerPoint Presentation</vt:lpstr>
      <vt:lpstr>Keadaan don’t care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Latihan</vt:lpstr>
      <vt:lpstr>PowerPoint Presentation</vt:lpstr>
      <vt:lpstr>Bersambung ke Bagian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Aljabar-Boolean-Bagian2-2024</dc:title>
  <dc:creator>Rinaldi Munir</dc:creator>
  <cp:lastModifiedBy>Binti Kholifah</cp:lastModifiedBy>
  <cp:revision>13</cp:revision>
  <dcterms:created xsi:type="dcterms:W3CDTF">2020-07-25T09:38:49Z</dcterms:created>
  <dcterms:modified xsi:type="dcterms:W3CDTF">2026-03-03T16:02:36Z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2024-10-10T09:35:59Z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fc15523e-66e1-4dc0-8ace-796d45a96e1c</vt:lpwstr>
  </property>
  <property fmtid="{D5CDD505-2E9C-101B-9397-08002B2CF9AE}" pid="8" name="MSIP_Label_38b525e5-f3da-4501-8f1e-526b6769fc56_ContentBits">
    <vt:lpwstr>0</vt:lpwstr>
  </property>
</Properties>
</file>