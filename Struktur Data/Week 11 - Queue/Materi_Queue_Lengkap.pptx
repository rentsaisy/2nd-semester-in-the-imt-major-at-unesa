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7407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08EC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08EC6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457200"/>
            <a:ext cx="3108960" cy="3108960"/>
          </a:xfrm>
          <a:prstGeom prst="ellipse">
            <a:avLst/>
          </a:prstGeom>
          <a:solidFill>
            <a:srgbClr val="408EC6">
              <a:alpha val="8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223760" y="1005840"/>
            <a:ext cx="2011680" cy="2011680"/>
          </a:xfrm>
          <a:prstGeom prst="ellipse">
            <a:avLst/>
          </a:prstGeom>
          <a:solidFill>
            <a:srgbClr val="7A2048">
              <a:alpha val="78000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417320"/>
            <a:ext cx="548640" cy="5486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92024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914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408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31520" y="13716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Antrian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(Queue)</a:t>
            </a:r>
            <a:endParaRPr lang="en-US" sz="4600" dirty="0"/>
          </a:p>
        </p:txBody>
      </p:sp>
      <p:sp>
        <p:nvSpPr>
          <p:cNvPr id="10" name="Text 6"/>
          <p:cNvSpPr/>
          <p:nvPr/>
        </p:nvSpPr>
        <p:spPr>
          <a:xfrm>
            <a:off x="731520" y="29260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Representasi Array · Operasi Queue · Single Linked List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Linked List · Implementasi Kasus Nyata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31520" y="3840480"/>
            <a:ext cx="1828800" cy="36576"/>
          </a:xfrm>
          <a:prstGeom prst="rect">
            <a:avLst/>
          </a:prstGeom>
          <a:solidFill>
            <a:srgbClr val="408EC6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Data &amp; Algoritma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Daftar Isi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7680960" cy="530352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13385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133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105156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Dasar Queue &amp; FIFO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1691640"/>
            <a:ext cx="768096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177393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773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169164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Representasi Queue dengan Array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2331720"/>
            <a:ext cx="7680960" cy="530352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2414016"/>
            <a:ext cx="365760" cy="365760"/>
          </a:xfrm>
          <a:prstGeom prst="ellipse">
            <a:avLst/>
          </a:prstGeom>
          <a:solidFill>
            <a:srgbClr val="408EC6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414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233172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 Queue (enqueue, dequeue, isEmpty, isFull, peek)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2971800"/>
            <a:ext cx="768096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3054096"/>
            <a:ext cx="365760" cy="365760"/>
          </a:xfrm>
          <a:prstGeom prst="ellipse">
            <a:avLst/>
          </a:prstGeom>
          <a:solidFill>
            <a:srgbClr val="408EC6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054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63040" y="297180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Representasi Queue dengan Single Linked List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3611880"/>
            <a:ext cx="7680960" cy="530352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4400" y="3694176"/>
            <a:ext cx="365760" cy="365760"/>
          </a:xfrm>
          <a:prstGeom prst="ellipse">
            <a:avLst/>
          </a:prstGeom>
          <a:solidFill>
            <a:srgbClr val="7A2048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63040" y="361188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Representasi Queue dengan Double Linked List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1520" y="4251960"/>
            <a:ext cx="768096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4400" y="4334256"/>
            <a:ext cx="365760" cy="365760"/>
          </a:xfrm>
          <a:prstGeom prst="ellipse">
            <a:avLst/>
          </a:prstGeom>
          <a:solidFill>
            <a:srgbClr val="7A2048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63040" y="425196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Queue pada Beberapa Kasus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Konsep Dasar Queue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data linear FIFO (First-In, First-Out)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3840480" cy="2011680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097280"/>
            <a:ext cx="64008" cy="2011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188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55448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Koleksi linear dengan akses terbatas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FIFO: yang masuk pertama, keluar pertama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item di BELAKANG (rear/back)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item dari DEPAN (front)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di tengah TIDAK bisa diakses langsung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937760" y="1097280"/>
            <a:ext cx="3657600" cy="2011680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097280"/>
            <a:ext cx="64008" cy="2011680"/>
          </a:xfrm>
          <a:prstGeom prst="rect">
            <a:avLst/>
          </a:prstGeom>
          <a:solidFill>
            <a:srgbClr val="2B8A7E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1188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 Dunia Nyata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12080" y="15544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Antrian kasir supermarket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Antrian cetak di printer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Antrian proses di CPU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Antrian pasien di rumah sakit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paket data jaringan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3291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6576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KELUAR ←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554480" y="3611880"/>
            <a:ext cx="777240" cy="457200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554480" y="3611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54480" y="408736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377440" y="3611880"/>
            <a:ext cx="777240" cy="457200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377440" y="3611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377440" y="408736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0" y="3611880"/>
            <a:ext cx="777240" cy="457200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0" y="3611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00400" y="408736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023360" y="3611880"/>
            <a:ext cx="777240" cy="457200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023360" y="3611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023360" y="408736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846320" y="3611880"/>
            <a:ext cx="777240" cy="457200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46320" y="3611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408736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623060" y="33558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8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14900" y="4270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20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760720" y="36576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MASUK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0690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dequeue()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760720" y="40690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8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enqueue()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08EC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08EC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408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Queue dengan Array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Array dan Circular Array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Queue dengan Linear Array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paling dasar — mudah dipahami tetapi ada kelemahan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1645920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051560"/>
            <a:ext cx="64008" cy="1645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143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14173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berukuran tetap (maxSize)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 front = indeks elemen terdepan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 rear = indeks elemen terakhir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Enqueue: rear++, simpan di array[rear]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937760" y="1143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Dequeue: front++ (elemen TIDAK digeser)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depan jadi "kosong" tapi tidak bisa dipakai ulang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cepat "penuh" meski banyak slot kosong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Solusi: geser semua elemen O(n) atau gunakan circular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2880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3× dequeue: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200400"/>
            <a:ext cx="777240" cy="438912"/>
          </a:xfrm>
          <a:prstGeom prst="rect">
            <a:avLst/>
          </a:prstGeom>
          <a:solidFill>
            <a:srgbClr val="E2E8F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20040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6576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554480" y="3200400"/>
            <a:ext cx="777240" cy="438912"/>
          </a:xfrm>
          <a:prstGeom prst="rect">
            <a:avLst/>
          </a:prstGeom>
          <a:solidFill>
            <a:srgbClr val="E2E8F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554480" y="320040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54480" y="36576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377440" y="3200400"/>
            <a:ext cx="777240" cy="438912"/>
          </a:xfrm>
          <a:prstGeom prst="rect">
            <a:avLst/>
          </a:prstGeom>
          <a:solidFill>
            <a:srgbClr val="E2E8F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377440" y="320040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377440" y="36576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0" y="3200400"/>
            <a:ext cx="777240" cy="438912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0" y="320040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00400" y="36576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023360" y="3200400"/>
            <a:ext cx="777240" cy="438912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023360" y="320040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023360" y="36576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846320" y="3200400"/>
            <a:ext cx="777240" cy="438912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46320" y="320040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36576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669280" y="3200400"/>
            <a:ext cx="777240" cy="438912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669280" y="320040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669280" y="36576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492240" y="3200400"/>
            <a:ext cx="777240" cy="438912"/>
          </a:xfrm>
          <a:prstGeom prst="rect">
            <a:avLst/>
          </a:prstGeom>
          <a:solidFill>
            <a:srgbClr val="E2E8F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492240" y="320040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92240" y="36576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268980" y="29443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8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737860" y="38404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20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31520" y="38862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slot terbuang!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solidFill>
            <a:srgbClr val="FEF3CD"/>
          </a:solidFill>
          <a:ln/>
        </p:spPr>
      </p:sp>
      <p:sp>
        <p:nvSpPr>
          <p:cNvPr id="41" name="Text 39"/>
          <p:cNvSpPr/>
          <p:nvPr/>
        </p:nvSpPr>
        <p:spPr>
          <a:xfrm>
            <a:off x="1005840" y="420624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Linear array menyebabkan false overflow — array terlihat penuh padahal banyak slot kosong di depan. Solusi terbaik: Circular Array.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Queue dengan Circular Array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yang ujungnya "terhubung" secara logis — mengatasi false overflow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3840480" cy="2377440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051560"/>
            <a:ext cx="64008" cy="2377440"/>
          </a:xfrm>
          <a:prstGeom prst="rect">
            <a:avLst/>
          </a:prstGeom>
          <a:solidFill>
            <a:srgbClr val="2B8A7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143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Kerja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146304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diperlakukan sebagai LINGKARAN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indeks terakhir → kembali ke indeks 0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Rumus: index = (index + 1) % maxSize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front: penanda elemen terdepan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rear: penanda elemen terakhir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 jumlah elemen saat ini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937760" y="1051560"/>
            <a:ext cx="3657600" cy="2377440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051560"/>
            <a:ext cx="64008" cy="2377440"/>
          </a:xfrm>
          <a:prstGeom prst="rect">
            <a:avLst/>
          </a:prstGeom>
          <a:solidFill>
            <a:srgbClr val="408EC6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1143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08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Keunggulan vs Linear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0" y="146304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slot yang terbuang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 &amp; dequeue: O(1)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perlu geser elemen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bekas dequeue bisa dipakai lagi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kapasitas tetap (maxSize)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operasi isFull()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3611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wrap-around (maxSize=8, front=1, rear=7):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886200"/>
            <a:ext cx="777240" cy="438912"/>
          </a:xfrm>
          <a:prstGeom prst="rect">
            <a:avLst/>
          </a:prstGeom>
          <a:solidFill>
            <a:srgbClr val="E2E8F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388620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3434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554480" y="3886200"/>
            <a:ext cx="777240" cy="438912"/>
          </a:xfrm>
          <a:prstGeom prst="rect">
            <a:avLst/>
          </a:prstGeom>
          <a:solidFill>
            <a:srgbClr val="B3E0D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554480" y="388620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54480" y="43434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377440" y="3886200"/>
            <a:ext cx="777240" cy="438912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377440" y="388620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377440" y="43434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0" y="3886200"/>
            <a:ext cx="777240" cy="438912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00400" y="388620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00400" y="43434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023360" y="3886200"/>
            <a:ext cx="777240" cy="438912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023360" y="388620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023360" y="43434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846320" y="3886200"/>
            <a:ext cx="777240" cy="438912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46320" y="388620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43434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669280" y="3886200"/>
            <a:ext cx="777240" cy="438912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669280" y="388620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669280" y="43434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92240" y="3886200"/>
            <a:ext cx="777240" cy="438912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92240" y="388620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92240" y="43434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623060" y="36301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8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560820" y="45262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20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1520" y="45720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8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enqueue(39) → rear = (7+1)%8 = 0 → array[0] = 39  ← wrap!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Implementasi Circular Array Queue — Python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4754880" cy="3840480"/>
          </a:xfrm>
          <a:prstGeom prst="rect">
            <a:avLst/>
          </a:prstGeom>
          <a:solidFill>
            <a:srgbClr val="1A1B2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950976"/>
            <a:ext cx="4535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B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arrayqueue.py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1170432"/>
            <a:ext cx="453542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Queue: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__init__(self, maxSize):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self._count = 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self._front = 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self._rear = maxSize - 1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self._data = [None] * maxSize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self._maxSize = maxSize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isEmpty(self):  return self._count == 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isFull(self):   return self._count == self._maxSize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__len__(self):  return self._count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enqueue(self, item):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not self.isFull(), "Queue penuh!"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self._rear = (self._rear + 1) % self._maxSize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self._data[self._rear] = item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self._count += 1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dequeue(self):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not self.isEmpty(), "Queue kosong!"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 = self._data[self._front]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self._front = (self._front + 1) % self._maxSize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self._count -=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item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peek(self):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not self.isEmpty()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self._data[self._front]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76072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Kompleksitas: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234440"/>
          <a:ext cx="2743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Waktu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enqueue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dequeue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isEmpty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isFull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760720" y="3520440"/>
            <a:ext cx="2743200" cy="914400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60720" y="3520440"/>
            <a:ext cx="64008" cy="914400"/>
          </a:xfrm>
          <a:prstGeom prst="rect">
            <a:avLst/>
          </a:prstGeom>
          <a:solidFill>
            <a:srgbClr val="2B8A7E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0" y="36118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operasi O(1)!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pergeseran elemen.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geser penanda front/rear.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08EC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08EC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408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Operasi-operasi Queue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 · dequeue · isEmpty · isFull · peek · size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Operasi: enqueue(item)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Menambahkan item ke BELAKANG antrian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Periksa apakah queue penuh (isFull)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penuh → error / assertion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Majukan rear: rear = (rear + 1) % maxSize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item di array[rear]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count: count += 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051560"/>
            <a:ext cx="3566160" cy="1645920"/>
          </a:xfrm>
          <a:prstGeom prst="rect">
            <a:avLst/>
          </a:prstGeom>
          <a:solidFill>
            <a:srgbClr val="1A1B2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38928" y="1088136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B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 — Array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138928" y="1307592"/>
            <a:ext cx="334670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enqueue(self, item):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assert not self.isFull()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self._rear = (self._rear+1) % self._maxSize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self._data[self._rear] = item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self._count += 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2880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enqueue(21):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685800" cy="384048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15468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55701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463040" y="3154680"/>
            <a:ext cx="685800" cy="384048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463040" y="315468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63040" y="355701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194560" y="3154680"/>
            <a:ext cx="685800" cy="384048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194560" y="315468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194560" y="355701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926080" y="3154680"/>
            <a:ext cx="685800" cy="384048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926080" y="315468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26080" y="355701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0" y="3154680"/>
            <a:ext cx="685800" cy="384048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57600" y="315468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0" y="355701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389120" y="3154680"/>
            <a:ext cx="685800" cy="384048"/>
          </a:xfrm>
          <a:prstGeom prst="rect">
            <a:avLst/>
          </a:prstGeom>
          <a:solidFill>
            <a:srgbClr val="E2E8F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389120" y="315468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389120" y="355701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120640" y="3154680"/>
            <a:ext cx="685800" cy="384048"/>
          </a:xfrm>
          <a:prstGeom prst="rect">
            <a:avLst/>
          </a:prstGeom>
          <a:solidFill>
            <a:srgbClr val="E2E8F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120640" y="315468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20640" y="355701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852160" y="3154680"/>
            <a:ext cx="685800" cy="384048"/>
          </a:xfrm>
          <a:prstGeom prst="rect">
            <a:avLst/>
          </a:prstGeom>
          <a:solidFill>
            <a:srgbClr val="E2E8F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852160" y="315468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852160" y="355701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54380" y="28986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8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80460" y="37398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20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1520" y="3840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Sesudah enqueue(21):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31520" y="4114800"/>
            <a:ext cx="685800" cy="384048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31520" y="411480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31520" y="451713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463040" y="4114800"/>
            <a:ext cx="685800" cy="384048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463040" y="411480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463040" y="451713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194560" y="4114800"/>
            <a:ext cx="685800" cy="384048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194560" y="411480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2194560" y="451713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926080" y="4114800"/>
            <a:ext cx="685800" cy="384048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2926080" y="411480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2926080" y="451713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657600" y="4114800"/>
            <a:ext cx="685800" cy="384048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3657600" y="411480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3657600" y="451713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389120" y="4114800"/>
            <a:ext cx="685800" cy="384048"/>
          </a:xfrm>
          <a:prstGeom prst="rect">
            <a:avLst/>
          </a:prstGeom>
          <a:solidFill>
            <a:srgbClr val="D1FAE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389120" y="411480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4389120" y="451713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120640" y="4114800"/>
            <a:ext cx="685800" cy="384048"/>
          </a:xfrm>
          <a:prstGeom prst="rect">
            <a:avLst/>
          </a:prstGeom>
          <a:solidFill>
            <a:srgbClr val="E2E8F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5120640" y="411480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5120640" y="451713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852160" y="4114800"/>
            <a:ext cx="685800" cy="384048"/>
          </a:xfrm>
          <a:prstGeom prst="rect">
            <a:avLst/>
          </a:prstGeom>
          <a:solidFill>
            <a:srgbClr val="E2E8F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5852160" y="411480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5852160" y="451713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54380" y="3858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8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411980" y="470001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20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Operasi: dequeue()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Menghapus dan mengembalikan item dari DEPAN antrian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Periksa apakah queue kosong (isEmpty)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kosong → error / assertion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item = array[front]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Majukan front: front = (front + 1) % maxSize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Kurangi count: count -= 1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Kembalikan item yang disimpan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051560"/>
            <a:ext cx="3566160" cy="1645920"/>
          </a:xfrm>
          <a:prstGeom prst="rect">
            <a:avLst/>
          </a:prstGeom>
          <a:solidFill>
            <a:srgbClr val="1A1B2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38928" y="1088136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B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 — Array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138928" y="1307592"/>
            <a:ext cx="334670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dequeue(self):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assert not self.isEmpty()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item = self._data[self._front]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self._front = (self._front+1) % self._maxSize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self._count -=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item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dequeue():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154680"/>
            <a:ext cx="685800" cy="384048"/>
          </a:xfrm>
          <a:prstGeom prst="rect">
            <a:avLst/>
          </a:prstGeom>
          <a:solidFill>
            <a:srgbClr val="FDDED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15468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55701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463040" y="3154680"/>
            <a:ext cx="685800" cy="384048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463040" y="315468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55701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194560" y="3154680"/>
            <a:ext cx="685800" cy="384048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194560" y="315468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94560" y="355701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926080" y="3154680"/>
            <a:ext cx="685800" cy="384048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926080" y="315468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926080" y="355701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0" y="3154680"/>
            <a:ext cx="685800" cy="384048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0" y="315468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0" y="355701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389120" y="3154680"/>
            <a:ext cx="685800" cy="384048"/>
          </a:xfrm>
          <a:prstGeom prst="rect">
            <a:avLst/>
          </a:prstGeom>
          <a:solidFill>
            <a:srgbClr val="E2E8F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389120" y="315468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89120" y="355701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120640" y="3154680"/>
            <a:ext cx="685800" cy="384048"/>
          </a:xfrm>
          <a:prstGeom prst="rect">
            <a:avLst/>
          </a:prstGeom>
          <a:solidFill>
            <a:srgbClr val="E2E8F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120640" y="315468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20640" y="355701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852160" y="3154680"/>
            <a:ext cx="685800" cy="384048"/>
          </a:xfrm>
          <a:prstGeom prst="rect">
            <a:avLst/>
          </a:prstGeom>
          <a:solidFill>
            <a:srgbClr val="E2E8F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852160" y="315468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852160" y="355701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54380" y="28986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8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80460" y="37398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20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520" y="3840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Sesudah dequeue() → return 28: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31520" y="4114800"/>
            <a:ext cx="685800" cy="384048"/>
          </a:xfrm>
          <a:prstGeom prst="rect">
            <a:avLst/>
          </a:prstGeom>
          <a:solidFill>
            <a:srgbClr val="E2E8F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31520" y="411480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31520" y="451713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463040" y="4114800"/>
            <a:ext cx="685800" cy="384048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463040" y="411480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463040" y="451713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194560" y="4114800"/>
            <a:ext cx="685800" cy="384048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194560" y="411480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194560" y="451713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926080" y="4114800"/>
            <a:ext cx="685800" cy="384048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926080" y="411480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2926080" y="451713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657600" y="4114800"/>
            <a:ext cx="685800" cy="384048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3657600" y="411480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3657600" y="451713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389120" y="4114800"/>
            <a:ext cx="685800" cy="384048"/>
          </a:xfrm>
          <a:prstGeom prst="rect">
            <a:avLst/>
          </a:prstGeom>
          <a:solidFill>
            <a:srgbClr val="E2E8F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389120" y="411480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4389120" y="451713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120640" y="4114800"/>
            <a:ext cx="685800" cy="384048"/>
          </a:xfrm>
          <a:prstGeom prst="rect">
            <a:avLst/>
          </a:prstGeom>
          <a:solidFill>
            <a:srgbClr val="E2E8F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5120640" y="411480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120640" y="451713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852160" y="4114800"/>
            <a:ext cx="685800" cy="384048"/>
          </a:xfrm>
          <a:prstGeom prst="rect">
            <a:avLst/>
          </a:prstGeom>
          <a:solidFill>
            <a:srgbClr val="E2E8F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5852160" y="411480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5852160" y="451713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1485900" y="3858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8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680460" y="470001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20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Operasi: isEmpty, isFull, peek, size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7680960" cy="777240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005840"/>
            <a:ext cx="64008" cy="777240"/>
          </a:xfrm>
          <a:prstGeom prst="rect">
            <a:avLst/>
          </a:prstGeom>
          <a:solidFill>
            <a:srgbClr val="408EC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051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08E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isEmpty()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Mengembalikan True jika antrian kosong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self._count == 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Kondisi: count == 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1920240"/>
            <a:ext cx="7680960" cy="777240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1920240"/>
            <a:ext cx="64008" cy="777240"/>
          </a:xfrm>
          <a:prstGeom prst="rect">
            <a:avLst/>
          </a:prstGeom>
          <a:solidFill>
            <a:srgbClr val="7A2048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20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isFull()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2608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Mengembalikan True jika antrian penuh (hanya array)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286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self._count == self._maxSize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Kondisi: count == maxSize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2834640"/>
            <a:ext cx="7680960" cy="777240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2834640"/>
            <a:ext cx="64008" cy="777240"/>
          </a:xfrm>
          <a:prstGeom prst="rect">
            <a:avLst/>
          </a:prstGeom>
          <a:solidFill>
            <a:srgbClr val="2B8A7E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8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peek()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92608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elemen terdepan TANPA menghapus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3200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self._data[self._front]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Kondisi: Queue tidak kosong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3749040"/>
            <a:ext cx="7680960" cy="777240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3749040"/>
            <a:ext cx="64008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len() / size()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92608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Mengembalikan jumlah elemen dalam antrian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4114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self._count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0352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Kondisi: Selalu valid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47091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operasi di atas berjalan dalam O(1) — konstan, tidak bergantung jumlah elemen.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 Operasi Queue — Langkah demi Langkah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280160"/>
                <a:gridCol w="640080"/>
                <a:gridCol w="2011680"/>
                <a:gridCol w="640080"/>
                <a:gridCol w="640080"/>
                <a:gridCol w="640080"/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(front→back)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enqueue(10)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[10]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enqueue(20)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[10, 20]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enqueue(30)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[10, 20, 30]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dequeue()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[20, 30]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peek()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[20, 30]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enqueue(40)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[20, 30, 40]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dequeue()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[30, 40]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isEmpty()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[30, 40]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dequeue()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[40]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dequeue()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isEmpty()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B8A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08EC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08EC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408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Queue dengan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Linked List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Dinamis · O(1) semua operasi · Head = front, Tail = rear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Queue dengan Single Linked List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node punya data dan pointer next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3840480" cy="1645920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051560"/>
            <a:ext cx="64008" cy="1645920"/>
          </a:xfrm>
          <a:prstGeom prst="rect">
            <a:avLst/>
          </a:prstGeom>
          <a:solidFill>
            <a:srgbClr val="408EC6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143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08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146304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(front) → node pertama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(rear) → node terakhir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→ jumlah elemen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node: data + next pointer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1051560"/>
            <a:ext cx="3657600" cy="1645920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051560"/>
            <a:ext cx="64008" cy="1645920"/>
          </a:xfrm>
          <a:prstGeom prst="rect">
            <a:avLst/>
          </a:prstGeom>
          <a:solidFill>
            <a:srgbClr val="2B8A7E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1143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0" y="14630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enqueue: buat node baru, link ke tail.next, update tail → O(1)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dequeue: simpan head.item, head = head.next → O(1)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kapasitas maksimum!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971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08E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88720" y="2926080"/>
            <a:ext cx="868680" cy="438912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88720" y="292608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828800" y="3081528"/>
            <a:ext cx="128016" cy="128016"/>
          </a:xfrm>
          <a:prstGeom prst="ellipse">
            <a:avLst/>
          </a:prstGeom>
          <a:solidFill>
            <a:srgbClr val="408EC6"/>
          </a:solidFill>
          <a:ln/>
        </p:spPr>
      </p:sp>
      <p:sp>
        <p:nvSpPr>
          <p:cNvPr id="18" name="Shape 16"/>
          <p:cNvSpPr/>
          <p:nvPr/>
        </p:nvSpPr>
        <p:spPr>
          <a:xfrm>
            <a:off x="2057400" y="3145536"/>
            <a:ext cx="502920" cy="0"/>
          </a:xfrm>
          <a:prstGeom prst="line">
            <a:avLst/>
          </a:prstGeom>
          <a:noFill/>
          <a:ln w="19050">
            <a:solidFill>
              <a:srgbClr val="408EC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2926080"/>
            <a:ext cx="868680" cy="438912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60320" y="292608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0" y="3081528"/>
            <a:ext cx="128016" cy="128016"/>
          </a:xfrm>
          <a:prstGeom prst="ellipse">
            <a:avLst/>
          </a:prstGeom>
          <a:solidFill>
            <a:srgbClr val="408EC6"/>
          </a:solidFill>
          <a:ln/>
        </p:spPr>
      </p:sp>
      <p:sp>
        <p:nvSpPr>
          <p:cNvPr id="22" name="Shape 20"/>
          <p:cNvSpPr/>
          <p:nvPr/>
        </p:nvSpPr>
        <p:spPr>
          <a:xfrm>
            <a:off x="3429000" y="3145536"/>
            <a:ext cx="502920" cy="0"/>
          </a:xfrm>
          <a:prstGeom prst="line">
            <a:avLst/>
          </a:prstGeom>
          <a:noFill/>
          <a:ln w="19050">
            <a:solidFill>
              <a:srgbClr val="408EC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31920" y="2926080"/>
            <a:ext cx="868680" cy="438912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931920" y="292608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0" y="3081528"/>
            <a:ext cx="128016" cy="128016"/>
          </a:xfrm>
          <a:prstGeom prst="ellipse">
            <a:avLst/>
          </a:prstGeom>
          <a:solidFill>
            <a:srgbClr val="408EC6"/>
          </a:solidFill>
          <a:ln/>
        </p:spPr>
      </p:sp>
      <p:sp>
        <p:nvSpPr>
          <p:cNvPr id="26" name="Shape 24"/>
          <p:cNvSpPr/>
          <p:nvPr/>
        </p:nvSpPr>
        <p:spPr>
          <a:xfrm>
            <a:off x="4800600" y="3145536"/>
            <a:ext cx="502920" cy="0"/>
          </a:xfrm>
          <a:prstGeom prst="line">
            <a:avLst/>
          </a:prstGeom>
          <a:noFill/>
          <a:ln w="19050">
            <a:solidFill>
              <a:srgbClr val="408EC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0" y="2926080"/>
            <a:ext cx="868680" cy="438912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303520" y="292608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943600" y="3081528"/>
            <a:ext cx="128016" cy="128016"/>
          </a:xfrm>
          <a:prstGeom prst="ellipse">
            <a:avLst/>
          </a:prstGeom>
          <a:solidFill>
            <a:srgbClr val="408EC6"/>
          </a:solidFill>
          <a:ln/>
        </p:spPr>
      </p:sp>
      <p:sp>
        <p:nvSpPr>
          <p:cNvPr id="30" name="Shape 28"/>
          <p:cNvSpPr/>
          <p:nvPr/>
        </p:nvSpPr>
        <p:spPr>
          <a:xfrm>
            <a:off x="6172200" y="3145536"/>
            <a:ext cx="502920" cy="0"/>
          </a:xfrm>
          <a:prstGeom prst="line">
            <a:avLst/>
          </a:prstGeom>
          <a:noFill/>
          <a:ln w="19050">
            <a:solidFill>
              <a:srgbClr val="408EC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75120" y="2926080"/>
            <a:ext cx="868680" cy="438912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675120" y="292608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315200" y="3081528"/>
            <a:ext cx="128016" cy="128016"/>
          </a:xfrm>
          <a:prstGeom prst="ellipse">
            <a:avLst/>
          </a:prstGeom>
          <a:solidFill>
            <a:srgbClr val="408EC6"/>
          </a:solidFill>
          <a:ln/>
        </p:spPr>
      </p:sp>
      <p:sp>
        <p:nvSpPr>
          <p:cNvPr id="34" name="Text 32"/>
          <p:cNvSpPr/>
          <p:nvPr/>
        </p:nvSpPr>
        <p:spPr>
          <a:xfrm>
            <a:off x="7589520" y="2971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20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tail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" y="3566160"/>
            <a:ext cx="7680960" cy="1280160"/>
          </a:xfrm>
          <a:prstGeom prst="rect">
            <a:avLst/>
          </a:prstGeom>
          <a:solidFill>
            <a:srgbClr val="1A1B2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41248" y="3602736"/>
            <a:ext cx="7461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B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SLL Queue — enqueue &amp; dequeue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41248" y="3822192"/>
            <a:ext cx="746150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enqueue(self, item):              def dequeue(self):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node = _Node(item)                    assert not self.isEmpty()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self.isEmpty():                     node = self._head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self._head = node                    if self._head is self._tail: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else:                                    self._tail = None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self._tail.next = node               self._head = self._head.next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self._tail = node                      self._count -=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self._count += 1                       return node.item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SLL Queue — Enqueue Detail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Menambahkan node baru di tail (belakang)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08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1: Queue KOSONG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= None, tail = None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node → head = tail = node baru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08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2: Queue SUDAH ADA ISI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node baru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tail.next = node baru (link ke akhir)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= node baru (update tail)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+= 1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0" y="1051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 — Hapus dari Head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3258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item = head.item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= head.next → O(1)!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0" y="2103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khusus: 1 elemen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23774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head == tail (satu node)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tail = None juga!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= head.next → None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291840"/>
            <a:ext cx="7680960" cy="1005840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291840"/>
            <a:ext cx="64008" cy="1005840"/>
          </a:xfrm>
          <a:prstGeom prst="rect">
            <a:avLst/>
          </a:prstGeom>
          <a:solidFill>
            <a:srgbClr val="2B8A7E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383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HEAD sebagai front?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7033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 perlu menghapus elemen pertama. Pada SLL, menghapus di HEAD = O(1) karena tinggal head = head.next. Menghapus di TAIL membutuhkan traversal O(n) untuk mencari node sebelum tail — sangat lambat!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08EC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08EC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408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Queue dengan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Double Linked List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node punya prev dan next — traversal dua arah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Queue dengan Double Linked List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node punya prev, data, dan next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3840480" cy="1828800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051560"/>
            <a:ext cx="64008" cy="1828800"/>
          </a:xfrm>
          <a:prstGeom prst="rect">
            <a:avLst/>
          </a:prstGeom>
          <a:solidFill>
            <a:srgbClr val="7A2048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143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Node DLL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146304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prev: pointer ke node sebelumnya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nilai yang disimpan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pointer ke node sesudahnya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head.prev = None, tail.next = None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1051560"/>
            <a:ext cx="3657600" cy="1828800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051560"/>
            <a:ext cx="64008" cy="1828800"/>
          </a:xfrm>
          <a:prstGeom prst="rect">
            <a:avLst/>
          </a:prstGeom>
          <a:solidFill>
            <a:srgbClr val="2B8A7E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1143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Keunggulan DLL untuk Queue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0" y="146304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 dari ujung manapun = O(1)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implementasi Deque (double-ended queue)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node di tengah = O(1) jika punya referensi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memori lebih besar per node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32004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08E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60120" y="3154680"/>
            <a:ext cx="1051560" cy="438912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3154680"/>
            <a:ext cx="274320" cy="438912"/>
          </a:xfrm>
          <a:prstGeom prst="rect">
            <a:avLst/>
          </a:prstGeom>
          <a:solidFill>
            <a:srgbClr val="D6BCFA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315468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783080" y="3310128"/>
            <a:ext cx="128016" cy="128016"/>
          </a:xfrm>
          <a:prstGeom prst="ellipse">
            <a:avLst/>
          </a:prstGeom>
          <a:solidFill>
            <a:srgbClr val="408EC6"/>
          </a:solidFill>
          <a:ln/>
        </p:spPr>
      </p:sp>
      <p:sp>
        <p:nvSpPr>
          <p:cNvPr id="19" name="Shape 17"/>
          <p:cNvSpPr/>
          <p:nvPr/>
        </p:nvSpPr>
        <p:spPr>
          <a:xfrm>
            <a:off x="2011680" y="3291840"/>
            <a:ext cx="777240" cy="0"/>
          </a:xfrm>
          <a:prstGeom prst="line">
            <a:avLst/>
          </a:prstGeom>
          <a:noFill/>
          <a:ln w="19050">
            <a:solidFill>
              <a:srgbClr val="408EC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0" y="3456432"/>
            <a:ext cx="777240" cy="0"/>
          </a:xfrm>
          <a:prstGeom prst="line">
            <a:avLst/>
          </a:prstGeom>
          <a:noFill/>
          <a:ln w="12700">
            <a:solidFill>
              <a:srgbClr val="7A2048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2788920" y="3154680"/>
            <a:ext cx="1051560" cy="438912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88920" y="3154680"/>
            <a:ext cx="274320" cy="438912"/>
          </a:xfrm>
          <a:prstGeom prst="rect">
            <a:avLst/>
          </a:prstGeom>
          <a:solidFill>
            <a:srgbClr val="D6BCFA"/>
          </a:solidFill>
          <a:ln/>
        </p:spPr>
      </p:sp>
      <p:sp>
        <p:nvSpPr>
          <p:cNvPr id="23" name="Text 21"/>
          <p:cNvSpPr/>
          <p:nvPr/>
        </p:nvSpPr>
        <p:spPr>
          <a:xfrm>
            <a:off x="3063240" y="315468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11880" y="3310128"/>
            <a:ext cx="128016" cy="128016"/>
          </a:xfrm>
          <a:prstGeom prst="ellipse">
            <a:avLst/>
          </a:prstGeom>
          <a:solidFill>
            <a:srgbClr val="408EC6"/>
          </a:solidFill>
          <a:ln/>
        </p:spPr>
      </p:sp>
      <p:sp>
        <p:nvSpPr>
          <p:cNvPr id="25" name="Shape 23"/>
          <p:cNvSpPr/>
          <p:nvPr/>
        </p:nvSpPr>
        <p:spPr>
          <a:xfrm>
            <a:off x="3840480" y="3291840"/>
            <a:ext cx="777240" cy="0"/>
          </a:xfrm>
          <a:prstGeom prst="line">
            <a:avLst/>
          </a:prstGeom>
          <a:noFill/>
          <a:ln w="19050">
            <a:solidFill>
              <a:srgbClr val="408EC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0" y="3456432"/>
            <a:ext cx="777240" cy="0"/>
          </a:xfrm>
          <a:prstGeom prst="line">
            <a:avLst/>
          </a:prstGeom>
          <a:noFill/>
          <a:ln w="12700">
            <a:solidFill>
              <a:srgbClr val="7A2048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617720" y="3154680"/>
            <a:ext cx="1051560" cy="438912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17720" y="3154680"/>
            <a:ext cx="274320" cy="438912"/>
          </a:xfrm>
          <a:prstGeom prst="rect">
            <a:avLst/>
          </a:prstGeom>
          <a:solidFill>
            <a:srgbClr val="D6BCFA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315468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40680" y="3310128"/>
            <a:ext cx="128016" cy="128016"/>
          </a:xfrm>
          <a:prstGeom prst="ellipse">
            <a:avLst/>
          </a:prstGeom>
          <a:solidFill>
            <a:srgbClr val="408EC6"/>
          </a:solidFill>
          <a:ln/>
        </p:spPr>
      </p:sp>
      <p:sp>
        <p:nvSpPr>
          <p:cNvPr id="31" name="Shape 29"/>
          <p:cNvSpPr/>
          <p:nvPr/>
        </p:nvSpPr>
        <p:spPr>
          <a:xfrm>
            <a:off x="5669280" y="3291840"/>
            <a:ext cx="777240" cy="0"/>
          </a:xfrm>
          <a:prstGeom prst="line">
            <a:avLst/>
          </a:prstGeom>
          <a:noFill/>
          <a:ln w="19050">
            <a:solidFill>
              <a:srgbClr val="408EC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0" y="3456432"/>
            <a:ext cx="777240" cy="0"/>
          </a:xfrm>
          <a:prstGeom prst="line">
            <a:avLst/>
          </a:prstGeom>
          <a:noFill/>
          <a:ln w="12700">
            <a:solidFill>
              <a:srgbClr val="7A2048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6446520" y="3154680"/>
            <a:ext cx="1051560" cy="438912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46520" y="3154680"/>
            <a:ext cx="274320" cy="438912"/>
          </a:xfrm>
          <a:prstGeom prst="rect">
            <a:avLst/>
          </a:prstGeom>
          <a:solidFill>
            <a:srgbClr val="D6BCFA"/>
          </a:solidFill>
          <a:ln/>
        </p:spPr>
      </p:sp>
      <p:sp>
        <p:nvSpPr>
          <p:cNvPr id="35" name="Text 33"/>
          <p:cNvSpPr/>
          <p:nvPr/>
        </p:nvSpPr>
        <p:spPr>
          <a:xfrm>
            <a:off x="6720840" y="315468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269480" y="3310128"/>
            <a:ext cx="128016" cy="128016"/>
          </a:xfrm>
          <a:prstGeom prst="ellipse">
            <a:avLst/>
          </a:prstGeom>
          <a:solidFill>
            <a:srgbClr val="408EC6"/>
          </a:solidFill>
          <a:ln/>
        </p:spPr>
      </p:sp>
      <p:sp>
        <p:nvSpPr>
          <p:cNvPr id="37" name="Text 35"/>
          <p:cNvSpPr/>
          <p:nvPr/>
        </p:nvSpPr>
        <p:spPr>
          <a:xfrm>
            <a:off x="7543800" y="32004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20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tail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14400" y="3749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 (garis solid)     ← prev (garis putus-putus)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1520" y="4069080"/>
            <a:ext cx="7680960" cy="868680"/>
          </a:xfrm>
          <a:prstGeom prst="rect">
            <a:avLst/>
          </a:prstGeom>
          <a:solidFill>
            <a:srgbClr val="1A1B2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41248" y="4105656"/>
            <a:ext cx="7461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B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DLL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41248" y="4325112"/>
            <a:ext cx="74615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_DLLNode: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__init__(self, item):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self.item = item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self.prev = None     # pointer ke node sebelumnya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self.next = None     # pointer ke node sesudahnya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DLL Queue — Operasi Enqueue &amp; Dequeue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4023360" cy="2194560"/>
          </a:xfrm>
          <a:prstGeom prst="rect">
            <a:avLst/>
          </a:prstGeom>
          <a:solidFill>
            <a:srgbClr val="1A1B2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950976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B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 — DLL (tambah di tail)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1170432"/>
            <a:ext cx="3803904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enqueue(self, item):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node = _DLLNode(item)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self.isEmpty():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self._head = node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self._tail = node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node.prev = self._tail   # link prev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self._tail.next = node   # link next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self._tail = node        # update tail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self._count += 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937760" y="914400"/>
            <a:ext cx="3657600" cy="2194560"/>
          </a:xfrm>
          <a:prstGeom prst="rect">
            <a:avLst/>
          </a:prstGeom>
          <a:solidFill>
            <a:srgbClr val="1A1B2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47488" y="950976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B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 — DLL (hapus dari head)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47488" y="1170432"/>
            <a:ext cx="3438144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dequeue(self):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assert not self.isEmpty()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item = self._head.item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self._head = self._head.next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self._head is None:    # queue jadi kosong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self._tail = None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self._head.prev = None  # putus link prev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self._count -=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item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SLL vs DLL untuk Queue: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3611880"/>
          <a:ext cx="6400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286000"/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enqueue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dequeue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Memori/node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+ 1 pointer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+ 2 pointer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Deque 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efisien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 — O(1) kedua ujung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08EC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08EC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408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Implementasi Queue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pada Kasus Nyata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 Queue · Hot Potato · Antrian RS · BFS · Simulasi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Kasus 1: Antrian Printer Bersama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 dicetak sesuai urutan kedatangan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4114800" cy="2286000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051560"/>
            <a:ext cx="64008" cy="2286000"/>
          </a:xfrm>
          <a:prstGeom prst="rect">
            <a:avLst/>
          </a:prstGeom>
          <a:solidFill>
            <a:srgbClr val="408EC6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430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08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150876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Banyak user mengirim dokumen ke 1 printer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 hanya bisa cetak 1 dokumen pada satu waktu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 yang datang duluan, dicetak duluan (FIFO)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enqueue(): user mengirim dokumen baru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dequeue(): printer mulai cetak dokumen berikutnya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88636" y="1021404"/>
            <a:ext cx="3566160" cy="2286000"/>
          </a:xfrm>
          <a:prstGeom prst="rect">
            <a:avLst/>
          </a:prstGeom>
          <a:solidFill>
            <a:srgbClr val="1A1B2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138928" y="1088136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B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Kode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138928" y="1307592"/>
            <a:ext cx="3346704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printer_queue = Queue()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User mengirim dokumen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printer_queue.enqueue("laporan.pdf")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printer_queue.enqueue("tugas.docx")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printer_queue.enqueue("foto.jpg")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Printer memproses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not printer_queue.isEmpty():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 = printer_queue.dequeue()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print(f"Mencetak: {doc}")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Mencetak: laporan.pdf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Mencetak: tugas.docx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Mencetak: foto.jpg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Kasus 2: Permainan Hot Potato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Simulasi permainan menggunakan circular queue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4114800" cy="2011680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051560"/>
            <a:ext cx="64008" cy="2011680"/>
          </a:xfrm>
          <a:prstGeom prst="rect">
            <a:avLst/>
          </a:prstGeom>
          <a:solidFill>
            <a:srgbClr val="2B8A7E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430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Permainan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150876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Pemain duduk melingkar, oper benda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N kali oper, pemain yang pegang tersingkir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Ulangi sampai tersisa 1 pemenang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mensimulasikan lingkaran pemain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0" y="1051560"/>
            <a:ext cx="3566160" cy="2011680"/>
          </a:xfrm>
          <a:prstGeom prst="rect">
            <a:avLst/>
          </a:prstGeom>
          <a:solidFill>
            <a:srgbClr val="1A1B2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138928" y="1088136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B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hot_potato.py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138928" y="1307592"/>
            <a:ext cx="334670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hot_potato(names, num):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 = Queue()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name in names: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q.enqueue(name)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len(q) &gt; 1: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_ in range(num):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Oper: dequeue depan, enqueue belakang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q.enqueue(q.dequeue())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q.dequeue()  # Tersingkir!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q.dequeue()  # Pemenang!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31520" y="3291840"/>
            <a:ext cx="7680960" cy="914400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31520" y="3291840"/>
            <a:ext cx="64008" cy="914400"/>
          </a:xfrm>
          <a:prstGeom prst="rect">
            <a:avLst/>
          </a:prstGeom>
          <a:solidFill>
            <a:srgbClr val="2B8A7E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" y="333756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kunci: dequeue() lalu enqueue() kembali = simulasi oper melingkar. Setelah num kali oper, dequeue() tanpa enqueue = tersingkir.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Kasus 3: Antrian Rumah Sakit (Priority Queue)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Pasien darurat didahulukan — bukan murni FIFO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4114800" cy="2286000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051560"/>
            <a:ext cx="64008" cy="2286000"/>
          </a:xfrm>
          <a:prstGeom prst="rect">
            <a:avLst/>
          </a:prstGeom>
          <a:solidFill>
            <a:srgbClr val="7A204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430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150876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Pasien datang dengan tingkat urgensi berbeda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Prioritas: 0=kritis, 1=darurat, 2=menengah, 3=ringan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Pasien kritis dilayani lebih dulu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 sama → FIFO (yang datang duluan)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Bounded Priority Queue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0" y="1051560"/>
            <a:ext cx="3566160" cy="2286000"/>
          </a:xfrm>
          <a:prstGeom prst="rect">
            <a:avLst/>
          </a:prstGeom>
          <a:solidFill>
            <a:srgbClr val="1A1B2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138928" y="1088136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B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antrian_rs.py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138928" y="1307592"/>
            <a:ext cx="3346704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pq = BPriorityQueue(4)  # 4 level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Pasien datang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pq.enqueue("Budi", 3)    # ringan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pq.enqueue("Ani", 0)     # kritis!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pq.enqueue("Citra", 2)   # menengah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pq.enqueue("Dedi", 0)    # kritis!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pq.enqueue("Eka", 1)     # darurat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Urutan layanan: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not pq.isEmpty():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print(pq.dequeue())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Ani, Dedi, Eka, Citra, Budi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31520" y="3566160"/>
            <a:ext cx="7680960" cy="640080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31520" y="3566160"/>
            <a:ext cx="64008" cy="640080"/>
          </a:xfrm>
          <a:prstGeom prst="rect">
            <a:avLst/>
          </a:prstGeom>
          <a:solidFill>
            <a:srgbClr val="7A2048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" y="36118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 dan Dedi sama-sama kritis (prioritas 0), tetapi Ani datang duluan → dilayani duluan. Ini memenuhi prinsip FIFO untuk prioritas yang sama.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Kasus 4: BFS (Breadth-First Search)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Pencarian jalur terpendek pada graf menggunakan queue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4114800" cy="2286000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051560"/>
            <a:ext cx="64008" cy="2286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BFS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146304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dari node awal, enqueue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Selama queue tidak kosong: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dequeue node terdepan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Proses node tersebut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enqueue semua tetangga yang belum dikunjungi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Menjamin jalur terpendek (graf tanpa bobot)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memastikan level demi level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0" y="1051560"/>
            <a:ext cx="3566160" cy="2286000"/>
          </a:xfrm>
          <a:prstGeom prst="rect">
            <a:avLst/>
          </a:prstGeom>
          <a:solidFill>
            <a:srgbClr val="1A1B2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38928" y="1088136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B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bfs.py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38928" y="1307592"/>
            <a:ext cx="3346704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bfs(graph, start):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visited = set()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queue = Queue()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queue.enqueue(start)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visited.add(start)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not queue.isEmpty():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 = queue.dequeue()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print(node)  # proses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neighbor in graph[node]: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neighbor not in visited: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visited.add(neighbor)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queue.enqueue(neighbor)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3566160"/>
            <a:ext cx="7680960" cy="640080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566160"/>
            <a:ext cx="64008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6118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menjelajahi graf LEVEL demi LEVEL — persis karena sifat FIFO queue. Node yang ditemukan duluan (level dekat) diproses duluan sebelum node yang lebih jauh.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Kasus 5: Simulasi Loket Tiket Bandara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event simulation untuk menghitung rata-rata waktu tunggu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3840480" cy="2194560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051560"/>
            <a:ext cx="64008" cy="2194560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430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 Simulasi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150876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untuk antrian penumpang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untuk agen tiket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Parameter: durasi, jumlah agen, waktu layanan, interval kedatangan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arrival: prob = 1/betweenTime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aturan per tick waktu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37760" y="1051560"/>
            <a:ext cx="3657600" cy="2194560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1051560"/>
            <a:ext cx="64008" cy="2194560"/>
          </a:xfrm>
          <a:prstGeom prst="rect">
            <a:avLst/>
          </a:prstGeom>
          <a:solidFill>
            <a:srgbClr val="408EC6"/>
          </a:solidFill>
          <a:ln/>
        </p:spPr>
      </p:sp>
      <p:sp>
        <p:nvSpPr>
          <p:cNvPr id="13" name="Text 10"/>
          <p:cNvSpPr/>
          <p:nvPr/>
        </p:nvSpPr>
        <p:spPr>
          <a:xfrm>
            <a:off x="521208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08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Simulasi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212080" y="150876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R1: Jika penumpang tiba → enqueue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R2: Jika agen free &amp; queue tidak kosong → dequeue, mulai layani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R3: Jika transaksi selesai → penumpang keluar, agen free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wait = totalWait / numServed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31520" y="3474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menambah 1 agen (2→3) menurunkan avg wait dari 475 menjadi 1.14 menit!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31520" y="3886200"/>
            <a:ext cx="7680960" cy="914400"/>
          </a:xfrm>
          <a:prstGeom prst="rect">
            <a:avLst/>
          </a:prstGeom>
          <a:solidFill>
            <a:srgbClr val="1A1B2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41248" y="3922776"/>
            <a:ext cx="7461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B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 simulasi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41248" y="4142232"/>
            <a:ext cx="74615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curTime in range(numMinutes + 1):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handleArrival(curTime)        # penumpang tiba? → enqueue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handleBeginService(curTime)   # agen free? → dequeue &amp; layani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D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handleEndService(curTime)     # transaksi selesai? → agen free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Perbandingan Semua Implementasi Queue</a:t>
            </a:r>
            <a:endParaRPr lang="en-US" sz="2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  <a:gridCol w="1554480"/>
                <a:gridCol w="1554480"/>
                <a:gridCol w="2011680"/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Array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Circular Array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enqueue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dequeue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E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Kapasitas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Tetap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Tetap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Dinamis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Dinamis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Kontigu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Kontigu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node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node (lebih besar)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overflow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E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efisien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 — O(1)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34290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O(n) karena harus geser semua elemen ke depan setelah dequeue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31520" y="3749040"/>
            <a:ext cx="7680960" cy="914400"/>
          </a:xfrm>
          <a:prstGeom prst="rect">
            <a:avLst/>
          </a:prstGeom>
          <a:solidFill>
            <a:srgbClr val="EDF2F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3749040"/>
            <a:ext cx="64008" cy="914400"/>
          </a:xfrm>
          <a:prstGeom prst="rect">
            <a:avLst/>
          </a:prstGeom>
          <a:solidFill>
            <a:srgbClr val="2B8A7E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379476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Rekomendasi: SLL queue untuk kebutuhan umum (semua O(1), dinamis). Circular array untuk kapasitas tetap dan kecil. DLL jika butuh deque (double-ended queue).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08EC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08EC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Ringkasan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7680960" cy="658368"/>
          </a:xfrm>
          <a:prstGeom prst="rect">
            <a:avLst/>
          </a:prstGeom>
          <a:solidFill>
            <a:srgbClr val="1E2761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005840"/>
            <a:ext cx="64008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051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Array Queue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130759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array punya masalah false overflow. Circular array mengatasinya dengan operator modulus — semua O(1).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1783080"/>
            <a:ext cx="7680960" cy="658368"/>
          </a:xfrm>
          <a:prstGeom prst="rect">
            <a:avLst/>
          </a:prstGeom>
          <a:solidFill>
            <a:srgbClr val="408EC6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1783080"/>
            <a:ext cx="64008" cy="658368"/>
          </a:xfrm>
          <a:prstGeom prst="rect">
            <a:avLst/>
          </a:prstGeom>
          <a:solidFill>
            <a:srgbClr val="408EC6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1828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Operasi Queue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208483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 (tambah belakang), dequeue (hapus depan), isEmpty, isFull, peek, size — semua O(1) pada implementasi optimal.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560320"/>
            <a:ext cx="7680960" cy="658368"/>
          </a:xfrm>
          <a:prstGeom prst="rect">
            <a:avLst/>
          </a:prstGeom>
          <a:solidFill>
            <a:srgbClr val="2B8A7E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560320"/>
            <a:ext cx="64008" cy="658368"/>
          </a:xfrm>
          <a:prstGeom prst="rect">
            <a:avLst/>
          </a:prstGeom>
          <a:solidFill>
            <a:srgbClr val="2B8A7E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Linked List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51560" y="286207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= front, tail = rear. Enqueue di tail O(1), dequeue di head O(1). Dinamis tanpa batas kapasitas.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337560"/>
            <a:ext cx="7680960" cy="658368"/>
          </a:xfrm>
          <a:prstGeom prst="rect">
            <a:avLst/>
          </a:prstGeom>
          <a:solidFill>
            <a:srgbClr val="7A2048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337560"/>
            <a:ext cx="64008" cy="658368"/>
          </a:xfrm>
          <a:prstGeom prst="rect">
            <a:avLst/>
          </a:prstGeom>
          <a:solidFill>
            <a:srgbClr val="7A2048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3383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Double Linked List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51560" y="363931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 + next pointer. Mendukung deque (double-ended queue). Memori lebih besar tapi lebih fleksibel.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4114800"/>
            <a:ext cx="7680960" cy="658368"/>
          </a:xfrm>
          <a:prstGeom prst="rect">
            <a:avLst/>
          </a:prstGeom>
          <a:solidFill>
            <a:srgbClr val="D4A843">
              <a:alpha val="1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4114800"/>
            <a:ext cx="64008" cy="65836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4160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Kasus Implementasi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51560" y="441655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 queue, hot potato, antrian RS (priority), BFS graph traversal, simulasi loket tiket bandara.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7091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— Struktur Data &amp; Algoritma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2810</Words>
  <Application>Microsoft Office PowerPoint</Application>
  <PresentationFormat>On-screen Show (16:9)</PresentationFormat>
  <Paragraphs>681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Queue - Materi Lengkap</dc:title>
  <dc:subject>PptxGenJS Presentation</dc:subject>
  <dc:creator>PptxGenJS</dc:creator>
  <cp:lastModifiedBy>Microsoft account</cp:lastModifiedBy>
  <cp:revision>3</cp:revision>
  <dcterms:created xsi:type="dcterms:W3CDTF">2026-04-21T14:16:09Z</dcterms:created>
  <dcterms:modified xsi:type="dcterms:W3CDTF">2026-04-24T03:56:03Z</dcterms:modified>
</cp:coreProperties>
</file>