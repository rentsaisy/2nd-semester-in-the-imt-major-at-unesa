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548640"/>
            <a:ext cx="3200400" cy="3200400"/>
          </a:xfrm>
          <a:prstGeom prst="ellipse">
            <a:avLst/>
          </a:prstGeom>
          <a:solidFill>
            <a:srgbClr val="B85042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097280"/>
            <a:ext cx="2103120" cy="2103120"/>
          </a:xfrm>
          <a:prstGeom prst="ellipse">
            <a:avLst/>
          </a:prstGeom>
          <a:solidFill>
            <a:srgbClr val="A7BEAE">
              <a:alpha val="7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508760"/>
            <a:ext cx="594360" cy="5943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0574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1645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Structures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73152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List, Tail Reference, Sorted List &amp; Aplikasi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3931920"/>
            <a:ext cx="22860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Linked List?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Array &amp; Python List yang diatasi oleh Linked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64008" cy="731520"/>
          </a:xfrm>
          <a:prstGeom prst="rect">
            <a:avLst/>
          </a:prstGeom>
          <a:solidFill>
            <a:srgbClr val="C465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Insertion/Deletion lambat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membutuhkan pergeseran elemen — O(n)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8404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64008" cy="731520"/>
          </a:xfrm>
          <a:prstGeom prst="rect">
            <a:avLst/>
          </a:prstGeom>
          <a:solidFill>
            <a:srgbClr val="C465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array tetap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perlu alokasi array baru saat ekspansi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840480" cy="7315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00400"/>
            <a:ext cx="64008" cy="731520"/>
          </a:xfrm>
          <a:prstGeom prst="rect">
            <a:avLst/>
          </a:prstGeom>
          <a:solidFill>
            <a:srgbClr val="C46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 kontigu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besar sulit mendapat blok memori berurutan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463040"/>
            <a:ext cx="3657600" cy="246888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463040"/>
            <a:ext cx="64008" cy="24688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20574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memori kecil per node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geser elemen saat insert/delete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dinamis tanpa ekspansi array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tidak ada akses langsung O(1)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370832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17320" y="43159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Variasi: Singly Linked, Circularly Linked, Doubly Linked, dan Circularly Doubly Linked List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 Node &amp; Linked 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84048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ListNode Class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ListNode: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data):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self.data =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self.next = None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051560"/>
            <a:ext cx="3657600" cy="14630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2080" y="1463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objek berisi data + link ke node lain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referensi eksternal ke node pertama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Tail: node terakhir (next = None)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list: head = None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Singly Linked List: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3383280"/>
            <a:ext cx="3200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154680"/>
            <a:ext cx="1097280" cy="50292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3154680"/>
            <a:ext cx="640080" cy="5029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48840" y="331012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3401568"/>
            <a:ext cx="3200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3154680"/>
            <a:ext cx="1097280" cy="50292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88920" y="3154680"/>
            <a:ext cx="640080" cy="5029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278892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66160" y="331012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886200" y="3401568"/>
            <a:ext cx="3200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3154680"/>
            <a:ext cx="1097280" cy="50292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0" y="3154680"/>
            <a:ext cx="640080" cy="5029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31012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3401568"/>
            <a:ext cx="3200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3560" y="3154680"/>
            <a:ext cx="1097280" cy="50292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3154680"/>
            <a:ext cx="640080" cy="5029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1" name="Text 29"/>
          <p:cNvSpPr/>
          <p:nvPr/>
        </p:nvSpPr>
        <p:spPr>
          <a:xfrm>
            <a:off x="562356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331012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3401568"/>
            <a:ext cx="32004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154680"/>
            <a:ext cx="1097280" cy="50292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040880" y="3154680"/>
            <a:ext cx="640080" cy="5029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18120" y="3310128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8" name="Text 36"/>
          <p:cNvSpPr/>
          <p:nvPr/>
        </p:nvSpPr>
        <p:spPr>
          <a:xfrm>
            <a:off x="809244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84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 hanya tahu node berikutnya — traversal harus dimulai dari head dan berjalan satu per satu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Traversal &amp; 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84048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16459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head, kunjungi setiap node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referensi sementara curNode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 ke curNode.next setiap iterasi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Berhenti saat curNode is None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2926080"/>
            <a:ext cx="33832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944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curNode is not None: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print(curNode.data)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curNode = curNode.next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37760" y="1051560"/>
            <a:ext cx="365760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Search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66360" y="1645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seperti traversal, tapi berhenti lebih awal jika target ditemukan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sorted list: berhenti jika curNode.data &gt; target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True/False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66360" y="2880360"/>
            <a:ext cx="32461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2"/>
          <p:cNvSpPr/>
          <p:nvPr/>
        </p:nvSpPr>
        <p:spPr>
          <a:xfrm>
            <a:off x="5257800" y="2898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curNode is not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curNode.data != target: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curNode = curNode.next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31520" y="3840480"/>
            <a:ext cx="3840480" cy="64008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 O(n) — harus mengunjungi semua node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9319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O(n) worst case — target di akhir/tidak ada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Prepend &amp; Remove Node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840480" cy="228600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(Tambah di Depan)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node baru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newNode.next = head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 = newNode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penting! Link dulu, baru ubah head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2834640"/>
            <a:ext cx="338328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8529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newNode = ListNode(item);  newNode.next = head;  head = newNode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37760" y="1051560"/>
            <a:ext cx="365760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(Hapus Node)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166360" y="1645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dua pointer: predNode &amp; curNode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node target sambil lacak predecessor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Unlink: predNode.next = curNode.next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case: hapus node pertama → ubah head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66360" y="2834640"/>
            <a:ext cx="32461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2"/>
          <p:cNvSpPr/>
          <p:nvPr/>
        </p:nvSpPr>
        <p:spPr>
          <a:xfrm>
            <a:off x="52578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curNode is head: head = curNode.next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predNode.next = curNode.next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1520" y="3566160"/>
            <a:ext cx="384048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Prepend: O(1) — tidak perlu traversal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937760" y="3566160"/>
            <a:ext cx="3657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6"/>
          <p:cNvSpPr/>
          <p:nvPr/>
        </p:nvSpPr>
        <p:spPr>
          <a:xfrm>
            <a:off x="521208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Remove: O(n) — perlu cari node dulu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2" name="Text 18"/>
          <p:cNvSpPr/>
          <p:nvPr/>
        </p:nvSpPr>
        <p:spPr>
          <a:xfrm>
            <a:off x="1005840" y="4297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Penting: Selalu pastikan kode bekerja untuk list kosong dan list dengan satu elemen!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 ADT dengan Linked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15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Class — Linked List Implementation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          # head=None, size=0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__len__(self):           # return self._size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__contains__(self, t):   # linear search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add(self, item):         # prepend → O(1)!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remove(self, item):      # find + unlink → O(n)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__iter__(self):          # return _BagIterator(self._head)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Implementasi Bag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24612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in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b.add(x)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b.remove(x)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Menggunakan Tail Reference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referensi eksternal: head untuk awal, tail untuk akhir list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1600200"/>
            <a:ext cx="228600" cy="0"/>
          </a:xfrm>
          <a:prstGeom prst="line">
            <a:avLst/>
          </a:prstGeom>
          <a:noFill/>
          <a:ln w="25400">
            <a:solidFill>
              <a:srgbClr val="5B8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371600"/>
            <a:ext cx="96012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371600"/>
            <a:ext cx="54864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0280" y="16002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371600"/>
            <a:ext cx="96012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371600"/>
            <a:ext cx="54864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16002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371600"/>
            <a:ext cx="96012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1371600"/>
            <a:ext cx="54864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6002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371600"/>
            <a:ext cx="96012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1371600"/>
            <a:ext cx="54864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0" y="1600200"/>
            <a:ext cx="2743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371600"/>
            <a:ext cx="96012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371600"/>
            <a:ext cx="54864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19202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6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2377440"/>
            <a:ext cx="3840480" cy="210312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(Tambah di Akhir)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0120" y="28803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node baru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list kosong: head = tail = newNode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tidak: tail.next = newNode, tail = newNode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Kompleksitas: O(1)!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377440"/>
            <a:ext cx="3657600" cy="21031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dengan Tail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66360" y="28803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seperti remove biasa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Tambahan: cek apakah node yang dihapus adalah tail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ya: tail = predNode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list jadi kosong: head = tail = None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Linked 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105156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005840"/>
            <a:ext cx="59436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1234440"/>
            <a:ext cx="3200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005840"/>
            <a:ext cx="105156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005840"/>
            <a:ext cx="59436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94760" y="1234440"/>
            <a:ext cx="3200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005840"/>
            <a:ext cx="105156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1005840"/>
            <a:ext cx="59436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66360" y="1234440"/>
            <a:ext cx="3200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005840"/>
            <a:ext cx="105156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0" y="1005840"/>
            <a:ext cx="59436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1234440"/>
            <a:ext cx="32004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005840"/>
            <a:ext cx="1051560" cy="4572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1005840"/>
            <a:ext cx="594360" cy="4572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1691640"/>
            <a:ext cx="3840480" cy="2286000"/>
          </a:xfrm>
          <a:prstGeom prst="rect">
            <a:avLst/>
          </a:prstGeom>
          <a:solidFill>
            <a:srgbClr val="F0FA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1801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ke Sorted List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21945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posisi: loop selama value &gt; curNode.data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predNode &amp; curNode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kasus: di depan, di tengah, di akhir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newNode.next = curNode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di depan: head = newNode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pada Sorted List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21945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berhenti lebih awal!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curNode.data &gt; target → target tidak ada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traversal penuh jika target &lt; elemen terakhir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tetap O(n)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160520"/>
            <a:ext cx="768096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ke Sorted List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predNode = None;  curNode =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curNode is not None and value &gt; curNode.data: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predNode = curNode;  curNode = curNode.next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Matrix: Array of Linked Lists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yang lebih efisien menggunakan array of sorted linked lists — satu per baris matriks.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6400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64008" cy="6400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node baru, ubah nilai, atau hapus node jika jadi 0 — O(n kolom)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94560"/>
            <a:ext cx="64008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scaleBy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semua linked list, kalikan setiap node — O(k non-zero)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680960" cy="64008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71800"/>
            <a:ext cx="64008" cy="640080"/>
          </a:xfrm>
          <a:prstGeom prst="rect">
            <a:avLst/>
          </a:prstGeom>
          <a:solidFill>
            <a:srgbClr val="C46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(+)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self ke matriks baru, lalu tambahkan rhs — O(kn)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Implementasi Matrix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114800"/>
          <a:ext cx="6400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64592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81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s[i,j]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+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8A7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Aplikasi: Polynomial ADT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051560"/>
            <a:ext cx="3840480" cy="182880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linked list (descending by degree)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node: (degree, coefficient, next)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head + tail pointer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simpan term non-zero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051560"/>
            <a:ext cx="3657600" cy="182880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Utama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66360" y="14630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degree(): derajat tertinggi — O(1)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evaluate(x): hitung nilai — O(n)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penjumlahan via merge — O(n)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multiply: distribusi + add — O(n²)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5x² + 3x − 10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566160"/>
            <a:ext cx="2103120" cy="45720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deg:2  coef:5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34640" y="3794760"/>
            <a:ext cx="457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3566160"/>
            <a:ext cx="2103120" cy="45720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918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deg:1  coef:3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3794760"/>
            <a:ext cx="457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3566160"/>
            <a:ext cx="2103120" cy="45720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5216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deg:0  coef:-10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F0FAF4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42519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Penjumlahan polynomial menggunakan teknik merge sorted list — sama seperti merge dua list terurut. Ini menghasilkan operasi O(n) yang jauh lebih efisien dari brute-force O(n²).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solidFill>
            <a:srgbClr val="B85042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64008" cy="731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07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List Dasar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next pointer, traversal dari head, O(1) prepend, O(n) search/remove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solidFill>
            <a:srgbClr val="5B8A72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03120"/>
            <a:ext cx="64008" cy="7315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176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 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Memungkinkan append O(1) — penting untuk aplikasi yang perlu menambah di akhir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680960" cy="731520"/>
          </a:xfrm>
          <a:prstGeom prst="rect">
            <a:avLst/>
          </a:prstGeom>
          <a:solidFill>
            <a:srgbClr val="A7BEAE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971800"/>
            <a:ext cx="64008" cy="7315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044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 Linked List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337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urutan saat insert, memungkinkan early termination pada search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C4653A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840480"/>
            <a:ext cx="64008" cy="731520"/>
          </a:xfrm>
          <a:prstGeom prst="rect">
            <a:avLst/>
          </a:prstGeom>
          <a:solidFill>
            <a:srgbClr val="C465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Aplikasi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ADT lebih efisien (add O(1)), Sparse Matrix dengan array of linked lists, Polynomial ADT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Data Structures &amp; Algorithms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Linked Structures</dc:title>
  <dc:subject>PptxGenJS Presentation</dc:subject>
  <dc:creator>Claude</dc:creator>
  <cp:lastModifiedBy>Claude</cp:lastModifiedBy>
  <cp:revision>1</cp:revision>
  <dcterms:created xsi:type="dcterms:W3CDTF">2026-03-11T01:18:37Z</dcterms:created>
  <dcterms:modified xsi:type="dcterms:W3CDTF">2026-03-11T01:18:37Z</dcterms:modified>
</cp:coreProperties>
</file>