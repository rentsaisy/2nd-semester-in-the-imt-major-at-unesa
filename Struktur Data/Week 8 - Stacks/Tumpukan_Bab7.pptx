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(Stacks)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dalam Python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25400">
            <a:solidFill>
              <a:srgbClr val="1D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 ·  Push &amp; Pop  ·  Aplikasi  ·  Pemecahan Labirin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ADT – Definisi &amp; Operasi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38528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38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9842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dengan Python List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88336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883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340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dengan Linked 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38144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3814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8386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Aplikasi: Delimiter Seimbang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88720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Aplikasi: Ekspresi Postfix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93852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938528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93852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19842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Aplikasi: Pemecahan Labirin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68833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688336"/>
            <a:ext cx="45720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8833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7340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&amp; Latihan Soal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Tumpukan?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120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Koleksi linear dengan akses terbatas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Masuk-Terakhir-Keluar-Pertama (LIFO)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ditambah/dihapus dari bagian ATAS (TOP)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Ujung berlawanan disebut DASAR (BASE)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umum digunakan dalam Ilmu Komputer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051560"/>
            <a:ext cx="3017520" cy="347472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97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Kehidupan Nyata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18288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🍽️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760720" y="2788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Nampan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Kantin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33375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dari atas → yang lain naik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Taruh ke atas → yang lain turun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ADT – Operasi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143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tumpukan kosong baru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143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9472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True jika tumpukan kosong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64008" cy="100584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jumlah item dalam tumpukan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331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push(item)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19472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item ke puncak tumpukan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74720"/>
            <a:ext cx="64008" cy="100584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20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&amp; mengembalikan item paling atas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7472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3520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19472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item teratas tanpa menghapusnya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Pop – Visualisasi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Awal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23360"/>
            <a:ext cx="1097280" cy="43891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0233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58444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58444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14553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455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3145536"/>
            <a:ext cx="0" cy="1316736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3145536"/>
            <a:ext cx="0" cy="1316736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atas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push(19)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4023360"/>
            <a:ext cx="1097280" cy="43891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40233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97480" y="358444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358444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697480" y="314553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31455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97480" y="270662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70662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468880" y="2706624"/>
            <a:ext cx="0" cy="1755648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3048" y="2706624"/>
            <a:ext cx="0" cy="1755648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atas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46120" y="1828800"/>
            <a:ext cx="0" cy="27432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push(5)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4023360"/>
            <a:ext cx="1097280" cy="43891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0233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0" y="358444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58444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29200" y="314553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1455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29200" y="270662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70662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0" y="2267712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226771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00600" y="2267712"/>
            <a:ext cx="0" cy="219456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2267712"/>
            <a:ext cx="0" cy="219456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atas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577840" y="1828800"/>
            <a:ext cx="0" cy="27432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pop() → 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06640" y="4023360"/>
            <a:ext cx="1097280" cy="438912"/>
          </a:xfrm>
          <a:prstGeom prst="rect">
            <a:avLst/>
          </a:prstGeom>
          <a:solidFill>
            <a:srgbClr val="0E8A7C"/>
          </a:solidFill>
          <a:ln w="12700">
            <a:solidFill>
              <a:srgbClr val="0E8A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40233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06640" y="358444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358444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406640" y="314553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3145536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06640" y="270662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2706624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78040" y="2706624"/>
            <a:ext cx="0" cy="1755648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22208" y="2706624"/>
            <a:ext cx="0" cy="1755648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41080" y="4023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atas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06640" y="1417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955280" y="1828800"/>
            <a:ext cx="0" cy="274320"/>
          </a:xfrm>
          <a:prstGeom prst="line">
            <a:avLst/>
          </a:prstGeom>
          <a:noFill/>
          <a:ln w="25400">
            <a:solidFill>
              <a:srgbClr val="E0525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Membalik Urutan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35661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Python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PESAN = "Masukkan bilangan (&lt;0 utk selesai):"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tumpukan = Stack()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= int(input(PESAN))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nilai &gt;= 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tumpukan.push(nilai)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nilai = int(input(PESAN))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tumpukan.isEmpty():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nilai = tumpukan.pop()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print(nilai)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00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051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Masukan → Tumpukan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memasukkan: 7 13 45 19 28 -1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1463040" cy="365760"/>
          </a:xfrm>
          <a:prstGeom prst="rect">
            <a:avLst/>
          </a:prstGeom>
          <a:solidFill>
            <a:srgbClr val="0E8A7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258568"/>
            <a:ext cx="14630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2585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642616"/>
            <a:ext cx="14630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6426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026664"/>
            <a:ext cx="14630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266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410712"/>
            <a:ext cx="14630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410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1812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DASAR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Keluaran: 28 19 45 13 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Tumpukan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pendekatan dalam Python: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3749040" cy="50292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mudah diimplementasikan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list = ATAS (TOP)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 list = DASAR (BASE)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append() &amp; pop()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amortized untuk push/pop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Sederhana, cocok untuk sebagian besar kasus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5087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508760"/>
            <a:ext cx="3749040" cy="50292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21031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realokasi array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 list = ATAS (TOP)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kasus terburuk SEMUA operasi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baik untuk push/pop intensif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kelas _StackNode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sedikit lebih kompleks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dengan Python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9496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pyliststack.py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2120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self._theItems = list()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isEmpty(self):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len(self) ==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__len__(self):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len(self._theItems)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peek(self):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self.isEmpty()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self._theItems[-1]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pop(self):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self.isEmpty()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self._theItems.pop()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push(self, item):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self._theItems.append(item)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Waktu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508760"/>
            <a:ext cx="265176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508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5087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21031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2103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697480"/>
            <a:ext cx="265176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697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26974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32918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291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push(item)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291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O(1)*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3886200"/>
            <a:ext cx="265176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8862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3886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O(1)*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Biaya amortized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dengan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9496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lliststack.py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2120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self._top =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self._size =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isEmpty(self):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self._top is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__len__(self):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self._size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peek(self):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self.isEmpty()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self._top.item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pop(self):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not self.isEmpty()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= self._top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self._top = self._top.next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self._size -=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node.item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push(self, item):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self._top = _StackNode(item, self._top)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self._size +=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100584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_StackNode: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9320" y="1417320"/>
            <a:ext cx="2743200" cy="128016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_StackNode: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item, link):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self.item = item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self.next = link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2971800"/>
            <a:ext cx="2834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017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Kompleksitas Waktu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3429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operasi: O(1)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kasus TERBURUK!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baik dari Python List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beban kerja berat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Stack – Visualisasi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Stack untuk: [19, 23, 74, 12] dengan top menunjuk ke 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50876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71800" y="1508760"/>
            <a:ext cx="0" cy="1280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50876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71800" y="15087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2148840"/>
            <a:ext cx="274320" cy="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50876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508760"/>
            <a:ext cx="0" cy="1280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50876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2148840"/>
            <a:ext cx="274320" cy="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50876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1508760"/>
            <a:ext cx="0" cy="1280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50876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63640" y="15087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2148840"/>
            <a:ext cx="274320" cy="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1508760"/>
            <a:ext cx="1371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09560" y="1508760"/>
            <a:ext cx="0" cy="1280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50876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09560" y="150876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737360" y="2148840"/>
            <a:ext cx="365760" cy="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1417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kerja pop():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3657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Simpan referensi ke simpul (node) teratas saat 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Pindahkan pointer _top ke top.next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Kurangi _size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Kembalikan item dari simpul yang disimpan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 vs Linked List – Perbandingan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Python 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Linked 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push(item)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kasus terburuk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kasus terburuk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berurutan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Simpul terhubung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Terbaik untuk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Tumpukan sederhana/kecil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Beban push/pop berat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Tumpukan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nyata dari Stack ADT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2606040"/>
            <a:ext cx="3657600" cy="0"/>
          </a:xfrm>
          <a:prstGeom prst="line">
            <a:avLst/>
          </a:prstGeom>
          <a:noFill/>
          <a:ln w="25400">
            <a:solidFill>
              <a:srgbClr val="0E8A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Seimbang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292608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Ekspresi Postfix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2926080"/>
            <a:ext cx="25603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Pemecahan Labirin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1: Delimiter Seimbang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harus berpasangan, seimbang, dan tersarang dengan benar: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8229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 + (B * C) - (D / [E + F])}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5087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64008" cy="8229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+ [B * C)] - {D / E}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514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TIDAK VALID – bersarang salah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474720"/>
            <a:ext cx="64008" cy="8229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sumList(int theList[], int size)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3520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C++ VALID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sangat ideal — push saat buka, pop &amp; cocokkan saat tutup!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Pengecekan Delimiter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15568"/>
            <a:ext cx="502920" cy="502920"/>
          </a:xfrm>
          <a:prstGeom prst="ellipse">
            <a:avLst/>
          </a:prstGeom>
          <a:solidFill>
            <a:srgbClr val="0E8A7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Pindai karakter per karakter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9903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file input satu karakter setiap kali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65376"/>
            <a:ext cx="502920" cy="502920"/>
          </a:xfrm>
          <a:prstGeom prst="ellipse">
            <a:avLst/>
          </a:prstGeom>
          <a:solidFill>
            <a:srgbClr val="0E8A7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828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pembuka ditemukan?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{ [ ( ke dalam tumpukan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15184"/>
            <a:ext cx="502920" cy="502920"/>
          </a:xfrm>
          <a:prstGeom prst="ellipse">
            <a:avLst/>
          </a:prstGeom>
          <a:solidFill>
            <a:srgbClr val="0E8A7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15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2578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penutup ditemukan?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28986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tumpukan tidak kosong, lalu pop dan bandingkan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364992"/>
            <a:ext cx="502920" cy="502920"/>
          </a:xfrm>
          <a:prstGeom prst="ellipse">
            <a:avLst/>
          </a:prstGeom>
          <a:solidFill>
            <a:srgbClr val="0E8A7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3284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Pengecekan kecocokan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6484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harus cocok dengan pembuka yang di-pop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114800"/>
            <a:ext cx="502920" cy="502920"/>
          </a:xfrm>
          <a:prstGeom prst="ellipse">
            <a:avLst/>
          </a:prstGeom>
          <a:solidFill>
            <a:srgbClr val="0E8A7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78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file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3982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harus KOSONG agar sumber kode dinyatakan valid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isValidSource() – Kode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lliststack.py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303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lliststack import Stack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isValidSource(srcfile):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 = Stack()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line in srcfile: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token in line: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token in "{[(":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s.push(token)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elif token in "}])":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s.isEmpty():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left = s.pop()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if (token == "}" and left != "{")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or (token == "]" and left != "[")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or (token == ")" and left != "("):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s.isEmpty()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2743200" cy="15544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banyak penutup dari pembuka: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KOSONG saat mencoba pop → kembalikan False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651760"/>
            <a:ext cx="2743200" cy="155448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0632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banyak pembuka dari penutup: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TIDAK kosong di akhir → kembalikan False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4297680"/>
            <a:ext cx="2743200" cy="45720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Valid: return s.isEmpty()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Delimiter – Langkah demi Langkah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Memindai: int sumList(int theList[], int size)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83280"/>
        </p:xfrm>
        <a:graphic>
          <a:graphicData uri="http://schemas.openxmlformats.org/drawingml/2006/table">
            <a:tbl>
              <a:tblPr/>
              <a:tblGrid>
                <a:gridCol w="2468880"/>
                <a:gridCol w="2194560"/>
                <a:gridCol w="356616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Tumpukan Setelah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Posisi Pindai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(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sumList(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[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[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sumList(int theList[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&amp; cocok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sumList(int theList[]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&amp; cocok 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sumList(int theList[], int size)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{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while(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&amp; cocok 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akhir fungsi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 →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2: Ekspresi Postfix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DI ANTARA operand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Notasi aljabar tradisional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 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1762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SEBELUM operand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Disebut juga notasi Polandia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1762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SESUDAH operand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Disebut juga Reverse Polish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Postfiks?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memerlukan tanda kurung untuk mengubah prioritas operasi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ekspresi bersifat unik (tidak ambigu)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dievaluasi dengan satu pemindaian kiri-ke-kanan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diimplementasikan menggunakan Tumpukan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Infiks ke Postfiks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Contoh: A * B + C / 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28016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kurung sesuai urutan evaluasi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82880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 * B) + (C / D))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1280160" cy="86868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5146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Pindahkan setiap operator ke akhir grupnya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83464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((A B *) (C D /) +)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74720"/>
            <a:ext cx="1280160" cy="86868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520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semua tanda kurung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8404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* C D / 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Hasil:  A B * C D / +     (Bentuk Postfiks)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Evaluasi Postfiks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8229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token adalah OPERAND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990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nilainya ke dalam tumpukan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39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token adalah OPERATOR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591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dua operand teratas, hitung, push hasilnya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64008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99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pindai selesai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192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nilai yang tersisa di tumpukan adalah jawabannya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Penting: nilai teratas = operand KANAN, nilai di bawahnya = operand KIRI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ekspresi: A B C + * D /   dengan A=8, B=2, C=3, D=4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Jejak Postfiks: A B C + * D /  (A=8,B=2,C=3,D=4)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84048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011680"/>
                <a:gridCol w="30175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Token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Langkah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Tumpukan Setelah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Keterangan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nilai A (8)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nilai B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8, 2, 3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nilai C (3)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3 &amp; 2; 2+3=5; push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5 &amp; 8; 8×5=40; push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operand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nilai D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4 &amp; 40; 40÷4=10; push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akhir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Jawaban = 10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Menangani Ekspresi Postfiks Tidak Valid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74904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banyak operand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Ekspresi: A B * C D 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evaluasi, DUA nilai masih tersisa di tumpukan → Tidak semua operand digunakan → Error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37490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pindai selesai, periksa apakah tumpukan memiliki LEBIH dari satu nilai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749040"/>
          </a:xfrm>
          <a:prstGeom prst="rect">
            <a:avLst/>
          </a:prstGeom>
          <a:solidFill>
            <a:srgbClr val="FFF3F3"/>
          </a:solidFill>
          <a:ln w="12700">
            <a:solidFill>
              <a:srgbClr val="FF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Tipe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banyak operator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801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Ekspresi: A B * + C 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Suatu operator mencoba pop DUA operand tetapi tumpukan hanya ada SATU → Operand kurang → Error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429000"/>
            <a:ext cx="374904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474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tumpukan tidak kosong SEBELUM setiap pop di langkah 2(a)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3: Pemecahan Labirin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Temukan jalur dari sel awal S ke pintu keluar 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Pergerakan: atas, bawah, kiri, kanan saja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melewati dinding (*)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mengunjungi ulang sel yang sudah dilalui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token: x = jalur, o = jalan buntu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Representasi berbasis grid dengan baris &amp; kolom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051560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6288" y="1051560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1776" y="1051560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27264" y="1051560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02752" y="1051560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27048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76288" y="1527048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51776" y="1527048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27264" y="1527048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1527048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002536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6288" y="2002536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1776" y="2002536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27264" y="2002536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2002536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478024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2478024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1776" y="2478024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27264" y="2478024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02752" y="2478024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2478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2953512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2953512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51776" y="2953512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51776" y="2953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27264" y="2953512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2752" y="2953512"/>
            <a:ext cx="475488" cy="4754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Labirin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Backtracking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adalah penyempurnaan dari pencarian brute-force: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0292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 ke depan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14904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satu arah dari posisi saat ini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502920" cy="5943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488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Mencapai jalan buntu?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176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sel dengan 'o', pop dari tumpukan untuk mundur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50292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346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arah lain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8620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Jelajahi jalur yang belum dicoba dari posisi sebelumnya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20440"/>
            <a:ext cx="502920" cy="5943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 keluar ditemukan?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0" y="3547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jalur dengan 'x', kembalikan True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06240"/>
            <a:ext cx="502920" cy="59436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kosong?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42336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jalur ke pintu keluar, kembalikan False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ADT – Definisi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77724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424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Maze(numRows, numCols)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labirin baru; semua sel terbuka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20240"/>
            <a:ext cx="64008" cy="77724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56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numRows() / numCols()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Mengembalikan dimensi labirin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setWall(baris, kolom)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Mengisi sel dengan penanda dinding (*)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49040"/>
            <a:ext cx="64008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setStart(baris, kolom)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posisi sel awal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05840"/>
            <a:ext cx="64008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0424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setExit(baris, kolom)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posisi sel pintu keluar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2024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956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findPath()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jalur S→E; menandai dengan x; mengembalikan True/False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34640"/>
            <a:ext cx="64008" cy="777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reset()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semua token dari labirin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7490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49040"/>
            <a:ext cx="64008" cy="777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7856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9204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Mencetak tampilan labirin berbasis teks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Labirin – maze.py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maze.py (sebagian)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array import Array2D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lliststack import Stack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Maze: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MAZE_WALL  = "*"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PATH_TOKEN = "x"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TRIED_TOKEN = "o"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numRows, numCols):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self._mazeCells = Array2D(numRows, numCols)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self._startCell =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self._exitCell  =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_validMove(self, row, col):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(row &gt;= 0 and row &lt; self.numRows()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col &gt;= 0 and col &lt; self.numCols()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self._mazeCells[row, col] is None)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_exitFound(self, row, col):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(row == self._exitCell.row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 == self._exitCell.col)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00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301752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_mazeCells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86600" y="15270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2D dari sel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2011680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20299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_startCell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86600" y="20299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CellPosition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514600"/>
            <a:ext cx="301752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5328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_exitCell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86600" y="25328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 CellPosition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017520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3035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MAZE_WALL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86600" y="30358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"*"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3520440"/>
            <a:ext cx="3017520" cy="438912"/>
          </a:xfrm>
          <a:prstGeom prst="rect">
            <a:avLst/>
          </a:prstGeom>
          <a:solidFill>
            <a:srgbClr val="F4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PATH_TOKEN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353872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"x"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4023360"/>
            <a:ext cx="3017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40416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8A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TRIED_TOKEN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86600" y="404164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"o"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findPath() – Cara Kerjanya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findPath(self):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tumpukan = Stack()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tumpukan.push( selAwal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tandaiJalur( selAwal 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not tumpukan.isEmpty():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baris, kolom = tumpukan.peek()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keluarDitemukan(baris, kolom):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Coba 4 arah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(br, kl) in tetangga(baris, kolom):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gerakValid(br, kl):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tandaiJalur(br, kl)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tumpukan.push( (br, kl)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Jalan buntu — mundur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tandaiDicoba(baris, kolom)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tumpukan.pop()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  # tidak ada jalur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004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051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Penting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508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menyimpan posisi JALUR saat ini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= bergerak maju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= mundur (backtracking)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x untuk sel jalur aktif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o untuk sel jalan buntu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Keluar: tumpukan kosong → tidak ada jalur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Keluar: keluarDitemukan → jalur ditemukan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Labirin dari 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200400" cy="3657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mazefile.txt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0175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5     ← baris, kolom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1     ← awal (baris,kolom)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4     ← keluar (baris,kolom)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*****   ← baris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*.*.*   ← baris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*...*   ← baris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*.*..   ← baris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*.***   ← baris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1005840"/>
            <a:ext cx="4937760" cy="36576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buildMaze()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41732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buildMaze(namafile):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infile = open(namafile, "r")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nbaris, nkolom = bacaPasangNilai(infile)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labirin = Maze(nbaris, nkolom)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baris, kolom = bacaPasangNilai(infile)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labirin.setStart(baris, kolom)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baris, kolom = bacaPasangNilai(infile)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labirin.setExit(baris, kolom)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baris in range(nbaris):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baris_teks = infile.readline()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kolom in range(len(baris_teks)):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baris_teks[kolom] == "*":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labirin.setWall(baris, kolom)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infile.close()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labirin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Kompleksitas Waktu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2560320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isEmpty()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Selalu konstan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Keduanya menyimpan ukuran secara terpisah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perlu penghapusan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push(item)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*amortized; array bisa di-resize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*amortized; array bisa di-resize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jumlah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40740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Python list untuk tugas sederhana. Pilih linked list jika membutuhkan O(1) kasus terburuk yang terjamin untuk push/pop pada aplikasi kritis-performa.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Konsep Kunci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Terakhir Keluar Pertama — prinsip utama tumpukan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515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inti; tambah ke atas, hapus dari atas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item teratas tanpa menghapusnya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659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9659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 O(1) amortized; akhir list = atas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803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8803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2880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kasus terburuk sejati; awal list = atas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8803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8803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Seimbang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8803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pembuka, pop &amp; cocokkan saat menemukan penutup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7947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7947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Postfiks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3794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operand; operator pop dua &amp; push hasilnya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94760"/>
            <a:ext cx="1280160" cy="7772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79476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37947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posisi, pop saat jalan buntu — tumpukan menyimpan jalur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E8A7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0"/>
          </a:xfrm>
          <a:prstGeom prst="line">
            <a:avLst/>
          </a:prstGeom>
          <a:noFill/>
          <a:ln w="25400">
            <a:solidFill>
              <a:srgbClr val="1D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Tumpukan = wadah LIFO; push/pop dari ATAS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implementasi Python: berbasis list &amp; linked list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memberikan O(1) kasus terburuk untuk semua operasi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1: Pengecekan delimiter seimbang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2: Evaluasi ekspresi postfiks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3: Pemecahan labirin dengan backtracking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— Bab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7: Tumpukan (Stacks)</dc:title>
  <dc:subject>PptxGenJS Presentation</dc:subject>
  <dc:creator>PptxGenJS</dc:creator>
  <cp:lastModifiedBy>PptxGenJS</cp:lastModifiedBy>
  <cp:revision>1</cp:revision>
  <dcterms:created xsi:type="dcterms:W3CDTF">2026-04-01T00:36:13Z</dcterms:created>
  <dcterms:modified xsi:type="dcterms:W3CDTF">2026-04-01T00:36:13Z</dcterms:modified>
</cp:coreProperties>
</file>